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53"/>
  </p:notesMasterIdLst>
  <p:handoutMasterIdLst>
    <p:handoutMasterId r:id="rId54"/>
  </p:handoutMasterIdLst>
  <p:sldIdLst>
    <p:sldId id="273" r:id="rId3"/>
    <p:sldId id="279" r:id="rId4"/>
    <p:sldId id="259" r:id="rId5"/>
    <p:sldId id="281" r:id="rId6"/>
    <p:sldId id="283" r:id="rId7"/>
    <p:sldId id="262" r:id="rId8"/>
    <p:sldId id="263" r:id="rId9"/>
    <p:sldId id="266" r:id="rId10"/>
    <p:sldId id="336" r:id="rId11"/>
    <p:sldId id="284" r:id="rId12"/>
    <p:sldId id="291" r:id="rId13"/>
    <p:sldId id="326" r:id="rId14"/>
    <p:sldId id="328" r:id="rId15"/>
    <p:sldId id="329" r:id="rId16"/>
    <p:sldId id="330" r:id="rId17"/>
    <p:sldId id="271" r:id="rId18"/>
    <p:sldId id="272" r:id="rId19"/>
    <p:sldId id="289" r:id="rId20"/>
    <p:sldId id="290" r:id="rId21"/>
    <p:sldId id="287" r:id="rId22"/>
    <p:sldId id="288" r:id="rId23"/>
    <p:sldId id="294" r:id="rId24"/>
    <p:sldId id="286" r:id="rId25"/>
    <p:sldId id="293" r:id="rId26"/>
    <p:sldId id="295" r:id="rId27"/>
    <p:sldId id="296" r:id="rId28"/>
    <p:sldId id="297" r:id="rId29"/>
    <p:sldId id="299" r:id="rId30"/>
    <p:sldId id="298" r:id="rId31"/>
    <p:sldId id="333" r:id="rId32"/>
    <p:sldId id="332" r:id="rId33"/>
    <p:sldId id="335" r:id="rId34"/>
    <p:sldId id="302" r:id="rId35"/>
    <p:sldId id="320" r:id="rId36"/>
    <p:sldId id="331" r:id="rId37"/>
    <p:sldId id="322" r:id="rId38"/>
    <p:sldId id="321" r:id="rId39"/>
    <p:sldId id="318" r:id="rId40"/>
    <p:sldId id="319" r:id="rId41"/>
    <p:sldId id="304" r:id="rId42"/>
    <p:sldId id="308" r:id="rId43"/>
    <p:sldId id="307" r:id="rId44"/>
    <p:sldId id="309" r:id="rId45"/>
    <p:sldId id="310" r:id="rId46"/>
    <p:sldId id="311" r:id="rId47"/>
    <p:sldId id="303" r:id="rId48"/>
    <p:sldId id="316" r:id="rId49"/>
    <p:sldId id="305" r:id="rId50"/>
    <p:sldId id="306" r:id="rId51"/>
    <p:sldId id="33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DANH" initials="CD" lastIdx="1" clrIdx="0">
    <p:extLst>
      <p:ext uri="{19B8F6BF-5375-455C-9EA6-DF929625EA0E}">
        <p15:presenceInfo xmlns:p15="http://schemas.microsoft.com/office/powerpoint/2012/main" userId="f4cd06013b5b847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256" autoAdjust="0"/>
  </p:normalViewPr>
  <p:slideViewPr>
    <p:cSldViewPr snapToGrid="0">
      <p:cViewPr varScale="1">
        <p:scale>
          <a:sx n="82" d="100"/>
          <a:sy n="82" d="100"/>
        </p:scale>
        <p:origin x="720" y="67"/>
      </p:cViewPr>
      <p:guideLst/>
    </p:cSldViewPr>
  </p:slideViewPr>
  <p:notesTextViewPr>
    <p:cViewPr>
      <p:scale>
        <a:sx n="1" d="1"/>
        <a:sy n="1" d="1"/>
      </p:scale>
      <p:origin x="0" y="0"/>
    </p:cViewPr>
  </p:notesTextViewPr>
  <p:notesViewPr>
    <p:cSldViewPr snapToGrid="0">
      <p:cViewPr varScale="1">
        <p:scale>
          <a:sx n="56" d="100"/>
          <a:sy n="56" d="100"/>
        </p:scale>
        <p:origin x="285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55F354-BFC6-45A4-B3CE-329CF471A880}" type="datetimeFigureOut">
              <a:rPr lang="en-US" smtClean="0"/>
              <a:t>6/11/2025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0E917-6ADC-4008-B503-1794CAEE7098}" type="slidenum">
              <a:rPr lang="en-US" smtClean="0"/>
              <a:t>‹#›</a:t>
            </a:fld>
            <a:endParaRPr lang="en-US"/>
          </a:p>
        </p:txBody>
      </p:sp>
    </p:spTree>
    <p:extLst>
      <p:ext uri="{BB962C8B-B14F-4D97-AF65-F5344CB8AC3E}">
        <p14:creationId xmlns:p14="http://schemas.microsoft.com/office/powerpoint/2010/main" val="32216926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30A959-908B-4CF4-A4E0-7602692255D4}" type="datetimeFigureOut">
              <a:rPr lang="en-US" smtClean="0"/>
              <a:t>6/11/2025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68373-E7B0-4FAE-8956-D0625F51EA04}" type="slidenum">
              <a:rPr lang="en-US" smtClean="0"/>
              <a:t>‹#›</a:t>
            </a:fld>
            <a:endParaRPr lang="en-US"/>
          </a:p>
        </p:txBody>
      </p:sp>
    </p:spTree>
    <p:extLst>
      <p:ext uri="{BB962C8B-B14F-4D97-AF65-F5344CB8AC3E}">
        <p14:creationId xmlns:p14="http://schemas.microsoft.com/office/powerpoint/2010/main" val="1947312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Arial"/>
              <a:buNone/>
              <a:defRPr/>
            </a:pPr>
            <a:endParaRPr lang="en-US"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473904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74701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Arial" panose="020B0604020202020204" pitchFamily="34" charset="0"/>
              <a:buNone/>
            </a:pPr>
            <a:r>
              <a:rPr lang="en-US" baseline="0" dirty="0"/>
              <a:t>Flag (3 bit): 0_DF_MF</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96496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r>
              <a:rPr lang="vi-VN"/>
              <a:t>Chiều dài của một header biến đổi phụ thuộc vào lượng thông tin có trong trường Options, trong trường hợp trường Options không chứa thông tin nào thì độ dài tối thiểu được xác định của một IPv4 header là 20 byte.</a:t>
            </a:r>
            <a:endParaRPr lang="en-US"/>
          </a:p>
          <a:p>
            <a:pPr marL="171450" indent="-171450">
              <a:lnSpc>
                <a:spcPct val="107000"/>
              </a:lnSpc>
              <a:spcAft>
                <a:spcPts val="800"/>
              </a:spcAft>
              <a:buFont typeface="Arial" panose="020B0604020202020204" pitchFamily="34" charset="0"/>
              <a:buChar char="•"/>
            </a:pPr>
            <a:endParaRPr lang="vi-VN"/>
          </a:p>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711576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r>
              <a:rPr lang="en-US" dirty="0"/>
              <a:t>Header Checksum: </a:t>
            </a:r>
            <a:r>
              <a:rPr lang="vi-VN" dirty="0"/>
              <a:t>Với mỗi gói tin nhận được </a:t>
            </a:r>
            <a:r>
              <a:rPr lang="vi-VN" dirty="0" err="1"/>
              <a:t>router</a:t>
            </a:r>
            <a:r>
              <a:rPr lang="vi-VN" dirty="0"/>
              <a:t> sẽ tính giá trị </a:t>
            </a:r>
            <a:r>
              <a:rPr lang="en-US" dirty="0"/>
              <a:t>I</a:t>
            </a:r>
            <a:r>
              <a:rPr lang="vi-VN" dirty="0" err="1"/>
              <a:t>nternet</a:t>
            </a:r>
            <a:r>
              <a:rPr lang="vi-VN" dirty="0"/>
              <a:t> </a:t>
            </a:r>
            <a:r>
              <a:rPr lang="en-US" dirty="0"/>
              <a:t>C</a:t>
            </a:r>
            <a:r>
              <a:rPr lang="vi-VN" dirty="0" err="1"/>
              <a:t>hecksum</a:t>
            </a:r>
            <a:r>
              <a:rPr lang="vi-VN" dirty="0"/>
              <a:t> (giá trị này được tính bằng cách xem mỗi 2 </a:t>
            </a:r>
            <a:r>
              <a:rPr lang="vi-VN" dirty="0" err="1"/>
              <a:t>byte</a:t>
            </a:r>
            <a:r>
              <a:rPr lang="vi-VN" dirty="0"/>
              <a:t> trong </a:t>
            </a:r>
            <a:r>
              <a:rPr lang="vi-VN" dirty="0" err="1"/>
              <a:t>header</a:t>
            </a:r>
            <a:r>
              <a:rPr lang="vi-VN" dirty="0"/>
              <a:t> là 1 số và cộng dồn các số đó lại, kết quả cuối cùng được lấy bù 1) nếu có sự khác biệt giữa giá trị tính lại và giá trị lưu trữ thì đồng nghĩa là có lỗi đã xảy ra.</a:t>
            </a:r>
          </a:p>
          <a:p>
            <a:pPr marL="171450" indent="-171450">
              <a:lnSpc>
                <a:spcPct val="107000"/>
              </a:lnSpc>
              <a:spcAft>
                <a:spcPts val="800"/>
              </a:spcAft>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982484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274017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ltLang="en-US" b="1"/>
              <a:t>Địa</a:t>
            </a:r>
            <a:r>
              <a:rPr lang="en-US" altLang="en-US" b="1" baseline="0"/>
              <a:t> chỉ u</a:t>
            </a:r>
            <a:r>
              <a:rPr lang="en-US" altLang="en-US" b="1"/>
              <a:t>nicast</a:t>
            </a:r>
            <a:r>
              <a:rPr lang="en-US" altLang="en-US" b="0" baseline="0"/>
              <a:t> là địa chỉ được dùng để gởi gói tin từ</a:t>
            </a:r>
            <a:r>
              <a:rPr lang="en-US" altLang="en-US"/>
              <a:t> một thiết</a:t>
            </a:r>
            <a:r>
              <a:rPr lang="en-US" altLang="en-US" baseline="0"/>
              <a:t> bị đến một thiết bị khác</a:t>
            </a:r>
            <a:endParaRPr lang="en-US" altLang="en-US">
              <a:sym typeface="Wingdings" panose="05000000000000000000" pitchFamily="2" charset="2"/>
            </a:endParaRPr>
          </a:p>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b="1">
                <a:sym typeface="Wingdings" panose="05000000000000000000" pitchFamily="2" charset="2"/>
              </a:rPr>
              <a:t>Địa</a:t>
            </a:r>
            <a:r>
              <a:rPr lang="en-US" b="1" baseline="0">
                <a:sym typeface="Wingdings" panose="05000000000000000000" pitchFamily="2" charset="2"/>
              </a:rPr>
              <a:t> chỉ m</a:t>
            </a:r>
            <a:r>
              <a:rPr lang="en-US" b="1">
                <a:sym typeface="Wingdings" panose="05000000000000000000" pitchFamily="2" charset="2"/>
              </a:rPr>
              <a:t>ulticast</a:t>
            </a:r>
            <a:r>
              <a:rPr lang="en-US" b="0" baseline="0">
                <a:sym typeface="Wingdings" panose="05000000000000000000" pitchFamily="2" charset="2"/>
              </a:rPr>
              <a:t> là địa chỉ được dùng để gởi gói tin từ một thiết bị đến một nhóm các thiết bị khác</a:t>
            </a:r>
            <a:endParaRPr lang="en-US" baseline="0">
              <a:sym typeface="Wingdings" panose="05000000000000000000" pitchFamily="2" charset="2"/>
            </a:endParaRPr>
          </a:p>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b="1" baseline="0">
                <a:sym typeface="Wingdings" panose="05000000000000000000" pitchFamily="2" charset="2"/>
              </a:rPr>
              <a:t>Địa chỉ Broadcast</a:t>
            </a:r>
            <a:r>
              <a:rPr lang="en-US" b="0" baseline="0">
                <a:sym typeface="Wingdings" panose="05000000000000000000" pitchFamily="2" charset="2"/>
              </a:rPr>
              <a:t> là địa chỉ được dùng để gởi gói tin đến tất cả các thiết bị trong cùng một mạng.</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653801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vi-VN"/>
              <a:t>Máy tính phân biệt 2 phần </a:t>
            </a:r>
            <a:r>
              <a:rPr lang="en-US"/>
              <a:t>NET-ID và HOST-ID</a:t>
            </a:r>
            <a:r>
              <a:rPr lang="vi-VN"/>
              <a:t> thông qua mặt nạ địa chỉ (IP address mask). Địa chỉ mạng sẽ là kết quả thu được sau khi thực hiện phép toán logic AND giữa các bit của địa chỉ IP với các bit của mặt nạ.</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202778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356898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974399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167108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947909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baseline="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901950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baseline="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967969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baseline="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645312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baseline="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699684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baseline="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405001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377872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6807355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829388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071075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baseline="0">
              <a:sym typeface="Wingdings" panose="05000000000000000000" pitchFamily="2" charset="2"/>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573901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5691580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777845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763142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r>
              <a:rPr lang="vi-VN"/>
              <a:t>Sunet mask là tất cả các bit phần Network ID và số bit mượn bật lên thành 1</a:t>
            </a:r>
            <a:r>
              <a:rPr lang="en-US"/>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781139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550214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082982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8145405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588215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r>
              <a:rPr lang="en-US"/>
              <a:t>Việc</a:t>
            </a:r>
            <a:r>
              <a:rPr lang="en-US" baseline="0"/>
              <a:t> tính toán, xác định mạng con dựa trên dãy bit nhị phân thường tốn nhiều thời gian, do đó ta có thể áp dụng phương pháp đại số giúp thực hiện việc tính toán nhanh hơn dựa trên khái niệm “bước nhảy”.</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313793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5041384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42903563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2696893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3679928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1516964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5246431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7135750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7282100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933153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118416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3534927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4392516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212343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Arial" panose="020B0604020202020204" pitchFamily="34" charset="0"/>
              <a:buNone/>
            </a:pPr>
            <a:r>
              <a:rPr lang="en-US" dirty="0"/>
              <a:t>RFC 3021: 210.25.10.144/31</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1370340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Arial" panose="020B0604020202020204" pitchFamily="34" charset="0"/>
              <a:buNone/>
            </a:pPr>
            <a:r>
              <a:rPr lang="en-US"/>
              <a:t>RFC 3021: 210.25.10.144/31</a:t>
            </a:r>
          </a:p>
          <a:p>
            <a:pPr marL="0" indent="0">
              <a:lnSpc>
                <a:spcPct val="107000"/>
              </a:lnSpc>
              <a:spcAft>
                <a:spcPts val="800"/>
              </a:spcAft>
              <a:buFont typeface="Arial" panose="020B0604020202020204" pitchFamily="34" charset="0"/>
              <a:buNone/>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5966623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0457652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07000"/>
              </a:lnSpc>
              <a:spcAft>
                <a:spcPts val="800"/>
              </a:spcAft>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A25F9-16D3-E64A-8639-7B020C319E7B}"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7198989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tx1"/>
                </a:solidFill>
                <a:latin typeface="+mn-lt"/>
                <a:ea typeface="Georgia" charset="0"/>
                <a:cs typeface="Georgia"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tx2"/>
                </a:solidFill>
                <a:latin typeface="Arial" charset="0"/>
                <a:ea typeface="Arial" charset="0"/>
                <a:cs typeface="Arial" charset="0"/>
              </a:defRPr>
            </a:lvl1pPr>
          </a:lstStyle>
          <a:p>
            <a:r>
              <a:rPr lang="en-US" dirty="0"/>
              <a:t>Presentation</a:t>
            </a:r>
            <a:br>
              <a:rPr lang="en-US" dirty="0"/>
            </a:br>
            <a:r>
              <a:rPr lang="en-US" dirty="0"/>
              <a:t>Title</a:t>
            </a:r>
          </a:p>
        </p:txBody>
      </p:sp>
      <p:pic>
        <p:nvPicPr>
          <p:cNvPr id="4" name="Picture 3">
            <a:extLst>
              <a:ext uri="{FF2B5EF4-FFF2-40B4-BE49-F238E27FC236}">
                <a16:creationId xmlns:a16="http://schemas.microsoft.com/office/drawing/2014/main" id="{3B3EA095-275E-4F13-AAFE-3D5EF2F7BB3E}"/>
              </a:ext>
            </a:extLst>
          </p:cNvPr>
          <p:cNvPicPr>
            <a:picLocks noChangeAspect="1"/>
          </p:cNvPicPr>
          <p:nvPr userDrawn="1"/>
        </p:nvPicPr>
        <p:blipFill>
          <a:blip r:embed="rId3"/>
          <a:stretch>
            <a:fillRect/>
          </a:stretch>
        </p:blipFill>
        <p:spPr>
          <a:xfrm>
            <a:off x="516258" y="231791"/>
            <a:ext cx="4729997" cy="1007332"/>
          </a:xfrm>
          <a:prstGeom prst="rect">
            <a:avLst/>
          </a:prstGeom>
        </p:spPr>
      </p:pic>
      <p:sp>
        <p:nvSpPr>
          <p:cNvPr id="5" name="TextBox 4">
            <a:extLst>
              <a:ext uri="{FF2B5EF4-FFF2-40B4-BE49-F238E27FC236}">
                <a16:creationId xmlns:a16="http://schemas.microsoft.com/office/drawing/2014/main" id="{BE663ABF-2404-49C0-8D90-CEF0771E8157}"/>
              </a:ext>
            </a:extLst>
          </p:cNvPr>
          <p:cNvSpPr txBox="1"/>
          <p:nvPr userDrawn="1"/>
        </p:nvSpPr>
        <p:spPr>
          <a:xfrm>
            <a:off x="6164208" y="352887"/>
            <a:ext cx="4944078" cy="61042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Cong Danh</a:t>
            </a:r>
          </a:p>
        </p:txBody>
      </p:sp>
      <p:pic>
        <p:nvPicPr>
          <p:cNvPr id="7" name="Picture 6" descr="A close up of a sign&#10;&#10;Description automatically generated">
            <a:extLst>
              <a:ext uri="{FF2B5EF4-FFF2-40B4-BE49-F238E27FC236}">
                <a16:creationId xmlns:a16="http://schemas.microsoft.com/office/drawing/2014/main" id="{3EAD46F3-6FA1-44C5-9492-A07CB5C779A3}"/>
              </a:ext>
            </a:extLst>
          </p:cNvPr>
          <p:cNvPicPr>
            <a:picLocks noChangeAspect="1"/>
          </p:cNvPicPr>
          <p:nvPr userDrawn="1"/>
        </p:nvPicPr>
        <p:blipFill>
          <a:blip r:embed="rId4"/>
          <a:stretch>
            <a:fillRect/>
          </a:stretch>
        </p:blipFill>
        <p:spPr>
          <a:xfrm>
            <a:off x="11193286" y="231791"/>
            <a:ext cx="731520" cy="731520"/>
          </a:xfrm>
          <a:prstGeom prst="rect">
            <a:avLst/>
          </a:prstGeom>
        </p:spPr>
      </p:pic>
    </p:spTree>
    <p:extLst>
      <p:ext uri="{BB962C8B-B14F-4D97-AF65-F5344CB8AC3E}">
        <p14:creationId xmlns:p14="http://schemas.microsoft.com/office/powerpoint/2010/main" val="178857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DIVIDER SLIDE</a:t>
            </a:r>
          </a:p>
        </p:txBody>
      </p:sp>
      <p:pic>
        <p:nvPicPr>
          <p:cNvPr id="7" name="Picture 6">
            <a:extLst>
              <a:ext uri="{FF2B5EF4-FFF2-40B4-BE49-F238E27FC236}">
                <a16:creationId xmlns:a16="http://schemas.microsoft.com/office/drawing/2014/main" id="{B5D5DF1B-1586-49E3-A104-4F0398AEBCFE}"/>
              </a:ext>
            </a:extLst>
          </p:cNvPr>
          <p:cNvPicPr>
            <a:picLocks noChangeAspect="1"/>
          </p:cNvPicPr>
          <p:nvPr userDrawn="1"/>
        </p:nvPicPr>
        <p:blipFill>
          <a:blip r:embed="rId3"/>
          <a:stretch>
            <a:fillRect/>
          </a:stretch>
        </p:blipFill>
        <p:spPr>
          <a:xfrm>
            <a:off x="230475" y="-56826"/>
            <a:ext cx="4700113" cy="1000968"/>
          </a:xfrm>
          <a:prstGeom prst="rect">
            <a:avLst/>
          </a:prstGeom>
        </p:spPr>
      </p:pic>
      <p:sp>
        <p:nvSpPr>
          <p:cNvPr id="8" name="TextBox 7">
            <a:extLst>
              <a:ext uri="{FF2B5EF4-FFF2-40B4-BE49-F238E27FC236}">
                <a16:creationId xmlns:a16="http://schemas.microsoft.com/office/drawing/2014/main" id="{145B3255-599A-4BE4-BAA2-7AB28FDF2BEA}"/>
              </a:ext>
            </a:extLst>
          </p:cNvPr>
          <p:cNvSpPr txBox="1"/>
          <p:nvPr userDrawn="1"/>
        </p:nvSpPr>
        <p:spPr>
          <a:xfrm>
            <a:off x="5596338" y="198994"/>
            <a:ext cx="4944078" cy="61042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FFFF00"/>
                </a:solidFill>
                <a:effectLst/>
                <a:uLnTx/>
                <a:uFillTx/>
                <a:latin typeface="Arial" panose="020B0604020202020204"/>
                <a:ea typeface="+mn-ea"/>
                <a:cs typeface="+mn-cs"/>
              </a:rPr>
              <a:t>FACULTY OF INFORMATION TECHNOLOGY</a:t>
            </a: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a:ea typeface="+mn-ea"/>
                <a:cs typeface="+mn-cs"/>
              </a:rPr>
              <a:t>M.S. Nguyen Cong Danh</a:t>
            </a:r>
          </a:p>
        </p:txBody>
      </p:sp>
      <p:pic>
        <p:nvPicPr>
          <p:cNvPr id="10" name="Picture 9" descr="A close up of a sign&#10;&#10;Description automatically generated">
            <a:extLst>
              <a:ext uri="{FF2B5EF4-FFF2-40B4-BE49-F238E27FC236}">
                <a16:creationId xmlns:a16="http://schemas.microsoft.com/office/drawing/2014/main" id="{48DE9A2D-D115-4574-9BFC-926441C1C02D}"/>
              </a:ext>
            </a:extLst>
          </p:cNvPr>
          <p:cNvPicPr>
            <a:picLocks noChangeAspect="1"/>
          </p:cNvPicPr>
          <p:nvPr userDrawn="1"/>
        </p:nvPicPr>
        <p:blipFill>
          <a:blip r:embed="rId4"/>
          <a:stretch>
            <a:fillRect/>
          </a:stretch>
        </p:blipFill>
        <p:spPr>
          <a:xfrm>
            <a:off x="11206166" y="77898"/>
            <a:ext cx="731520" cy="731520"/>
          </a:xfrm>
          <a:prstGeom prst="rect">
            <a:avLst/>
          </a:prstGeom>
        </p:spPr>
      </p:pic>
    </p:spTree>
    <p:extLst>
      <p:ext uri="{BB962C8B-B14F-4D97-AF65-F5344CB8AC3E}">
        <p14:creationId xmlns:p14="http://schemas.microsoft.com/office/powerpoint/2010/main" val="2574711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tx2"/>
                </a:solidFill>
                <a:latin typeface="Arial" charset="0"/>
                <a:ea typeface="Arial" charset="0"/>
                <a:cs typeface="Arial" charset="0"/>
              </a:defRPr>
            </a:lvl1pPr>
          </a:lstStyle>
          <a:p>
            <a:r>
              <a:rPr lang="en-US" dirty="0"/>
              <a:t>DIVIDER SLIDE</a:t>
            </a:r>
          </a:p>
        </p:txBody>
      </p:sp>
      <p:pic>
        <p:nvPicPr>
          <p:cNvPr id="7" name="Picture 6">
            <a:extLst>
              <a:ext uri="{FF2B5EF4-FFF2-40B4-BE49-F238E27FC236}">
                <a16:creationId xmlns:a16="http://schemas.microsoft.com/office/drawing/2014/main" id="{76FC959E-21E7-4D23-8981-041C9589E6FC}"/>
              </a:ext>
            </a:extLst>
          </p:cNvPr>
          <p:cNvPicPr>
            <a:picLocks noChangeAspect="1"/>
          </p:cNvPicPr>
          <p:nvPr userDrawn="1"/>
        </p:nvPicPr>
        <p:blipFill>
          <a:blip r:embed="rId3"/>
          <a:stretch>
            <a:fillRect/>
          </a:stretch>
        </p:blipFill>
        <p:spPr>
          <a:xfrm>
            <a:off x="73893" y="6641"/>
            <a:ext cx="3837809" cy="839915"/>
          </a:xfrm>
          <a:prstGeom prst="rect">
            <a:avLst/>
          </a:prstGeom>
        </p:spPr>
      </p:pic>
      <p:sp>
        <p:nvSpPr>
          <p:cNvPr id="8" name="TextBox 7">
            <a:extLst>
              <a:ext uri="{FF2B5EF4-FFF2-40B4-BE49-F238E27FC236}">
                <a16:creationId xmlns:a16="http://schemas.microsoft.com/office/drawing/2014/main" id="{B1C51BCA-86F9-4804-9C31-E68A99E567CF}"/>
              </a:ext>
            </a:extLst>
          </p:cNvPr>
          <p:cNvSpPr txBox="1"/>
          <p:nvPr userDrawn="1"/>
        </p:nvSpPr>
        <p:spPr>
          <a:xfrm>
            <a:off x="6936474" y="344964"/>
            <a:ext cx="4290904"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8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p>
        </p:txBody>
      </p:sp>
      <p:pic>
        <p:nvPicPr>
          <p:cNvPr id="10" name="Picture 9" descr="A close up of a sign&#10;&#10;Description automatically generated">
            <a:extLst>
              <a:ext uri="{FF2B5EF4-FFF2-40B4-BE49-F238E27FC236}">
                <a16:creationId xmlns:a16="http://schemas.microsoft.com/office/drawing/2014/main" id="{9F462A5D-9697-4D2A-8E84-BE5186E05BB4}"/>
              </a:ext>
            </a:extLst>
          </p:cNvPr>
          <p:cNvPicPr>
            <a:picLocks noChangeAspect="1"/>
          </p:cNvPicPr>
          <p:nvPr userDrawn="1"/>
        </p:nvPicPr>
        <p:blipFill>
          <a:blip r:embed="rId4"/>
          <a:stretch>
            <a:fillRect/>
          </a:stretch>
        </p:blipFill>
        <p:spPr>
          <a:xfrm>
            <a:off x="11266181" y="60838"/>
            <a:ext cx="731520" cy="731520"/>
          </a:xfrm>
          <a:prstGeom prst="rect">
            <a:avLst/>
          </a:prstGeom>
        </p:spPr>
      </p:pic>
    </p:spTree>
    <p:extLst>
      <p:ext uri="{BB962C8B-B14F-4D97-AF65-F5344CB8AC3E}">
        <p14:creationId xmlns:p14="http://schemas.microsoft.com/office/powerpoint/2010/main" val="1777019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2E94CFF6-4805-4871-A07A-289657AB1AFE}"/>
              </a:ext>
            </a:extLst>
          </p:cNvPr>
          <p:cNvSpPr txBox="1"/>
          <p:nvPr userDrawn="1"/>
        </p:nvSpPr>
        <p:spPr>
          <a:xfrm>
            <a:off x="6367398" y="462804"/>
            <a:ext cx="4136701"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p:txBody>
      </p:sp>
      <p:pic>
        <p:nvPicPr>
          <p:cNvPr id="9" name="Picture 8" descr="A close up of a sign&#10;&#10;Description automatically generated">
            <a:extLst>
              <a:ext uri="{FF2B5EF4-FFF2-40B4-BE49-F238E27FC236}">
                <a16:creationId xmlns:a16="http://schemas.microsoft.com/office/drawing/2014/main" id="{BEE67041-269C-4FE6-8EA4-8254D4AA3F2A}"/>
              </a:ext>
            </a:extLst>
          </p:cNvPr>
          <p:cNvPicPr>
            <a:picLocks noChangeAspect="1"/>
          </p:cNvPicPr>
          <p:nvPr userDrawn="1"/>
        </p:nvPicPr>
        <p:blipFill>
          <a:blip r:embed="rId2"/>
          <a:stretch>
            <a:fillRect/>
          </a:stretch>
        </p:blipFill>
        <p:spPr>
          <a:xfrm>
            <a:off x="10607134" y="134636"/>
            <a:ext cx="731520" cy="731520"/>
          </a:xfrm>
          <a:prstGeom prst="rect">
            <a:avLst/>
          </a:prstGeom>
        </p:spPr>
      </p:pic>
    </p:spTree>
    <p:extLst>
      <p:ext uri="{BB962C8B-B14F-4D97-AF65-F5344CB8AC3E}">
        <p14:creationId xmlns:p14="http://schemas.microsoft.com/office/powerpoint/2010/main" val="425506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a:prstGeom prst="rect">
            <a:avLst/>
          </a:prstGeom>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63A4D939-42F7-4E8A-8CF8-E8DA14C76ADA}"/>
              </a:ext>
            </a:extLst>
          </p:cNvPr>
          <p:cNvSpPr txBox="1"/>
          <p:nvPr userDrawn="1"/>
        </p:nvSpPr>
        <p:spPr>
          <a:xfrm>
            <a:off x="6431797" y="449925"/>
            <a:ext cx="4136701"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p:txBody>
      </p:sp>
      <p:pic>
        <p:nvPicPr>
          <p:cNvPr id="6" name="Picture 5" descr="A close up of a sign&#10;&#10;Description automatically generated">
            <a:extLst>
              <a:ext uri="{FF2B5EF4-FFF2-40B4-BE49-F238E27FC236}">
                <a16:creationId xmlns:a16="http://schemas.microsoft.com/office/drawing/2014/main" id="{1331FFD2-B873-4317-AE60-05B27A150FBB}"/>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30700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p:nvPr>
        </p:nvSpPr>
        <p:spPr>
          <a:xfrm>
            <a:off x="566928" y="2185416"/>
            <a:ext cx="4500372" cy="394868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a:extLst>
              <a:ext uri="{FF2B5EF4-FFF2-40B4-BE49-F238E27FC236}">
                <a16:creationId xmlns:a16="http://schemas.microsoft.com/office/drawing/2014/main" id="{F8908D40-D1BD-471A-8F59-342F7DAD4284}"/>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0" name="Picture 9" descr="A close up of a sign&#10;&#10;Description automatically generated">
            <a:extLst>
              <a:ext uri="{FF2B5EF4-FFF2-40B4-BE49-F238E27FC236}">
                <a16:creationId xmlns:a16="http://schemas.microsoft.com/office/drawing/2014/main" id="{7C12333D-F6D5-4297-BBEC-69D46042E55B}"/>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15136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a:prstGeom prst="rect">
            <a:avLst/>
          </a:prstGeo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8">
            <a:extLst>
              <a:ext uri="{FF2B5EF4-FFF2-40B4-BE49-F238E27FC236}">
                <a16:creationId xmlns:a16="http://schemas.microsoft.com/office/drawing/2014/main" id="{91F9F085-FB7A-4C8D-8CA4-7DAD338F7825}"/>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2" name="Picture 11" descr="A close up of a sign&#10;&#10;Description automatically generated">
            <a:extLst>
              <a:ext uri="{FF2B5EF4-FFF2-40B4-BE49-F238E27FC236}">
                <a16:creationId xmlns:a16="http://schemas.microsoft.com/office/drawing/2014/main" id="{0772D8B5-1B9C-41EB-9DA0-84B9BE024677}"/>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313609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ADD06E-6DA3-4C36-ACD4-5A4554943F21}"/>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6" name="Picture 5" descr="A close up of a sign&#10;&#10;Description automatically generated">
            <a:extLst>
              <a:ext uri="{FF2B5EF4-FFF2-40B4-BE49-F238E27FC236}">
                <a16:creationId xmlns:a16="http://schemas.microsoft.com/office/drawing/2014/main" id="{FA022105-D67F-454B-A8FA-BCE5B7F0E9AE}"/>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1955677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C6EF38F-8DF7-3941-B22C-502232E4CB0B}"/>
              </a:ext>
            </a:extLst>
          </p:cNvPr>
          <p:cNvSpPr>
            <a:spLocks noGrp="1" noChangeAspect="1"/>
          </p:cNvSpPr>
          <p:nvPr>
            <p:ph type="pic" idx="13"/>
          </p:nvPr>
        </p:nvSpPr>
        <p:spPr>
          <a:xfrm>
            <a:off x="5098566" y="1079500"/>
            <a:ext cx="7093434" cy="57785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a:prstGeom prst="rect">
            <a:avLst/>
          </a:prstGeo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2EF2B6B1-1121-4A98-B457-F17214B1F907}"/>
              </a:ext>
            </a:extLst>
          </p:cNvPr>
          <p:cNvSpPr txBox="1"/>
          <p:nvPr userDrawn="1"/>
        </p:nvSpPr>
        <p:spPr>
          <a:xfrm>
            <a:off x="6875973" y="256740"/>
            <a:ext cx="3692525" cy="487313"/>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8" name="Picture 7" descr="A close up of a sign&#10;&#10;Description automatically generated">
            <a:extLst>
              <a:ext uri="{FF2B5EF4-FFF2-40B4-BE49-F238E27FC236}">
                <a16:creationId xmlns:a16="http://schemas.microsoft.com/office/drawing/2014/main" id="{3389C026-0197-478B-B736-9FFEA6213D66}"/>
              </a:ext>
            </a:extLst>
          </p:cNvPr>
          <p:cNvPicPr>
            <a:picLocks noChangeAspect="1"/>
          </p:cNvPicPr>
          <p:nvPr userDrawn="1"/>
        </p:nvPicPr>
        <p:blipFill>
          <a:blip r:embed="rId2"/>
          <a:stretch>
            <a:fillRect/>
          </a:stretch>
        </p:blipFill>
        <p:spPr>
          <a:xfrm>
            <a:off x="10568498" y="88142"/>
            <a:ext cx="731520" cy="731520"/>
          </a:xfrm>
          <a:prstGeom prst="rect">
            <a:avLst/>
          </a:prstGeom>
        </p:spPr>
      </p:pic>
    </p:spTree>
    <p:extLst>
      <p:ext uri="{BB962C8B-B14F-4D97-AF65-F5344CB8AC3E}">
        <p14:creationId xmlns:p14="http://schemas.microsoft.com/office/powerpoint/2010/main" val="385426368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a:prstGeom prst="rect">
            <a:avLst/>
          </a:prstGeo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p:nvPr>
        </p:nvSpPr>
        <p:spPr>
          <a:xfrm>
            <a:off x="5114631" y="1066800"/>
            <a:ext cx="7077369" cy="293259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10" name="TextBox 9">
            <a:extLst>
              <a:ext uri="{FF2B5EF4-FFF2-40B4-BE49-F238E27FC236}">
                <a16:creationId xmlns:a16="http://schemas.microsoft.com/office/drawing/2014/main" id="{4BF332ED-44C2-4102-BF26-95B56C955C22}"/>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3" name="Picture 12" descr="A close up of a sign&#10;&#10;Description automatically generated">
            <a:extLst>
              <a:ext uri="{FF2B5EF4-FFF2-40B4-BE49-F238E27FC236}">
                <a16:creationId xmlns:a16="http://schemas.microsoft.com/office/drawing/2014/main" id="{85363DFF-46FB-46B5-B8E6-AFF0EE52457B}"/>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119427902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B21EA68-2B0A-7648-9710-0081FFDD7D68}"/>
              </a:ext>
            </a:extLst>
          </p:cNvPr>
          <p:cNvSpPr>
            <a:spLocks noGrp="1" noChangeAspect="1"/>
          </p:cNvSpPr>
          <p:nvPr>
            <p:ph type="pic" idx="13"/>
          </p:nvPr>
        </p:nvSpPr>
        <p:spPr>
          <a:xfrm>
            <a:off x="0" y="1066800"/>
            <a:ext cx="12192000" cy="57912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5" name="TextBox 4">
            <a:extLst>
              <a:ext uri="{FF2B5EF4-FFF2-40B4-BE49-F238E27FC236}">
                <a16:creationId xmlns:a16="http://schemas.microsoft.com/office/drawing/2014/main" id="{0ECB2C13-22D3-41D4-AF32-8299D0934DE8}"/>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8" name="Picture 7" descr="A close up of a sign&#10;&#10;Description automatically generated">
            <a:extLst>
              <a:ext uri="{FF2B5EF4-FFF2-40B4-BE49-F238E27FC236}">
                <a16:creationId xmlns:a16="http://schemas.microsoft.com/office/drawing/2014/main" id="{304EE7F3-2C02-4C02-9B43-8C156FBCD30A}"/>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171581389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a:prstGeom prst="rect">
            <a:avLst/>
          </a:prstGeo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latin typeface="Arial" charset="0"/>
                <a:ea typeface="Arial" charset="0"/>
                <a:cs typeface="Arial" charset="0"/>
              </a:defRPr>
            </a:lvl1pPr>
          </a:lstStyle>
          <a:p>
            <a:endParaRPr lang="en-US"/>
          </a:p>
          <a:p>
            <a:r>
              <a:rPr lang="en-US"/>
              <a:t>Drag chart to placeholder or click icon to add chart</a:t>
            </a:r>
          </a:p>
          <a:p>
            <a:endParaRPr lang="en-US"/>
          </a:p>
        </p:txBody>
      </p:sp>
      <p:sp>
        <p:nvSpPr>
          <p:cNvPr id="7" name="TextBox 6">
            <a:extLst>
              <a:ext uri="{FF2B5EF4-FFF2-40B4-BE49-F238E27FC236}">
                <a16:creationId xmlns:a16="http://schemas.microsoft.com/office/drawing/2014/main" id="{E00E88FA-0F81-4AC1-9E80-13330794F520}"/>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0" name="Picture 9" descr="A close up of a sign&#10;&#10;Description automatically generated">
            <a:extLst>
              <a:ext uri="{FF2B5EF4-FFF2-40B4-BE49-F238E27FC236}">
                <a16:creationId xmlns:a16="http://schemas.microsoft.com/office/drawing/2014/main" id="{CBF38825-9C90-4C3A-9176-EA107F937679}"/>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4088982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9D792E-B0CA-4D52-A12A-3D9E7C4D7AA9}"/>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7" name="Picture 6" descr="A close up of a sign&#10;&#10;Description automatically generated">
            <a:extLst>
              <a:ext uri="{FF2B5EF4-FFF2-40B4-BE49-F238E27FC236}">
                <a16:creationId xmlns:a16="http://schemas.microsoft.com/office/drawing/2014/main" id="{B68CC34A-C9B8-494F-ADFF-4D3691596174}"/>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211055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tx1"/>
                </a:solidFill>
                <a:latin typeface="+mn-lt"/>
                <a:ea typeface="Georgia" charset="0"/>
                <a:cs typeface="Georgia"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tx2"/>
                </a:solidFill>
                <a:latin typeface="Arial" charset="0"/>
                <a:ea typeface="Arial" charset="0"/>
                <a:cs typeface="Arial" charset="0"/>
              </a:defRPr>
            </a:lvl1pPr>
          </a:lstStyle>
          <a:p>
            <a:r>
              <a:rPr lang="en-US" dirty="0"/>
              <a:t>Presentation</a:t>
            </a:r>
            <a:br>
              <a:rPr lang="en-US" dirty="0"/>
            </a:br>
            <a:r>
              <a:rPr lang="en-US" dirty="0"/>
              <a:t>Title</a:t>
            </a:r>
          </a:p>
        </p:txBody>
      </p:sp>
      <p:pic>
        <p:nvPicPr>
          <p:cNvPr id="4" name="Picture 3">
            <a:extLst>
              <a:ext uri="{FF2B5EF4-FFF2-40B4-BE49-F238E27FC236}">
                <a16:creationId xmlns:a16="http://schemas.microsoft.com/office/drawing/2014/main" id="{3B3EA095-275E-4F13-AAFE-3D5EF2F7BB3E}"/>
              </a:ext>
            </a:extLst>
          </p:cNvPr>
          <p:cNvPicPr>
            <a:picLocks noChangeAspect="1"/>
          </p:cNvPicPr>
          <p:nvPr userDrawn="1"/>
        </p:nvPicPr>
        <p:blipFill>
          <a:blip r:embed="rId3"/>
          <a:stretch>
            <a:fillRect/>
          </a:stretch>
        </p:blipFill>
        <p:spPr>
          <a:xfrm>
            <a:off x="516258" y="231791"/>
            <a:ext cx="4729997" cy="1007332"/>
          </a:xfrm>
          <a:prstGeom prst="rect">
            <a:avLst/>
          </a:prstGeom>
        </p:spPr>
      </p:pic>
      <p:sp>
        <p:nvSpPr>
          <p:cNvPr id="5" name="TextBox 4">
            <a:extLst>
              <a:ext uri="{FF2B5EF4-FFF2-40B4-BE49-F238E27FC236}">
                <a16:creationId xmlns:a16="http://schemas.microsoft.com/office/drawing/2014/main" id="{BE663ABF-2404-49C0-8D90-CEF0771E8157}"/>
              </a:ext>
            </a:extLst>
          </p:cNvPr>
          <p:cNvSpPr txBox="1"/>
          <p:nvPr userDrawn="1"/>
        </p:nvSpPr>
        <p:spPr>
          <a:xfrm>
            <a:off x="1456141" y="4934159"/>
            <a:ext cx="4944078" cy="6104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p>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7" name="Picture 6" descr="A close up of a sign&#10;&#10;Description automatically generated">
            <a:extLst>
              <a:ext uri="{FF2B5EF4-FFF2-40B4-BE49-F238E27FC236}">
                <a16:creationId xmlns:a16="http://schemas.microsoft.com/office/drawing/2014/main" id="{3EAD46F3-6FA1-44C5-9492-A07CB5C779A3}"/>
              </a:ext>
            </a:extLst>
          </p:cNvPr>
          <p:cNvPicPr>
            <a:picLocks noChangeAspect="1"/>
          </p:cNvPicPr>
          <p:nvPr userDrawn="1"/>
        </p:nvPicPr>
        <p:blipFill>
          <a:blip r:embed="rId4"/>
          <a:stretch>
            <a:fillRect/>
          </a:stretch>
        </p:blipFill>
        <p:spPr>
          <a:xfrm>
            <a:off x="658368" y="4896471"/>
            <a:ext cx="731520" cy="731520"/>
          </a:xfrm>
          <a:prstGeom prst="rect">
            <a:avLst/>
          </a:prstGeom>
        </p:spPr>
      </p:pic>
    </p:spTree>
    <p:extLst>
      <p:ext uri="{BB962C8B-B14F-4D97-AF65-F5344CB8AC3E}">
        <p14:creationId xmlns:p14="http://schemas.microsoft.com/office/powerpoint/2010/main" val="628638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DIVIDER SLIDE</a:t>
            </a:r>
          </a:p>
        </p:txBody>
      </p:sp>
      <p:pic>
        <p:nvPicPr>
          <p:cNvPr id="7" name="Picture 6">
            <a:extLst>
              <a:ext uri="{FF2B5EF4-FFF2-40B4-BE49-F238E27FC236}">
                <a16:creationId xmlns:a16="http://schemas.microsoft.com/office/drawing/2014/main" id="{B5D5DF1B-1586-49E3-A104-4F0398AEBCFE}"/>
              </a:ext>
            </a:extLst>
          </p:cNvPr>
          <p:cNvPicPr>
            <a:picLocks noChangeAspect="1"/>
          </p:cNvPicPr>
          <p:nvPr userDrawn="1"/>
        </p:nvPicPr>
        <p:blipFill>
          <a:blip r:embed="rId3"/>
          <a:stretch>
            <a:fillRect/>
          </a:stretch>
        </p:blipFill>
        <p:spPr>
          <a:xfrm>
            <a:off x="230475" y="-56826"/>
            <a:ext cx="4700113" cy="1000968"/>
          </a:xfrm>
          <a:prstGeom prst="rect">
            <a:avLst/>
          </a:prstGeom>
        </p:spPr>
      </p:pic>
      <p:sp>
        <p:nvSpPr>
          <p:cNvPr id="8" name="TextBox 7">
            <a:extLst>
              <a:ext uri="{FF2B5EF4-FFF2-40B4-BE49-F238E27FC236}">
                <a16:creationId xmlns:a16="http://schemas.microsoft.com/office/drawing/2014/main" id="{145B3255-599A-4BE4-BAA2-7AB28FDF2BEA}"/>
              </a:ext>
            </a:extLst>
          </p:cNvPr>
          <p:cNvSpPr txBox="1"/>
          <p:nvPr userDrawn="1"/>
        </p:nvSpPr>
        <p:spPr>
          <a:xfrm>
            <a:off x="7689516" y="117827"/>
            <a:ext cx="4944078" cy="6104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FFFF00"/>
                </a:solidFill>
                <a:effectLst/>
                <a:uLnTx/>
                <a:uFillTx/>
                <a:latin typeface="Arial" panose="020B0604020202020204"/>
                <a:ea typeface="+mn-ea"/>
                <a:cs typeface="+mn-cs"/>
              </a:rPr>
              <a:t>FACULTY OF INFORMATION TECHNOLOGY</a:t>
            </a:r>
          </a:p>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a:ea typeface="+mn-ea"/>
                <a:cs typeface="+mn-cs"/>
              </a:rPr>
              <a:t>M.S. Nguyen Cong Danh</a:t>
            </a:r>
          </a:p>
        </p:txBody>
      </p:sp>
      <p:pic>
        <p:nvPicPr>
          <p:cNvPr id="10" name="Picture 9" descr="A close up of a sign&#10;&#10;Description automatically generated">
            <a:extLst>
              <a:ext uri="{FF2B5EF4-FFF2-40B4-BE49-F238E27FC236}">
                <a16:creationId xmlns:a16="http://schemas.microsoft.com/office/drawing/2014/main" id="{48DE9A2D-D115-4574-9BFC-926441C1C02D}"/>
              </a:ext>
            </a:extLst>
          </p:cNvPr>
          <p:cNvPicPr>
            <a:picLocks noChangeAspect="1"/>
          </p:cNvPicPr>
          <p:nvPr userDrawn="1"/>
        </p:nvPicPr>
        <p:blipFill>
          <a:blip r:embed="rId4"/>
          <a:stretch>
            <a:fillRect/>
          </a:stretch>
        </p:blipFill>
        <p:spPr>
          <a:xfrm>
            <a:off x="6814469" y="57279"/>
            <a:ext cx="731520" cy="731520"/>
          </a:xfrm>
          <a:prstGeom prst="rect">
            <a:avLst/>
          </a:prstGeom>
        </p:spPr>
      </p:pic>
    </p:spTree>
    <p:extLst>
      <p:ext uri="{BB962C8B-B14F-4D97-AF65-F5344CB8AC3E}">
        <p14:creationId xmlns:p14="http://schemas.microsoft.com/office/powerpoint/2010/main" val="234508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tx2"/>
                </a:solidFill>
                <a:latin typeface="Arial" charset="0"/>
                <a:ea typeface="Arial" charset="0"/>
                <a:cs typeface="Arial" charset="0"/>
              </a:defRPr>
            </a:lvl1pPr>
          </a:lstStyle>
          <a:p>
            <a:r>
              <a:rPr lang="en-US" dirty="0"/>
              <a:t>DIVIDER SLIDE</a:t>
            </a:r>
          </a:p>
        </p:txBody>
      </p:sp>
      <p:pic>
        <p:nvPicPr>
          <p:cNvPr id="7" name="Picture 6">
            <a:extLst>
              <a:ext uri="{FF2B5EF4-FFF2-40B4-BE49-F238E27FC236}">
                <a16:creationId xmlns:a16="http://schemas.microsoft.com/office/drawing/2014/main" id="{76FC959E-21E7-4D23-8981-041C9589E6FC}"/>
              </a:ext>
            </a:extLst>
          </p:cNvPr>
          <p:cNvPicPr>
            <a:picLocks noChangeAspect="1"/>
          </p:cNvPicPr>
          <p:nvPr userDrawn="1"/>
        </p:nvPicPr>
        <p:blipFill>
          <a:blip r:embed="rId3"/>
          <a:stretch>
            <a:fillRect/>
          </a:stretch>
        </p:blipFill>
        <p:spPr>
          <a:xfrm>
            <a:off x="73893" y="6641"/>
            <a:ext cx="3837809" cy="839915"/>
          </a:xfrm>
          <a:prstGeom prst="rect">
            <a:avLst/>
          </a:prstGeom>
        </p:spPr>
      </p:pic>
      <p:sp>
        <p:nvSpPr>
          <p:cNvPr id="8" name="TextBox 7">
            <a:extLst>
              <a:ext uri="{FF2B5EF4-FFF2-40B4-BE49-F238E27FC236}">
                <a16:creationId xmlns:a16="http://schemas.microsoft.com/office/drawing/2014/main" id="{B1C51BCA-86F9-4804-9C31-E68A99E567CF}"/>
              </a:ext>
            </a:extLst>
          </p:cNvPr>
          <p:cNvSpPr txBox="1"/>
          <p:nvPr userDrawn="1"/>
        </p:nvSpPr>
        <p:spPr>
          <a:xfrm>
            <a:off x="1551957" y="4903381"/>
            <a:ext cx="4290904" cy="6719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8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p>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8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PhD. Le Tran Duc</a:t>
            </a:r>
          </a:p>
        </p:txBody>
      </p:sp>
      <p:pic>
        <p:nvPicPr>
          <p:cNvPr id="10" name="Picture 9" descr="A close up of a sign&#10;&#10;Description automatically generated">
            <a:extLst>
              <a:ext uri="{FF2B5EF4-FFF2-40B4-BE49-F238E27FC236}">
                <a16:creationId xmlns:a16="http://schemas.microsoft.com/office/drawing/2014/main" id="{9F462A5D-9697-4D2A-8E84-BE5186E05BB4}"/>
              </a:ext>
            </a:extLst>
          </p:cNvPr>
          <p:cNvPicPr>
            <a:picLocks noChangeAspect="1"/>
          </p:cNvPicPr>
          <p:nvPr userDrawn="1"/>
        </p:nvPicPr>
        <p:blipFill>
          <a:blip r:embed="rId4"/>
          <a:stretch>
            <a:fillRect/>
          </a:stretch>
        </p:blipFill>
        <p:spPr>
          <a:xfrm>
            <a:off x="658368" y="4896471"/>
            <a:ext cx="731520" cy="731520"/>
          </a:xfrm>
          <a:prstGeom prst="rect">
            <a:avLst/>
          </a:prstGeom>
        </p:spPr>
      </p:pic>
    </p:spTree>
    <p:extLst>
      <p:ext uri="{BB962C8B-B14F-4D97-AF65-F5344CB8AC3E}">
        <p14:creationId xmlns:p14="http://schemas.microsoft.com/office/powerpoint/2010/main" val="622768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2E94CFF6-4805-4871-A07A-289657AB1AFE}"/>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PhD. LE TRAN DUC</a:t>
            </a:r>
          </a:p>
        </p:txBody>
      </p:sp>
      <p:pic>
        <p:nvPicPr>
          <p:cNvPr id="9" name="Picture 8" descr="A close up of a sign&#10;&#10;Description automatically generated">
            <a:extLst>
              <a:ext uri="{FF2B5EF4-FFF2-40B4-BE49-F238E27FC236}">
                <a16:creationId xmlns:a16="http://schemas.microsoft.com/office/drawing/2014/main" id="{BEE67041-269C-4FE6-8EA4-8254D4AA3F2A}"/>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40921510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63A4D939-42F7-4E8A-8CF8-E8DA14C76ADA}"/>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6" name="Picture 5" descr="A close up of a sign&#10;&#10;Description automatically generated">
            <a:extLst>
              <a:ext uri="{FF2B5EF4-FFF2-40B4-BE49-F238E27FC236}">
                <a16:creationId xmlns:a16="http://schemas.microsoft.com/office/drawing/2014/main" id="{1331FFD2-B873-4317-AE60-05B27A150FBB}"/>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346302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p:nvPr>
        </p:nvSpPr>
        <p:spPr>
          <a:xfrm>
            <a:off x="566928" y="2185416"/>
            <a:ext cx="4500372" cy="394868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a:extLst>
              <a:ext uri="{FF2B5EF4-FFF2-40B4-BE49-F238E27FC236}">
                <a16:creationId xmlns:a16="http://schemas.microsoft.com/office/drawing/2014/main" id="{F8908D40-D1BD-471A-8F59-342F7DAD4284}"/>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0" name="Picture 9" descr="A close up of a sign&#10;&#10;Description automatically generated">
            <a:extLst>
              <a:ext uri="{FF2B5EF4-FFF2-40B4-BE49-F238E27FC236}">
                <a16:creationId xmlns:a16="http://schemas.microsoft.com/office/drawing/2014/main" id="{7C12333D-F6D5-4297-BBEC-69D46042E55B}"/>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904386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a:prstGeom prst="rect">
            <a:avLst/>
          </a:prstGeo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8">
            <a:extLst>
              <a:ext uri="{FF2B5EF4-FFF2-40B4-BE49-F238E27FC236}">
                <a16:creationId xmlns:a16="http://schemas.microsoft.com/office/drawing/2014/main" id="{91F9F085-FB7A-4C8D-8CA4-7DAD338F7825}"/>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2" name="Picture 11" descr="A close up of a sign&#10;&#10;Description automatically generated">
            <a:extLst>
              <a:ext uri="{FF2B5EF4-FFF2-40B4-BE49-F238E27FC236}">
                <a16:creationId xmlns:a16="http://schemas.microsoft.com/office/drawing/2014/main" id="{0772D8B5-1B9C-41EB-9DA0-84B9BE024677}"/>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60951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ADD06E-6DA3-4C36-ACD4-5A4554943F21}"/>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6" name="Picture 5" descr="A close up of a sign&#10;&#10;Description automatically generated">
            <a:extLst>
              <a:ext uri="{FF2B5EF4-FFF2-40B4-BE49-F238E27FC236}">
                <a16:creationId xmlns:a16="http://schemas.microsoft.com/office/drawing/2014/main" id="{FA022105-D67F-454B-A8FA-BCE5B7F0E9AE}"/>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40315077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C6EF38F-8DF7-3941-B22C-502232E4CB0B}"/>
              </a:ext>
            </a:extLst>
          </p:cNvPr>
          <p:cNvSpPr>
            <a:spLocks noGrp="1" noChangeAspect="1"/>
          </p:cNvSpPr>
          <p:nvPr>
            <p:ph type="pic" idx="13"/>
          </p:nvPr>
        </p:nvSpPr>
        <p:spPr>
          <a:xfrm>
            <a:off x="5098566" y="1079500"/>
            <a:ext cx="7093434" cy="57785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a:prstGeom prst="rect">
            <a:avLst/>
          </a:prstGeo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2EF2B6B1-1121-4A98-B457-F17214B1F907}"/>
              </a:ext>
            </a:extLst>
          </p:cNvPr>
          <p:cNvSpPr txBox="1"/>
          <p:nvPr userDrawn="1"/>
        </p:nvSpPr>
        <p:spPr>
          <a:xfrm>
            <a:off x="6875973" y="256740"/>
            <a:ext cx="3692525" cy="487313"/>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8" name="Picture 7" descr="A close up of a sign&#10;&#10;Description automatically generated">
            <a:extLst>
              <a:ext uri="{FF2B5EF4-FFF2-40B4-BE49-F238E27FC236}">
                <a16:creationId xmlns:a16="http://schemas.microsoft.com/office/drawing/2014/main" id="{3389C026-0197-478B-B736-9FFEA6213D66}"/>
              </a:ext>
            </a:extLst>
          </p:cNvPr>
          <p:cNvPicPr>
            <a:picLocks noChangeAspect="1"/>
          </p:cNvPicPr>
          <p:nvPr userDrawn="1"/>
        </p:nvPicPr>
        <p:blipFill>
          <a:blip r:embed="rId2"/>
          <a:stretch>
            <a:fillRect/>
          </a:stretch>
        </p:blipFill>
        <p:spPr>
          <a:xfrm>
            <a:off x="10568498" y="88142"/>
            <a:ext cx="731520" cy="731520"/>
          </a:xfrm>
          <a:prstGeom prst="rect">
            <a:avLst/>
          </a:prstGeom>
        </p:spPr>
      </p:pic>
    </p:spTree>
    <p:extLst>
      <p:ext uri="{BB962C8B-B14F-4D97-AF65-F5344CB8AC3E}">
        <p14:creationId xmlns:p14="http://schemas.microsoft.com/office/powerpoint/2010/main" val="1827917959"/>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a:prstGeom prst="rect">
            <a:avLst/>
          </a:prstGeo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p:nvPr>
        </p:nvSpPr>
        <p:spPr>
          <a:xfrm>
            <a:off x="5114631" y="1066800"/>
            <a:ext cx="7077369" cy="293259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10" name="TextBox 9">
            <a:extLst>
              <a:ext uri="{FF2B5EF4-FFF2-40B4-BE49-F238E27FC236}">
                <a16:creationId xmlns:a16="http://schemas.microsoft.com/office/drawing/2014/main" id="{4BF332ED-44C2-4102-BF26-95B56C955C22}"/>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3" name="Picture 12" descr="A close up of a sign&#10;&#10;Description automatically generated">
            <a:extLst>
              <a:ext uri="{FF2B5EF4-FFF2-40B4-BE49-F238E27FC236}">
                <a16:creationId xmlns:a16="http://schemas.microsoft.com/office/drawing/2014/main" id="{85363DFF-46FB-46B5-B8E6-AFF0EE52457B}"/>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46059873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B21EA68-2B0A-7648-9710-0081FFDD7D68}"/>
              </a:ext>
            </a:extLst>
          </p:cNvPr>
          <p:cNvSpPr>
            <a:spLocks noGrp="1" noChangeAspect="1"/>
          </p:cNvSpPr>
          <p:nvPr>
            <p:ph type="pic" idx="13"/>
          </p:nvPr>
        </p:nvSpPr>
        <p:spPr>
          <a:xfrm>
            <a:off x="0" y="1066800"/>
            <a:ext cx="12192000" cy="57912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a:p>
            <a:r>
              <a:rPr lang="en-US"/>
              <a:t>Drag picture to placeholder or click icon to add</a:t>
            </a:r>
          </a:p>
        </p:txBody>
      </p:sp>
      <p:sp>
        <p:nvSpPr>
          <p:cNvPr id="5" name="TextBox 4">
            <a:extLst>
              <a:ext uri="{FF2B5EF4-FFF2-40B4-BE49-F238E27FC236}">
                <a16:creationId xmlns:a16="http://schemas.microsoft.com/office/drawing/2014/main" id="{0ECB2C13-22D3-41D4-AF32-8299D0934DE8}"/>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8" name="Picture 7" descr="A close up of a sign&#10;&#10;Description automatically generated">
            <a:extLst>
              <a:ext uri="{FF2B5EF4-FFF2-40B4-BE49-F238E27FC236}">
                <a16:creationId xmlns:a16="http://schemas.microsoft.com/office/drawing/2014/main" id="{304EE7F3-2C02-4C02-9B43-8C156FBCD30A}"/>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3693255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a:prstGeom prst="rect">
            <a:avLst/>
          </a:prstGeo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latin typeface="Arial" charset="0"/>
                <a:ea typeface="Arial" charset="0"/>
                <a:cs typeface="Arial" charset="0"/>
              </a:defRPr>
            </a:lvl1pPr>
          </a:lstStyle>
          <a:p>
            <a:endParaRPr lang="en-US"/>
          </a:p>
          <a:p>
            <a:r>
              <a:rPr lang="en-US"/>
              <a:t>Drag chart to placeholder or click icon to add chart</a:t>
            </a:r>
          </a:p>
          <a:p>
            <a:endParaRPr lang="en-US"/>
          </a:p>
        </p:txBody>
      </p:sp>
      <p:sp>
        <p:nvSpPr>
          <p:cNvPr id="7" name="TextBox 6">
            <a:extLst>
              <a:ext uri="{FF2B5EF4-FFF2-40B4-BE49-F238E27FC236}">
                <a16:creationId xmlns:a16="http://schemas.microsoft.com/office/drawing/2014/main" id="{E00E88FA-0F81-4AC1-9E80-13330794F520}"/>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10" name="Picture 9" descr="A close up of a sign&#10;&#10;Description automatically generated">
            <a:extLst>
              <a:ext uri="{FF2B5EF4-FFF2-40B4-BE49-F238E27FC236}">
                <a16:creationId xmlns:a16="http://schemas.microsoft.com/office/drawing/2014/main" id="{CBF38825-9C90-4C3A-9176-EA107F937679}"/>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167145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9D792E-B0CA-4D52-A12A-3D9E7C4D7AA9}"/>
              </a:ext>
            </a:extLst>
          </p:cNvPr>
          <p:cNvSpPr txBox="1"/>
          <p:nvPr userDrawn="1"/>
        </p:nvSpPr>
        <p:spPr>
          <a:xfrm>
            <a:off x="6431797" y="256740"/>
            <a:ext cx="4136701" cy="51809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1" i="0" u="none" strike="noStrike" kern="1200" cap="none" spc="0" normalizeH="0" baseline="0" noProof="0">
                <a:ln>
                  <a:noFill/>
                </a:ln>
                <a:solidFill>
                  <a:srgbClr val="005BBB"/>
                </a:solidFill>
                <a:effectLst/>
                <a:uLnTx/>
                <a:uFillTx/>
                <a:latin typeface="Arial" panose="020B0604020202020204"/>
                <a:ea typeface="+mn-ea"/>
                <a:cs typeface="+mn-cs"/>
              </a:rPr>
              <a:t>FACULTY OF INFORMATION TECHNOLOGY</a:t>
            </a:r>
            <a:endParaRPr kumimoji="0" lang="en-US" sz="1200" b="1" i="0" u="none" strike="noStrike" kern="1200" cap="none" spc="0" normalizeH="0" baseline="0" noProof="0">
              <a:ln>
                <a:noFill/>
              </a:ln>
              <a:solidFill>
                <a:srgbClr val="005BBB"/>
              </a:solidFill>
              <a:effectLst/>
              <a:uLnTx/>
              <a:uFillTx/>
              <a:latin typeface="Arial" panose="020B0604020202020204"/>
              <a:ea typeface="+mn-ea"/>
              <a:cs typeface="+mn-cs"/>
            </a:endParaRPr>
          </a:p>
          <a:p>
            <a:pPr marL="0" marR="0" lvl="0" indent="0" algn="r" defTabSz="914400"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rPr>
              <a:t>M.S. Nguyen Van A</a:t>
            </a:r>
          </a:p>
        </p:txBody>
      </p:sp>
      <p:pic>
        <p:nvPicPr>
          <p:cNvPr id="7" name="Picture 6" descr="A close up of a sign&#10;&#10;Description automatically generated">
            <a:extLst>
              <a:ext uri="{FF2B5EF4-FFF2-40B4-BE49-F238E27FC236}">
                <a16:creationId xmlns:a16="http://schemas.microsoft.com/office/drawing/2014/main" id="{B68CC34A-C9B8-494F-ADFF-4D3691596174}"/>
              </a:ext>
            </a:extLst>
          </p:cNvPr>
          <p:cNvPicPr>
            <a:picLocks noChangeAspect="1"/>
          </p:cNvPicPr>
          <p:nvPr userDrawn="1"/>
        </p:nvPicPr>
        <p:blipFill>
          <a:blip r:embed="rId2"/>
          <a:stretch>
            <a:fillRect/>
          </a:stretch>
        </p:blipFill>
        <p:spPr>
          <a:xfrm>
            <a:off x="10568498" y="134636"/>
            <a:ext cx="731520" cy="731520"/>
          </a:xfrm>
          <a:prstGeom prst="rect">
            <a:avLst/>
          </a:prstGeom>
        </p:spPr>
      </p:pic>
    </p:spTree>
    <p:extLst>
      <p:ext uri="{BB962C8B-B14F-4D97-AF65-F5344CB8AC3E}">
        <p14:creationId xmlns:p14="http://schemas.microsoft.com/office/powerpoint/2010/main" val="2867799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D439930E-F253-DE46-B952-3E0957740773}"/>
              </a:ext>
            </a:extLst>
          </p:cNvPr>
          <p:cNvSpPr txBox="1">
            <a:spLocks/>
          </p:cNvSpPr>
          <p:nvPr userDrawn="1"/>
        </p:nvSpPr>
        <p:spPr>
          <a:xfrm>
            <a:off x="6938176" y="6319774"/>
            <a:ext cx="41148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53C135-CEC6-A548-8917-8F7FEB82358B}" type="slidenum">
              <a:rPr kumimoji="0" lang="en-US" sz="1600" b="1" i="0" u="none" strike="noStrike" kern="1200" cap="none" spc="0" normalizeH="0" baseline="0" noProof="0" smtClean="0">
                <a:ln>
                  <a:noFill/>
                </a:ln>
                <a:solidFill>
                  <a:srgbClr val="666666"/>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srgbClr val="666666"/>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60D91EFB-4136-46DA-BC13-929F2C186B46}"/>
              </a:ext>
            </a:extLst>
          </p:cNvPr>
          <p:cNvPicPr>
            <a:picLocks noChangeAspect="1"/>
          </p:cNvPicPr>
          <p:nvPr userDrawn="1"/>
        </p:nvPicPr>
        <p:blipFill>
          <a:blip r:embed="rId16"/>
          <a:stretch>
            <a:fillRect/>
          </a:stretch>
        </p:blipFill>
        <p:spPr>
          <a:xfrm>
            <a:off x="64657" y="15877"/>
            <a:ext cx="3837809" cy="839915"/>
          </a:xfrm>
          <a:prstGeom prst="rect">
            <a:avLst/>
          </a:prstGeom>
        </p:spPr>
      </p:pic>
    </p:spTree>
    <p:extLst>
      <p:ext uri="{BB962C8B-B14F-4D97-AF65-F5344CB8AC3E}">
        <p14:creationId xmlns:p14="http://schemas.microsoft.com/office/powerpoint/2010/main" val="117604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dt="0"/>
  <p:txStyles>
    <p:title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D439930E-F253-DE46-B952-3E0957740773}"/>
              </a:ext>
            </a:extLst>
          </p:cNvPr>
          <p:cNvSpPr txBox="1">
            <a:spLocks/>
          </p:cNvSpPr>
          <p:nvPr userDrawn="1"/>
        </p:nvSpPr>
        <p:spPr>
          <a:xfrm>
            <a:off x="6938176" y="6319774"/>
            <a:ext cx="41148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53C135-CEC6-A548-8917-8F7FEB82358B}" type="slidenum">
              <a:rPr kumimoji="0" lang="en-US" sz="1600" b="1" i="0" u="none" strike="noStrike" kern="1200" cap="none" spc="0" normalizeH="0" baseline="0" noProof="0" smtClean="0">
                <a:ln>
                  <a:noFill/>
                </a:ln>
                <a:solidFill>
                  <a:srgbClr val="666666"/>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srgbClr val="666666"/>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60D91EFB-4136-46DA-BC13-929F2C186B46}"/>
              </a:ext>
            </a:extLst>
          </p:cNvPr>
          <p:cNvPicPr>
            <a:picLocks noChangeAspect="1"/>
          </p:cNvPicPr>
          <p:nvPr userDrawn="1"/>
        </p:nvPicPr>
        <p:blipFill>
          <a:blip r:embed="rId16"/>
          <a:stretch>
            <a:fillRect/>
          </a:stretch>
        </p:blipFill>
        <p:spPr>
          <a:xfrm>
            <a:off x="64657" y="15877"/>
            <a:ext cx="3837809" cy="839915"/>
          </a:xfrm>
          <a:prstGeom prst="rect">
            <a:avLst/>
          </a:prstGeom>
        </p:spPr>
      </p:pic>
    </p:spTree>
    <p:extLst>
      <p:ext uri="{BB962C8B-B14F-4D97-AF65-F5344CB8AC3E}">
        <p14:creationId xmlns:p14="http://schemas.microsoft.com/office/powerpoint/2010/main" val="13662344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dt="0"/>
  <p:txStyles>
    <p:title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opic">
            <a:extLst>
              <a:ext uri="{FF2B5EF4-FFF2-40B4-BE49-F238E27FC236}">
                <a16:creationId xmlns:a16="http://schemas.microsoft.com/office/drawing/2014/main" id="{B0882130-6200-324C-8A79-B506D34288AC}"/>
              </a:ext>
            </a:extLst>
          </p:cNvPr>
          <p:cNvSpPr>
            <a:spLocks noGrp="1"/>
          </p:cNvSpPr>
          <p:nvPr>
            <p:ph type="ctrTitle"/>
          </p:nvPr>
        </p:nvSpPr>
        <p:spPr>
          <a:xfrm>
            <a:off x="94267" y="1147633"/>
            <a:ext cx="11779869" cy="2677213"/>
          </a:xfrm>
        </p:spPr>
        <p:txBody>
          <a:bodyPr/>
          <a:lstStyle/>
          <a:p>
            <a:pPr>
              <a:lnSpc>
                <a:spcPct val="100000"/>
              </a:lnSpc>
            </a:pPr>
            <a:r>
              <a:rPr lang="en-US" dirty="0">
                <a:solidFill>
                  <a:srgbClr val="FFFF00"/>
                </a:solidFill>
              </a:rPr>
              <a:t>Chương 3: </a:t>
            </a:r>
            <a:r>
              <a:rPr lang="en-US" sz="5400" dirty="0" err="1">
                <a:solidFill>
                  <a:srgbClr val="FFFF00"/>
                </a:solidFill>
              </a:rPr>
              <a:t>tầng</a:t>
            </a:r>
            <a:r>
              <a:rPr lang="en-US" sz="5400" dirty="0">
                <a:solidFill>
                  <a:srgbClr val="FFFF00"/>
                </a:solidFill>
              </a:rPr>
              <a:t> </a:t>
            </a:r>
            <a:r>
              <a:rPr lang="en-US" sz="5400" dirty="0" err="1">
                <a:solidFill>
                  <a:srgbClr val="FFFF00"/>
                </a:solidFill>
              </a:rPr>
              <a:t>mạng</a:t>
            </a:r>
            <a:br>
              <a:rPr lang="en-US" sz="5400" dirty="0"/>
            </a:br>
            <a:endParaRPr lang="en-US" sz="4000" dirty="0"/>
          </a:p>
        </p:txBody>
      </p:sp>
    </p:spTree>
    <p:extLst>
      <p:ext uri="{BB962C8B-B14F-4D97-AF65-F5344CB8AC3E}">
        <p14:creationId xmlns:p14="http://schemas.microsoft.com/office/powerpoint/2010/main" val="351733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cs typeface="Helvetica World" panose="020B0500040000020004" pitchFamily="34" charset="0"/>
              </a:rPr>
              <a:t>GIAO THỨC IP (INTERNET PROTOCOL)</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6" name="Content Placeholder 5"/>
          <p:cNvSpPr>
            <a:spLocks noGrp="1"/>
          </p:cNvSpPr>
          <p:nvPr>
            <p:ph idx="1"/>
          </p:nvPr>
        </p:nvSpPr>
        <p:spPr>
          <a:xfrm>
            <a:off x="137433" y="1381850"/>
            <a:ext cx="11929876" cy="5476150"/>
          </a:xfrm>
        </p:spPr>
        <p:txBody>
          <a:bodyPr/>
          <a:lstStyle/>
          <a:p>
            <a:pPr algn="just"/>
            <a:r>
              <a:rPr lang="en-US" dirty="0"/>
              <a:t>Giao </a:t>
            </a:r>
            <a:r>
              <a:rPr lang="en-US" dirty="0" err="1"/>
              <a:t>thức</a:t>
            </a:r>
            <a:r>
              <a:rPr lang="en-US" dirty="0"/>
              <a:t> IP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giữa</a:t>
            </a:r>
            <a:r>
              <a:rPr lang="en-US" dirty="0"/>
              <a:t> </a:t>
            </a:r>
            <a:r>
              <a:rPr lang="en-US" dirty="0" err="1"/>
              <a:t>các</a:t>
            </a:r>
            <a:r>
              <a:rPr lang="en-US" dirty="0"/>
              <a:t> </a:t>
            </a:r>
            <a:r>
              <a:rPr lang="en-US" dirty="0" err="1"/>
              <a:t>máy</a:t>
            </a:r>
            <a:r>
              <a:rPr lang="en-US" dirty="0"/>
              <a:t> </a:t>
            </a:r>
            <a:r>
              <a:rPr lang="en-US" dirty="0" err="1"/>
              <a:t>nguồn</a:t>
            </a:r>
            <a:r>
              <a:rPr lang="en-US" dirty="0"/>
              <a:t> </a:t>
            </a:r>
            <a:r>
              <a:rPr lang="en-US" dirty="0" err="1"/>
              <a:t>và</a:t>
            </a:r>
            <a:r>
              <a:rPr lang="en-US" dirty="0"/>
              <a:t> </a:t>
            </a:r>
            <a:r>
              <a:rPr lang="en-US" dirty="0" err="1"/>
              <a:t>đích</a:t>
            </a:r>
            <a:r>
              <a:rPr lang="en-US" dirty="0"/>
              <a:t> </a:t>
            </a:r>
            <a:r>
              <a:rPr lang="en-US" dirty="0" err="1"/>
              <a:t>trong</a:t>
            </a:r>
            <a:r>
              <a:rPr lang="en-US" dirty="0"/>
              <a:t> </a:t>
            </a:r>
            <a:r>
              <a:rPr lang="en-US" dirty="0" err="1"/>
              <a:t>một</a:t>
            </a:r>
            <a:r>
              <a:rPr lang="en-US" dirty="0"/>
              <a:t> </a:t>
            </a:r>
            <a:r>
              <a:rPr lang="en-US" dirty="0" err="1"/>
              <a:t>liên</a:t>
            </a:r>
            <a:r>
              <a:rPr lang="en-US" dirty="0"/>
              <a:t> </a:t>
            </a:r>
            <a:r>
              <a:rPr lang="en-US" dirty="0" err="1"/>
              <a:t>mạng</a:t>
            </a:r>
            <a:r>
              <a:rPr lang="en-US" dirty="0"/>
              <a:t> </a:t>
            </a:r>
            <a:r>
              <a:rPr lang="en-US" dirty="0" err="1"/>
              <a:t>chuyển</a:t>
            </a:r>
            <a:r>
              <a:rPr lang="en-US" dirty="0"/>
              <a:t> </a:t>
            </a:r>
            <a:r>
              <a:rPr lang="en-US" dirty="0" err="1"/>
              <a:t>mạch</a:t>
            </a:r>
            <a:r>
              <a:rPr lang="en-US" dirty="0"/>
              <a:t> </a:t>
            </a:r>
            <a:r>
              <a:rPr lang="en-US" dirty="0" err="1"/>
              <a:t>gói</a:t>
            </a:r>
            <a:r>
              <a:rPr lang="en-US" dirty="0"/>
              <a:t>.</a:t>
            </a:r>
          </a:p>
          <a:p>
            <a:pPr algn="just"/>
            <a:r>
              <a:rPr lang="vi-VN" dirty="0"/>
              <a:t>IP không cần thiết lập các đường truyền trước khi một máy gửi các gói tin cho một máy khác</a:t>
            </a:r>
            <a:r>
              <a:rPr lang="en-US" dirty="0"/>
              <a:t>.</a:t>
            </a:r>
          </a:p>
          <a:p>
            <a:pPr algn="just"/>
            <a:r>
              <a:rPr lang="vi-VN" dirty="0"/>
              <a:t>Giao thức IP cung cấp một dịch vụ gửi dữ liệu không đảm bảo </a:t>
            </a:r>
            <a:r>
              <a:rPr lang="en-US" dirty="0"/>
              <a:t>(</a:t>
            </a:r>
            <a:r>
              <a:rPr lang="en-US" b="1" dirty="0"/>
              <a:t>best-effort service</a:t>
            </a:r>
            <a:r>
              <a:rPr lang="vi-VN" dirty="0"/>
              <a:t>)</a:t>
            </a:r>
            <a:r>
              <a:rPr lang="en-US" dirty="0"/>
              <a:t>, </a:t>
            </a:r>
            <a:r>
              <a:rPr lang="en-US" dirty="0" err="1"/>
              <a:t>nghĩa</a:t>
            </a:r>
            <a:r>
              <a:rPr lang="en-US" dirty="0"/>
              <a:t> </a:t>
            </a:r>
            <a:r>
              <a:rPr lang="en-US" dirty="0" err="1"/>
              <a:t>là</a:t>
            </a:r>
            <a:r>
              <a:rPr lang="en-US" dirty="0"/>
              <a:t> </a:t>
            </a:r>
            <a:r>
              <a:rPr lang="en-US" dirty="0" err="1"/>
              <a:t>giao</a:t>
            </a:r>
            <a:r>
              <a:rPr lang="en-US" dirty="0"/>
              <a:t> </a:t>
            </a:r>
            <a:r>
              <a:rPr lang="en-US" dirty="0" err="1"/>
              <a:t>thức</a:t>
            </a:r>
            <a:r>
              <a:rPr lang="en-US" dirty="0"/>
              <a:t> IP </a:t>
            </a:r>
            <a:r>
              <a:rPr lang="en-US" dirty="0" err="1"/>
              <a:t>không</a:t>
            </a:r>
            <a:r>
              <a:rPr lang="en-US" dirty="0"/>
              <a:t> </a:t>
            </a:r>
            <a:r>
              <a:rPr lang="en-US" dirty="0" err="1"/>
              <a:t>quan</a:t>
            </a:r>
            <a:r>
              <a:rPr lang="en-US" dirty="0"/>
              <a:t> </a:t>
            </a:r>
            <a:r>
              <a:rPr lang="en-US" dirty="0" err="1"/>
              <a:t>tâm</a:t>
            </a:r>
            <a:r>
              <a:rPr lang="en-US" dirty="0"/>
              <a:t> </a:t>
            </a:r>
            <a:r>
              <a:rPr lang="en-US" dirty="0" err="1"/>
              <a:t>đến</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như</a:t>
            </a:r>
            <a:r>
              <a:rPr lang="en-US" dirty="0"/>
              <a:t> </a:t>
            </a:r>
            <a:r>
              <a:rPr lang="en-US" dirty="0" err="1"/>
              <a:t>đảm</a:t>
            </a:r>
            <a:r>
              <a:rPr lang="en-US" dirty="0"/>
              <a:t> </a:t>
            </a:r>
            <a:r>
              <a:rPr lang="en-US" dirty="0" err="1"/>
              <a:t>bảo</a:t>
            </a:r>
            <a:r>
              <a:rPr lang="en-US" dirty="0"/>
              <a:t> </a:t>
            </a:r>
            <a:r>
              <a:rPr lang="en-US" dirty="0" err="1"/>
              <a:t>gói</a:t>
            </a:r>
            <a:r>
              <a:rPr lang="en-US" dirty="0"/>
              <a:t> tin </a:t>
            </a:r>
            <a:r>
              <a:rPr lang="en-US" dirty="0" err="1"/>
              <a:t>được</a:t>
            </a:r>
            <a:r>
              <a:rPr lang="en-US" dirty="0"/>
              <a:t> </a:t>
            </a:r>
            <a:r>
              <a:rPr lang="en-US" dirty="0" err="1"/>
              <a:t>truyền</a:t>
            </a:r>
            <a:r>
              <a:rPr lang="en-US" dirty="0"/>
              <a:t> </a:t>
            </a:r>
            <a:r>
              <a:rPr lang="en-US" dirty="0" err="1"/>
              <a:t>đến</a:t>
            </a:r>
            <a:r>
              <a:rPr lang="en-US" dirty="0"/>
              <a:t> </a:t>
            </a:r>
            <a:r>
              <a:rPr lang="en-US" dirty="0" err="1"/>
              <a:t>đích</a:t>
            </a:r>
            <a:r>
              <a:rPr lang="en-US" dirty="0"/>
              <a:t>, </a:t>
            </a:r>
            <a:r>
              <a:rPr lang="en-US" dirty="0" err="1"/>
              <a:t>đảm</a:t>
            </a:r>
            <a:r>
              <a:rPr lang="en-US" dirty="0"/>
              <a:t> </a:t>
            </a:r>
            <a:r>
              <a:rPr lang="en-US" dirty="0" err="1"/>
              <a:t>bảo</a:t>
            </a:r>
            <a:r>
              <a:rPr lang="en-US" dirty="0"/>
              <a:t>  </a:t>
            </a:r>
            <a:r>
              <a:rPr lang="en-US" dirty="0" err="1"/>
              <a:t>thứ</a:t>
            </a:r>
            <a:r>
              <a:rPr lang="en-US" dirty="0"/>
              <a:t> </a:t>
            </a:r>
            <a:r>
              <a:rPr lang="en-US" dirty="0" err="1"/>
              <a:t>tự</a:t>
            </a:r>
            <a:r>
              <a:rPr lang="en-US" dirty="0"/>
              <a:t> </a:t>
            </a:r>
            <a:r>
              <a:rPr lang="en-US" dirty="0" err="1"/>
              <a:t>truyền</a:t>
            </a:r>
            <a:r>
              <a:rPr lang="en-US" dirty="0"/>
              <a:t>, </a:t>
            </a:r>
            <a:r>
              <a:rPr lang="en-US" dirty="0" err="1"/>
              <a:t>đảm</a:t>
            </a:r>
            <a:r>
              <a:rPr lang="en-US" dirty="0"/>
              <a:t> </a:t>
            </a:r>
            <a:r>
              <a:rPr lang="en-US" dirty="0" err="1"/>
              <a:t>bảo</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về</a:t>
            </a:r>
            <a:r>
              <a:rPr lang="en-US" dirty="0"/>
              <a:t> </a:t>
            </a:r>
            <a:r>
              <a:rPr lang="en-US" dirty="0" err="1"/>
              <a:t>độ</a:t>
            </a:r>
            <a:r>
              <a:rPr lang="en-US" dirty="0"/>
              <a:t> </a:t>
            </a:r>
            <a:r>
              <a:rPr lang="en-US" dirty="0" err="1"/>
              <a:t>trễ</a:t>
            </a:r>
            <a:r>
              <a:rPr lang="en-US" dirty="0"/>
              <a:t>, </a:t>
            </a:r>
            <a:r>
              <a:rPr lang="en-US" dirty="0" err="1"/>
              <a:t>băng</a:t>
            </a:r>
            <a:r>
              <a:rPr lang="en-US" dirty="0"/>
              <a:t> </a:t>
            </a:r>
            <a:r>
              <a:rPr lang="en-US" dirty="0" err="1"/>
              <a:t>thông</a:t>
            </a:r>
            <a:r>
              <a:rPr lang="en-US" dirty="0"/>
              <a:t>. </a:t>
            </a:r>
            <a:r>
              <a:rPr lang="en-US" dirty="0" err="1"/>
              <a:t>Việc</a:t>
            </a:r>
            <a:r>
              <a:rPr lang="en-US" dirty="0"/>
              <a:t> </a:t>
            </a:r>
            <a:r>
              <a:rPr lang="en-US" dirty="0" err="1"/>
              <a:t>xử</a:t>
            </a:r>
            <a:r>
              <a:rPr lang="en-US" dirty="0"/>
              <a:t> </a:t>
            </a:r>
            <a:r>
              <a:rPr lang="en-US" dirty="0" err="1"/>
              <a:t>lý</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này</a:t>
            </a:r>
            <a:r>
              <a:rPr lang="en-US" dirty="0"/>
              <a:t> </a:t>
            </a:r>
            <a:r>
              <a:rPr lang="en-US" dirty="0" err="1"/>
              <a:t>được</a:t>
            </a:r>
            <a:r>
              <a:rPr lang="en-US" dirty="0"/>
              <a:t> </a:t>
            </a:r>
            <a:r>
              <a:rPr lang="en-US" dirty="0" err="1"/>
              <a:t>đảm</a:t>
            </a:r>
            <a:r>
              <a:rPr lang="en-US" dirty="0"/>
              <a:t> </a:t>
            </a:r>
            <a:r>
              <a:rPr lang="en-US" dirty="0" err="1"/>
              <a:t>bảo</a:t>
            </a:r>
            <a:r>
              <a:rPr lang="en-US" dirty="0"/>
              <a:t> </a:t>
            </a:r>
            <a:r>
              <a:rPr lang="en-US" dirty="0" err="1"/>
              <a:t>bởi</a:t>
            </a:r>
            <a:r>
              <a:rPr lang="en-US" dirty="0"/>
              <a:t> </a:t>
            </a:r>
            <a:r>
              <a:rPr lang="en-US" dirty="0" err="1"/>
              <a:t>các</a:t>
            </a:r>
            <a:r>
              <a:rPr lang="en-US" dirty="0"/>
              <a:t> </a:t>
            </a:r>
            <a:r>
              <a:rPr lang="en-US" dirty="0" err="1"/>
              <a:t>giao</a:t>
            </a:r>
            <a:r>
              <a:rPr lang="en-US" dirty="0"/>
              <a:t> </a:t>
            </a:r>
            <a:r>
              <a:rPr lang="en-US" dirty="0" err="1"/>
              <a:t>thức</a:t>
            </a:r>
            <a:r>
              <a:rPr lang="en-US" dirty="0"/>
              <a:t> </a:t>
            </a:r>
            <a:r>
              <a:rPr lang="en-US" dirty="0" err="1"/>
              <a:t>tầng</a:t>
            </a:r>
            <a:r>
              <a:rPr lang="en-US" dirty="0"/>
              <a:t> </a:t>
            </a:r>
            <a:r>
              <a:rPr lang="en-US" dirty="0" err="1"/>
              <a:t>trên</a:t>
            </a:r>
            <a:r>
              <a:rPr lang="en-US" dirty="0"/>
              <a:t> </a:t>
            </a:r>
            <a:r>
              <a:rPr lang="en-US" dirty="0" err="1"/>
              <a:t>trong</a:t>
            </a:r>
            <a:r>
              <a:rPr lang="en-US" dirty="0"/>
              <a:t> </a:t>
            </a:r>
            <a:r>
              <a:rPr lang="en-US" dirty="0" err="1"/>
              <a:t>chồng</a:t>
            </a:r>
            <a:r>
              <a:rPr lang="en-US" dirty="0"/>
              <a:t> TCP/IP. </a:t>
            </a:r>
            <a:r>
              <a:rPr lang="en-US" dirty="0" err="1"/>
              <a:t>Tuy</a:t>
            </a:r>
            <a:r>
              <a:rPr lang="en-US" dirty="0"/>
              <a:t> </a:t>
            </a:r>
            <a:r>
              <a:rPr lang="en-US" dirty="0" err="1"/>
              <a:t>nhiên</a:t>
            </a:r>
            <a:r>
              <a:rPr lang="en-US" dirty="0"/>
              <a:t> </a:t>
            </a:r>
            <a:r>
              <a:rPr lang="en-US" dirty="0" err="1"/>
              <a:t>trong</a:t>
            </a:r>
            <a:r>
              <a:rPr lang="en-US" dirty="0"/>
              <a:t> </a:t>
            </a:r>
            <a:r>
              <a:rPr lang="en-US" dirty="0" err="1"/>
              <a:t>giao</a:t>
            </a:r>
            <a:r>
              <a:rPr lang="en-US" dirty="0"/>
              <a:t> </a:t>
            </a:r>
            <a:r>
              <a:rPr lang="en-US" dirty="0" err="1"/>
              <a:t>thức</a:t>
            </a:r>
            <a:r>
              <a:rPr lang="en-US" dirty="0"/>
              <a:t> IP </a:t>
            </a:r>
            <a:r>
              <a:rPr lang="en-US" dirty="0" err="1"/>
              <a:t>có</a:t>
            </a:r>
            <a:r>
              <a:rPr lang="en-US" dirty="0"/>
              <a:t> </a:t>
            </a:r>
            <a:r>
              <a:rPr lang="vi-VN" dirty="0"/>
              <a:t>cơ chế đảm bảo tính toàn vẹn dữ liệu thông qua sử dụng </a:t>
            </a:r>
            <a:r>
              <a:rPr lang="en-US" dirty="0" err="1"/>
              <a:t>quá</a:t>
            </a:r>
            <a:r>
              <a:rPr lang="en-US" dirty="0"/>
              <a:t> </a:t>
            </a:r>
            <a:r>
              <a:rPr lang="en-US" dirty="0" err="1"/>
              <a:t>trình</a:t>
            </a:r>
            <a:r>
              <a:rPr lang="en-US" dirty="0"/>
              <a:t> </a:t>
            </a:r>
            <a:r>
              <a:rPr lang="en-US" dirty="0" err="1"/>
              <a:t>kiểm</a:t>
            </a:r>
            <a:r>
              <a:rPr lang="en-US" dirty="0"/>
              <a:t> </a:t>
            </a:r>
            <a:r>
              <a:rPr lang="en-US" dirty="0" err="1"/>
              <a:t>tra</a:t>
            </a:r>
            <a:r>
              <a:rPr lang="en-US" dirty="0"/>
              <a:t> checksum.</a:t>
            </a:r>
          </a:p>
          <a:p>
            <a:pPr algn="just"/>
            <a:r>
              <a:rPr lang="en-US" dirty="0"/>
              <a:t>Giao </a:t>
            </a:r>
            <a:r>
              <a:rPr lang="en-US" dirty="0" err="1"/>
              <a:t>thức</a:t>
            </a:r>
            <a:r>
              <a:rPr lang="en-US" dirty="0"/>
              <a:t> IP </a:t>
            </a:r>
            <a:r>
              <a:rPr lang="en-US" dirty="0" err="1"/>
              <a:t>đóng</a:t>
            </a:r>
            <a:r>
              <a:rPr lang="en-US" dirty="0"/>
              <a:t> </a:t>
            </a:r>
            <a:r>
              <a:rPr lang="en-US" dirty="0" err="1"/>
              <a:t>vai</a:t>
            </a:r>
            <a:r>
              <a:rPr lang="en-US" dirty="0"/>
              <a:t> </a:t>
            </a:r>
            <a:r>
              <a:rPr lang="en-US" dirty="0" err="1"/>
              <a:t>trò</a:t>
            </a:r>
            <a:r>
              <a:rPr lang="en-US" dirty="0"/>
              <a:t> </a:t>
            </a:r>
            <a:r>
              <a:rPr lang="en-US" dirty="0" err="1"/>
              <a:t>quan</a:t>
            </a:r>
            <a:r>
              <a:rPr lang="en-US" dirty="0"/>
              <a:t> </a:t>
            </a:r>
            <a:r>
              <a:rPr lang="en-US" dirty="0" err="1"/>
              <a:t>trọng</a:t>
            </a:r>
            <a:r>
              <a:rPr lang="en-US" dirty="0"/>
              <a:t> </a:t>
            </a:r>
            <a:r>
              <a:rPr lang="en-US" dirty="0" err="1"/>
              <a:t>về</a:t>
            </a:r>
            <a:r>
              <a:rPr lang="en-US" dirty="0"/>
              <a:t> </a:t>
            </a:r>
            <a:r>
              <a:rPr lang="en-US" dirty="0" err="1"/>
              <a:t>trở</a:t>
            </a:r>
            <a:r>
              <a:rPr lang="en-US" dirty="0"/>
              <a:t> </a:t>
            </a:r>
            <a:r>
              <a:rPr lang="en-US" dirty="0" err="1"/>
              <a:t>nên</a:t>
            </a:r>
            <a:r>
              <a:rPr lang="en-US" dirty="0"/>
              <a:t> </a:t>
            </a:r>
            <a:r>
              <a:rPr lang="en-US" dirty="0" err="1"/>
              <a:t>thông</a:t>
            </a:r>
            <a:r>
              <a:rPr lang="en-US" dirty="0"/>
              <a:t> </a:t>
            </a:r>
            <a:r>
              <a:rPr lang="en-US" dirty="0" err="1"/>
              <a:t>dụng</a:t>
            </a:r>
            <a:r>
              <a:rPr lang="en-US" dirty="0"/>
              <a:t> </a:t>
            </a:r>
            <a:r>
              <a:rPr lang="en-US" dirty="0" err="1"/>
              <a:t>trong</a:t>
            </a:r>
            <a:r>
              <a:rPr lang="en-US" dirty="0"/>
              <a:t> </a:t>
            </a:r>
            <a:r>
              <a:rPr lang="en-US" dirty="0" err="1"/>
              <a:t>mạng</a:t>
            </a:r>
            <a:r>
              <a:rPr lang="en-US" dirty="0"/>
              <a:t> Internet. </a:t>
            </a:r>
            <a:r>
              <a:rPr lang="en-US" dirty="0" err="1"/>
              <a:t>Có</a:t>
            </a:r>
            <a:r>
              <a:rPr lang="en-US" dirty="0"/>
              <a:t> 2 </a:t>
            </a:r>
            <a:r>
              <a:rPr lang="en-US" dirty="0" err="1"/>
              <a:t>phiên</a:t>
            </a:r>
            <a:r>
              <a:rPr lang="en-US" dirty="0"/>
              <a:t> </a:t>
            </a:r>
            <a:r>
              <a:rPr lang="en-US" dirty="0" err="1"/>
              <a:t>bản</a:t>
            </a:r>
            <a:r>
              <a:rPr lang="en-US" dirty="0"/>
              <a:t> </a:t>
            </a:r>
            <a:r>
              <a:rPr lang="en-US" dirty="0" err="1"/>
              <a:t>phổ</a:t>
            </a:r>
            <a:r>
              <a:rPr lang="en-US" dirty="0"/>
              <a:t> </a:t>
            </a:r>
            <a:r>
              <a:rPr lang="en-US" dirty="0" err="1"/>
              <a:t>biến</a:t>
            </a:r>
            <a:r>
              <a:rPr lang="en-US" dirty="0"/>
              <a:t> </a:t>
            </a:r>
            <a:r>
              <a:rPr lang="en-US" dirty="0" err="1"/>
              <a:t>là</a:t>
            </a:r>
            <a:r>
              <a:rPr lang="en-US" dirty="0"/>
              <a:t> IP version 4 (IPv4, RFC 791) </a:t>
            </a:r>
            <a:r>
              <a:rPr lang="en-US" dirty="0" err="1"/>
              <a:t>và</a:t>
            </a:r>
            <a:r>
              <a:rPr lang="en-US" dirty="0"/>
              <a:t> IP version 6 (IPv6, RFC 2460; RFC 4291).</a:t>
            </a:r>
          </a:p>
          <a:p>
            <a:pPr algn="just">
              <a:buFont typeface="Wingdings" panose="05000000000000000000" pitchFamily="2" charset="2"/>
              <a:buChar char="ü"/>
            </a:pPr>
            <a:r>
              <a:rPr lang="en-US" dirty="0" err="1"/>
              <a:t>Phiên</a:t>
            </a:r>
            <a:r>
              <a:rPr lang="en-US" dirty="0"/>
              <a:t> </a:t>
            </a:r>
            <a:r>
              <a:rPr lang="en-US" dirty="0" err="1"/>
              <a:t>bản</a:t>
            </a:r>
            <a:r>
              <a:rPr lang="en-US" dirty="0"/>
              <a:t> IP version 5 (IPv5) </a:t>
            </a:r>
            <a:r>
              <a:rPr lang="en-US" dirty="0" err="1"/>
              <a:t>được</a:t>
            </a:r>
            <a:r>
              <a:rPr lang="en-US" dirty="0"/>
              <a:t> </a:t>
            </a:r>
            <a:r>
              <a:rPr lang="en-US" dirty="0" err="1"/>
              <a:t>thử</a:t>
            </a:r>
            <a:r>
              <a:rPr lang="en-US" dirty="0"/>
              <a:t> </a:t>
            </a:r>
            <a:r>
              <a:rPr lang="en-US" dirty="0" err="1"/>
              <a:t>nghiệm</a:t>
            </a:r>
            <a:r>
              <a:rPr lang="en-US" dirty="0"/>
              <a:t> </a:t>
            </a:r>
            <a:r>
              <a:rPr lang="en-US" dirty="0" err="1"/>
              <a:t>trong</a:t>
            </a:r>
            <a:r>
              <a:rPr lang="en-US" dirty="0"/>
              <a:t> </a:t>
            </a:r>
            <a:r>
              <a:rPr lang="en-US" dirty="0" err="1"/>
              <a:t>kỹ</a:t>
            </a:r>
            <a:r>
              <a:rPr lang="en-US" dirty="0"/>
              <a:t> </a:t>
            </a:r>
            <a:r>
              <a:rPr lang="en-US" dirty="0" err="1"/>
              <a:t>thuật</a:t>
            </a:r>
            <a:r>
              <a:rPr lang="en-US" dirty="0"/>
              <a:t> streaming (ST2) </a:t>
            </a:r>
            <a:r>
              <a:rPr lang="en-US" dirty="0" err="1"/>
              <a:t>nhưng</a:t>
            </a:r>
            <a:r>
              <a:rPr lang="en-US" dirty="0"/>
              <a:t> </a:t>
            </a:r>
            <a:r>
              <a:rPr lang="en-US" dirty="0" err="1"/>
              <a:t>sau</a:t>
            </a:r>
            <a:r>
              <a:rPr lang="en-US" dirty="0"/>
              <a:t> </a:t>
            </a:r>
            <a:r>
              <a:rPr lang="en-US" dirty="0" err="1"/>
              <a:t>đó</a:t>
            </a:r>
            <a:r>
              <a:rPr lang="en-US" dirty="0"/>
              <a:t> </a:t>
            </a:r>
            <a:r>
              <a:rPr lang="en-US" dirty="0" err="1"/>
              <a:t>đã</a:t>
            </a:r>
            <a:r>
              <a:rPr lang="en-US" dirty="0"/>
              <a:t> </a:t>
            </a:r>
            <a:r>
              <a:rPr lang="en-US" dirty="0" err="1"/>
              <a:t>bị</a:t>
            </a:r>
            <a:r>
              <a:rPr lang="en-US" dirty="0"/>
              <a:t> </a:t>
            </a:r>
            <a:r>
              <a:rPr lang="en-US" dirty="0" err="1"/>
              <a:t>loại</a:t>
            </a:r>
            <a:r>
              <a:rPr lang="en-US" dirty="0"/>
              <a:t> </a:t>
            </a:r>
            <a:r>
              <a:rPr lang="en-US" dirty="0" err="1"/>
              <a:t>bỏ</a:t>
            </a:r>
            <a:r>
              <a:rPr lang="en-US" dirty="0"/>
              <a:t>.</a:t>
            </a:r>
          </a:p>
          <a:p>
            <a:pPr marL="0" indent="0" algn="just">
              <a:buNone/>
            </a:pPr>
            <a:endParaRPr lang="en-US" dirty="0"/>
          </a:p>
          <a:p>
            <a:pPr marL="0" indent="0" algn="just">
              <a:buNone/>
            </a:pPr>
            <a:endParaRPr lang="en-US" dirty="0"/>
          </a:p>
        </p:txBody>
      </p:sp>
    </p:spTree>
    <p:extLst>
      <p:ext uri="{BB962C8B-B14F-4D97-AF65-F5344CB8AC3E}">
        <p14:creationId xmlns:p14="http://schemas.microsoft.com/office/powerpoint/2010/main" val="3722854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srgbClr val="005BBB"/>
                </a:solidFill>
                <a:cs typeface="Helvetica World" panose="020B0500040000020004" pitchFamily="34" charset="0"/>
              </a:rPr>
              <a:t>ĐỊNH DẠNG </a:t>
            </a:r>
            <a:r>
              <a:rPr lang="en-US" sz="1800" noProof="0" dirty="0">
                <a:solidFill>
                  <a:srgbClr val="005BBB"/>
                </a:solidFill>
                <a:cs typeface="Helvetica World" panose="020B0500040000020004" pitchFamily="34" charset="0"/>
              </a:rPr>
              <a:t>GÓI TIN IPv4</a:t>
            </a:r>
            <a:endParaRPr kumimoji="0" lang="en-US" sz="1800" b="1" i="0" u="none" strike="noStrike" kern="1200" cap="none" spc="0" normalizeH="0" baseline="0" noProof="0" dirty="0">
              <a:ln>
                <a:noFill/>
              </a:ln>
              <a:solidFill>
                <a:srgbClr val="005BBB"/>
              </a:solidFill>
              <a:effectLst/>
              <a:uLnTx/>
              <a:uFillTx/>
              <a:cs typeface="Helvetica World" panose="020B0500040000020004" pitchFamily="34" charset="0"/>
            </a:endParaRPr>
          </a:p>
        </p:txBody>
      </p:sp>
      <p:pic>
        <p:nvPicPr>
          <p:cNvPr id="2" name="Picture 1"/>
          <p:cNvPicPr>
            <a:picLocks noChangeAspect="1"/>
          </p:cNvPicPr>
          <p:nvPr/>
        </p:nvPicPr>
        <p:blipFill>
          <a:blip r:embed="rId3"/>
          <a:stretch>
            <a:fillRect/>
          </a:stretch>
        </p:blipFill>
        <p:spPr>
          <a:xfrm>
            <a:off x="2714625" y="1330328"/>
            <a:ext cx="6762750" cy="4914900"/>
          </a:xfrm>
          <a:prstGeom prst="rect">
            <a:avLst/>
          </a:prstGeom>
        </p:spPr>
      </p:pic>
      <p:sp>
        <p:nvSpPr>
          <p:cNvPr id="117" name="Text Box 20"/>
          <p:cNvSpPr txBox="1">
            <a:spLocks noChangeArrowheads="1"/>
          </p:cNvSpPr>
          <p:nvPr/>
        </p:nvSpPr>
        <p:spPr bwMode="auto">
          <a:xfrm>
            <a:off x="177534" y="6169254"/>
            <a:ext cx="26811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1800" noProof="0">
                <a:solidFill>
                  <a:schemeClr val="tx1">
                    <a:lumMod val="50000"/>
                  </a:schemeClr>
                </a:solidFill>
              </a:rPr>
              <a:t>Địa chỉ IP nguồn và đích</a:t>
            </a:r>
            <a:endParaRPr kumimoji="0" lang="en-US" altLang="en-US" sz="1000" i="0" u="none" strike="noStrike" kern="1200" cap="none" spc="0" normalizeH="0" baseline="0" noProof="0">
              <a:ln>
                <a:noFill/>
              </a:ln>
              <a:solidFill>
                <a:schemeClr val="tx1">
                  <a:lumMod val="50000"/>
                </a:schemeClr>
              </a:solidFill>
              <a:effectLst/>
              <a:uLnTx/>
              <a:uFillTx/>
            </a:endParaRPr>
          </a:p>
        </p:txBody>
      </p:sp>
      <p:sp>
        <p:nvSpPr>
          <p:cNvPr id="118" name="Line 28"/>
          <p:cNvSpPr>
            <a:spLocks noChangeShapeType="1"/>
          </p:cNvSpPr>
          <p:nvPr/>
        </p:nvSpPr>
        <p:spPr bwMode="auto">
          <a:xfrm flipV="1">
            <a:off x="1724764" y="4771260"/>
            <a:ext cx="2571750" cy="109775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66666"/>
              </a:solidFill>
              <a:effectLst/>
              <a:uLnTx/>
              <a:uFillTx/>
              <a:latin typeface="Arial" panose="020B0604020202020204"/>
              <a:ea typeface="+mn-ea"/>
              <a:cs typeface="+mn-cs"/>
            </a:endParaRPr>
          </a:p>
        </p:txBody>
      </p:sp>
      <p:sp>
        <p:nvSpPr>
          <p:cNvPr id="119" name="Line 28"/>
          <p:cNvSpPr>
            <a:spLocks noChangeShapeType="1"/>
          </p:cNvSpPr>
          <p:nvPr/>
        </p:nvSpPr>
        <p:spPr bwMode="auto">
          <a:xfrm flipV="1">
            <a:off x="1644688" y="4194463"/>
            <a:ext cx="2401795" cy="163100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66666"/>
              </a:solidFill>
              <a:effectLst/>
              <a:uLnTx/>
              <a:uFillTx/>
              <a:latin typeface="Arial" panose="020B0604020202020204"/>
              <a:ea typeface="+mn-ea"/>
              <a:cs typeface="+mn-cs"/>
            </a:endParaRPr>
          </a:p>
        </p:txBody>
      </p:sp>
      <p:sp>
        <p:nvSpPr>
          <p:cNvPr id="5" name="TextBox 4"/>
          <p:cNvSpPr txBox="1"/>
          <p:nvPr/>
        </p:nvSpPr>
        <p:spPr>
          <a:xfrm>
            <a:off x="2584681" y="1669744"/>
            <a:ext cx="298480" cy="338554"/>
          </a:xfrm>
          <a:prstGeom prst="rect">
            <a:avLst/>
          </a:prstGeom>
          <a:noFill/>
        </p:spPr>
        <p:txBody>
          <a:bodyPr wrap="none" rtlCol="0">
            <a:spAutoFit/>
          </a:bodyPr>
          <a:lstStyle/>
          <a:p>
            <a:r>
              <a:rPr lang="en-US" sz="1600" b="1">
                <a:solidFill>
                  <a:srgbClr val="002060"/>
                </a:solidFill>
              </a:rPr>
              <a:t>0</a:t>
            </a:r>
          </a:p>
        </p:txBody>
      </p:sp>
      <p:sp>
        <p:nvSpPr>
          <p:cNvPr id="25" name="TextBox 24"/>
          <p:cNvSpPr txBox="1"/>
          <p:nvPr/>
        </p:nvSpPr>
        <p:spPr>
          <a:xfrm>
            <a:off x="3474503" y="1645168"/>
            <a:ext cx="298480" cy="338554"/>
          </a:xfrm>
          <a:prstGeom prst="rect">
            <a:avLst/>
          </a:prstGeom>
          <a:noFill/>
        </p:spPr>
        <p:txBody>
          <a:bodyPr wrap="none" rtlCol="0">
            <a:spAutoFit/>
          </a:bodyPr>
          <a:lstStyle/>
          <a:p>
            <a:r>
              <a:rPr lang="en-US" sz="1600" b="1">
                <a:solidFill>
                  <a:srgbClr val="002060"/>
                </a:solidFill>
              </a:rPr>
              <a:t>4</a:t>
            </a:r>
          </a:p>
        </p:txBody>
      </p:sp>
      <p:sp>
        <p:nvSpPr>
          <p:cNvPr id="26" name="TextBox 25"/>
          <p:cNvSpPr txBox="1"/>
          <p:nvPr/>
        </p:nvSpPr>
        <p:spPr>
          <a:xfrm>
            <a:off x="9175418" y="1631131"/>
            <a:ext cx="412292" cy="338554"/>
          </a:xfrm>
          <a:prstGeom prst="rect">
            <a:avLst/>
          </a:prstGeom>
          <a:noFill/>
        </p:spPr>
        <p:txBody>
          <a:bodyPr wrap="none" rtlCol="0">
            <a:spAutoFit/>
          </a:bodyPr>
          <a:lstStyle/>
          <a:p>
            <a:r>
              <a:rPr lang="en-US" sz="1600" b="1">
                <a:solidFill>
                  <a:srgbClr val="002060"/>
                </a:solidFill>
              </a:rPr>
              <a:t>31</a:t>
            </a:r>
          </a:p>
        </p:txBody>
      </p:sp>
      <p:sp>
        <p:nvSpPr>
          <p:cNvPr id="27" name="TextBox 26"/>
          <p:cNvSpPr txBox="1"/>
          <p:nvPr/>
        </p:nvSpPr>
        <p:spPr>
          <a:xfrm>
            <a:off x="4359399" y="1659916"/>
            <a:ext cx="298480" cy="338554"/>
          </a:xfrm>
          <a:prstGeom prst="rect">
            <a:avLst/>
          </a:prstGeom>
          <a:noFill/>
        </p:spPr>
        <p:txBody>
          <a:bodyPr wrap="none" rtlCol="0">
            <a:spAutoFit/>
          </a:bodyPr>
          <a:lstStyle/>
          <a:p>
            <a:r>
              <a:rPr lang="en-US" sz="1600" b="1">
                <a:solidFill>
                  <a:srgbClr val="002060"/>
                </a:solidFill>
              </a:rPr>
              <a:t>8</a:t>
            </a:r>
          </a:p>
        </p:txBody>
      </p:sp>
      <p:sp>
        <p:nvSpPr>
          <p:cNvPr id="28" name="TextBox 27"/>
          <p:cNvSpPr txBox="1"/>
          <p:nvPr/>
        </p:nvSpPr>
        <p:spPr>
          <a:xfrm>
            <a:off x="5922736" y="1659916"/>
            <a:ext cx="412292" cy="338554"/>
          </a:xfrm>
          <a:prstGeom prst="rect">
            <a:avLst/>
          </a:prstGeom>
          <a:noFill/>
        </p:spPr>
        <p:txBody>
          <a:bodyPr wrap="none" rtlCol="0">
            <a:spAutoFit/>
          </a:bodyPr>
          <a:lstStyle/>
          <a:p>
            <a:r>
              <a:rPr lang="en-US" sz="1600" b="1">
                <a:solidFill>
                  <a:srgbClr val="002060"/>
                </a:solidFill>
              </a:rPr>
              <a:t>16</a:t>
            </a:r>
          </a:p>
        </p:txBody>
      </p:sp>
      <p:sp>
        <p:nvSpPr>
          <p:cNvPr id="29" name="TextBox 28"/>
          <p:cNvSpPr txBox="1"/>
          <p:nvPr/>
        </p:nvSpPr>
        <p:spPr>
          <a:xfrm>
            <a:off x="6497924" y="1659916"/>
            <a:ext cx="412292" cy="338554"/>
          </a:xfrm>
          <a:prstGeom prst="rect">
            <a:avLst/>
          </a:prstGeom>
          <a:noFill/>
        </p:spPr>
        <p:txBody>
          <a:bodyPr wrap="none" rtlCol="0">
            <a:spAutoFit/>
          </a:bodyPr>
          <a:lstStyle/>
          <a:p>
            <a:r>
              <a:rPr lang="en-US" sz="1600" b="1">
                <a:solidFill>
                  <a:srgbClr val="002060"/>
                </a:solidFill>
              </a:rPr>
              <a:t>19</a:t>
            </a:r>
          </a:p>
        </p:txBody>
      </p:sp>
    </p:spTree>
    <p:extLst>
      <p:ext uri="{BB962C8B-B14F-4D97-AF65-F5344CB8AC3E}">
        <p14:creationId xmlns:p14="http://schemas.microsoft.com/office/powerpoint/2010/main" val="3037083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dirty="0">
                <a:solidFill>
                  <a:srgbClr val="005BBB"/>
                </a:solidFill>
                <a:cs typeface="Helvetica World" panose="020B0500040000020004" pitchFamily="34" charset="0"/>
              </a:rPr>
              <a:t>ĐỊNH DẠNG GÓI TIN IPv4 </a:t>
            </a:r>
          </a:p>
        </p:txBody>
      </p:sp>
      <p:sp>
        <p:nvSpPr>
          <p:cNvPr id="6" name="Content Placeholder 5"/>
          <p:cNvSpPr>
            <a:spLocks noGrp="1"/>
          </p:cNvSpPr>
          <p:nvPr>
            <p:ph idx="1"/>
          </p:nvPr>
        </p:nvSpPr>
        <p:spPr>
          <a:xfrm>
            <a:off x="161717" y="1140684"/>
            <a:ext cx="11929876" cy="5476150"/>
          </a:xfrm>
        </p:spPr>
        <p:txBody>
          <a:bodyPr/>
          <a:lstStyle/>
          <a:p>
            <a:pPr marL="0" indent="0">
              <a:buNone/>
            </a:pPr>
            <a:r>
              <a:rPr lang="en-US" dirty="0" err="1"/>
              <a:t>Dữ</a:t>
            </a:r>
            <a:r>
              <a:rPr lang="en-US" dirty="0"/>
              <a:t> </a:t>
            </a:r>
            <a:r>
              <a:rPr lang="en-US" dirty="0" err="1"/>
              <a:t>liệu</a:t>
            </a:r>
            <a:r>
              <a:rPr lang="en-US" dirty="0"/>
              <a:t> </a:t>
            </a:r>
            <a:r>
              <a:rPr lang="en-US" dirty="0" err="1"/>
              <a:t>tại</a:t>
            </a:r>
            <a:r>
              <a:rPr lang="en-US" dirty="0"/>
              <a:t> </a:t>
            </a:r>
            <a:r>
              <a:rPr lang="en-US" dirty="0" err="1"/>
              <a:t>tầng</a:t>
            </a:r>
            <a:r>
              <a:rPr lang="en-US" dirty="0"/>
              <a:t> </a:t>
            </a:r>
            <a:r>
              <a:rPr lang="en-US" dirty="0" err="1"/>
              <a:t>mạng</a:t>
            </a:r>
            <a:r>
              <a:rPr lang="en-US" dirty="0"/>
              <a:t> </a:t>
            </a:r>
            <a:r>
              <a:rPr lang="en-US" dirty="0" err="1"/>
              <a:t>thường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gói</a:t>
            </a:r>
            <a:r>
              <a:rPr lang="en-US" dirty="0"/>
              <a:t> tin (packet </a:t>
            </a:r>
            <a:r>
              <a:rPr lang="en-US" dirty="0" err="1"/>
              <a:t>hoặc</a:t>
            </a:r>
            <a:r>
              <a:rPr lang="en-US" dirty="0"/>
              <a:t> datagram). </a:t>
            </a:r>
            <a:r>
              <a:rPr lang="en-US" dirty="0" err="1"/>
              <a:t>Khuôn</a:t>
            </a:r>
            <a:r>
              <a:rPr lang="en-US" dirty="0"/>
              <a:t> </a:t>
            </a:r>
            <a:r>
              <a:rPr lang="en-US" dirty="0" err="1"/>
              <a:t>dạng</a:t>
            </a:r>
            <a:r>
              <a:rPr lang="en-US" dirty="0"/>
              <a:t> </a:t>
            </a:r>
            <a:r>
              <a:rPr lang="en-US" dirty="0" err="1"/>
              <a:t>của</a:t>
            </a:r>
            <a:r>
              <a:rPr lang="en-US" dirty="0"/>
              <a:t> IPv4 datagram </a:t>
            </a:r>
            <a:r>
              <a:rPr lang="en-US" dirty="0" err="1"/>
              <a:t>sẽ</a:t>
            </a:r>
            <a:r>
              <a:rPr lang="en-US" dirty="0"/>
              <a:t> bao </a:t>
            </a:r>
            <a:r>
              <a:rPr lang="en-US" dirty="0" err="1"/>
              <a:t>gồm</a:t>
            </a:r>
            <a:r>
              <a:rPr lang="en-US" dirty="0"/>
              <a:t> </a:t>
            </a:r>
            <a:r>
              <a:rPr lang="en-US" dirty="0" err="1"/>
              <a:t>các</a:t>
            </a:r>
            <a:r>
              <a:rPr lang="en-US" dirty="0"/>
              <a:t> </a:t>
            </a:r>
            <a:r>
              <a:rPr lang="en-US" dirty="0" err="1"/>
              <a:t>trường</a:t>
            </a:r>
            <a:r>
              <a:rPr lang="en-US" dirty="0"/>
              <a:t> </a:t>
            </a:r>
            <a:r>
              <a:rPr lang="en-US" dirty="0" err="1"/>
              <a:t>thông</a:t>
            </a:r>
            <a:r>
              <a:rPr lang="en-US" dirty="0"/>
              <a:t> tin </a:t>
            </a:r>
            <a:r>
              <a:rPr lang="en-US" dirty="0" err="1"/>
              <a:t>cơ</a:t>
            </a:r>
            <a:r>
              <a:rPr lang="en-US" dirty="0"/>
              <a:t> </a:t>
            </a:r>
            <a:r>
              <a:rPr lang="en-US" dirty="0" err="1"/>
              <a:t>bản</a:t>
            </a:r>
            <a:r>
              <a:rPr lang="en-US" dirty="0"/>
              <a:t> </a:t>
            </a:r>
            <a:r>
              <a:rPr lang="en-US" dirty="0" err="1"/>
              <a:t>sau</a:t>
            </a:r>
            <a:r>
              <a:rPr lang="en-US" dirty="0"/>
              <a:t>:</a:t>
            </a:r>
          </a:p>
          <a:p>
            <a:r>
              <a:rPr lang="en-US" dirty="0"/>
              <a:t>Trường </a:t>
            </a:r>
            <a:r>
              <a:rPr lang="en-US" b="1" dirty="0"/>
              <a:t>Version number</a:t>
            </a:r>
            <a:r>
              <a:rPr lang="en-US" dirty="0"/>
              <a:t>: </a:t>
            </a:r>
            <a:r>
              <a:rPr lang="en-US" dirty="0" err="1"/>
              <a:t>gồm</a:t>
            </a:r>
            <a:r>
              <a:rPr lang="en-US" dirty="0"/>
              <a:t> 4 bit </a:t>
            </a:r>
            <a:r>
              <a:rPr lang="en-US" dirty="0" err="1"/>
              <a:t>chứa</a:t>
            </a:r>
            <a:r>
              <a:rPr lang="en-US" dirty="0"/>
              <a:t> </a:t>
            </a:r>
            <a:r>
              <a:rPr lang="en-US" dirty="0" err="1"/>
              <a:t>thông</a:t>
            </a:r>
            <a:r>
              <a:rPr lang="en-US" dirty="0"/>
              <a:t> tin </a:t>
            </a:r>
            <a:r>
              <a:rPr lang="en-US" dirty="0" err="1"/>
              <a:t>về</a:t>
            </a:r>
            <a:r>
              <a:rPr lang="en-US" dirty="0"/>
              <a:t> </a:t>
            </a:r>
            <a:r>
              <a:rPr lang="en-US" dirty="0" err="1"/>
              <a:t>phiên</a:t>
            </a:r>
            <a:r>
              <a:rPr lang="en-US" dirty="0"/>
              <a:t> </a:t>
            </a:r>
            <a:r>
              <a:rPr lang="en-US" dirty="0" err="1"/>
              <a:t>bản</a:t>
            </a:r>
            <a:r>
              <a:rPr lang="en-US" dirty="0"/>
              <a:t> (version) </a:t>
            </a:r>
            <a:r>
              <a:rPr lang="en-US" dirty="0" err="1"/>
              <a:t>của</a:t>
            </a:r>
            <a:r>
              <a:rPr lang="en-US" dirty="0"/>
              <a:t> </a:t>
            </a:r>
            <a:r>
              <a:rPr lang="en-US" dirty="0" err="1"/>
              <a:t>giao</a:t>
            </a:r>
            <a:r>
              <a:rPr lang="en-US" dirty="0"/>
              <a:t> </a:t>
            </a:r>
            <a:r>
              <a:rPr lang="en-US" dirty="0" err="1"/>
              <a:t>thức</a:t>
            </a:r>
            <a:r>
              <a:rPr lang="en-US" dirty="0"/>
              <a:t> IP </a:t>
            </a:r>
            <a:r>
              <a:rPr lang="en-US" dirty="0" err="1"/>
              <a:t>được</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phiên</a:t>
            </a:r>
            <a:r>
              <a:rPr lang="en-US" dirty="0"/>
              <a:t> </a:t>
            </a:r>
            <a:r>
              <a:rPr lang="en-US" dirty="0" err="1"/>
              <a:t>bản</a:t>
            </a:r>
            <a:r>
              <a:rPr lang="en-US" dirty="0"/>
              <a:t> </a:t>
            </a:r>
            <a:r>
              <a:rPr lang="en-US" dirty="0" err="1"/>
              <a:t>của</a:t>
            </a:r>
            <a:r>
              <a:rPr lang="en-US" dirty="0"/>
              <a:t> </a:t>
            </a:r>
            <a:r>
              <a:rPr lang="en-US" dirty="0" err="1"/>
              <a:t>giao</a:t>
            </a:r>
            <a:r>
              <a:rPr lang="en-US" dirty="0"/>
              <a:t> </a:t>
            </a:r>
            <a:r>
              <a:rPr lang="en-US" dirty="0" err="1"/>
              <a:t>thức</a:t>
            </a:r>
            <a:r>
              <a:rPr lang="en-US" dirty="0"/>
              <a:t> IP </a:t>
            </a:r>
            <a:r>
              <a:rPr lang="en-US" dirty="0" err="1"/>
              <a:t>khác</a:t>
            </a:r>
            <a:r>
              <a:rPr lang="en-US" dirty="0"/>
              <a:t> </a:t>
            </a:r>
            <a:r>
              <a:rPr lang="en-US" dirty="0" err="1"/>
              <a:t>nhau</a:t>
            </a:r>
            <a:r>
              <a:rPr lang="en-US" dirty="0"/>
              <a:t> </a:t>
            </a:r>
            <a:r>
              <a:rPr lang="en-US" dirty="0" err="1"/>
              <a:t>thì</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định</a:t>
            </a:r>
            <a:r>
              <a:rPr lang="en-US" dirty="0"/>
              <a:t> </a:t>
            </a:r>
            <a:r>
              <a:rPr lang="en-US" dirty="0" err="1"/>
              <a:t>dạng</a:t>
            </a:r>
            <a:r>
              <a:rPr lang="en-US" dirty="0"/>
              <a:t> datagram </a:t>
            </a:r>
            <a:r>
              <a:rPr lang="en-US" dirty="0" err="1"/>
              <a:t>khác</a:t>
            </a:r>
            <a:r>
              <a:rPr lang="en-US" dirty="0"/>
              <a:t> </a:t>
            </a:r>
            <a:r>
              <a:rPr lang="en-US" dirty="0" err="1"/>
              <a:t>nhau</a:t>
            </a:r>
            <a:r>
              <a:rPr lang="en-US" dirty="0"/>
              <a:t>.</a:t>
            </a:r>
          </a:p>
          <a:p>
            <a:r>
              <a:rPr lang="en-US" dirty="0"/>
              <a:t>Trường </a:t>
            </a:r>
            <a:r>
              <a:rPr lang="en-US" b="1" dirty="0"/>
              <a:t>Header length</a:t>
            </a:r>
            <a:r>
              <a:rPr lang="en-US" dirty="0"/>
              <a:t>: </a:t>
            </a:r>
            <a:r>
              <a:rPr lang="en-US" dirty="0" err="1"/>
              <a:t>gồm</a:t>
            </a:r>
            <a:r>
              <a:rPr lang="en-US" dirty="0"/>
              <a:t> 4 bit </a:t>
            </a:r>
            <a:r>
              <a:rPr lang="en-US" dirty="0" err="1"/>
              <a:t>xác</a:t>
            </a:r>
            <a:r>
              <a:rPr lang="en-US" dirty="0"/>
              <a:t> </a:t>
            </a:r>
            <a:r>
              <a:rPr lang="en-US" dirty="0" err="1"/>
              <a:t>định</a:t>
            </a:r>
            <a:r>
              <a:rPr lang="en-US" dirty="0"/>
              <a:t> </a:t>
            </a:r>
            <a:r>
              <a:rPr lang="en-US" dirty="0" err="1"/>
              <a:t>độ</a:t>
            </a:r>
            <a:r>
              <a:rPr lang="en-US" dirty="0"/>
              <a:t> </a:t>
            </a:r>
            <a:r>
              <a:rPr lang="en-US" dirty="0" err="1"/>
              <a:t>dài</a:t>
            </a:r>
            <a:r>
              <a:rPr lang="en-US" dirty="0"/>
              <a:t> </a:t>
            </a:r>
            <a:r>
              <a:rPr lang="en-US" dirty="0" err="1"/>
              <a:t>phần</a:t>
            </a:r>
            <a:r>
              <a:rPr lang="en-US" dirty="0"/>
              <a:t> </a:t>
            </a:r>
            <a:r>
              <a:rPr lang="en-US" dirty="0" err="1"/>
              <a:t>tiêu</a:t>
            </a:r>
            <a:r>
              <a:rPr lang="en-US" dirty="0"/>
              <a:t> </a:t>
            </a:r>
            <a:r>
              <a:rPr lang="en-US" dirty="0" err="1"/>
              <a:t>đề</a:t>
            </a:r>
            <a:r>
              <a:rPr lang="en-US" dirty="0"/>
              <a:t> (header) </a:t>
            </a:r>
            <a:r>
              <a:rPr lang="en-US" dirty="0" err="1"/>
              <a:t>của</a:t>
            </a:r>
            <a:r>
              <a:rPr lang="en-US" dirty="0"/>
              <a:t> </a:t>
            </a:r>
            <a:r>
              <a:rPr lang="en-US" dirty="0" err="1"/>
              <a:t>một</a:t>
            </a:r>
            <a:r>
              <a:rPr lang="en-US" dirty="0"/>
              <a:t> IP datagram </a:t>
            </a:r>
            <a:r>
              <a:rPr lang="en-US" dirty="0" err="1"/>
              <a:t>tính</a:t>
            </a:r>
            <a:r>
              <a:rPr lang="en-US" dirty="0"/>
              <a:t> </a:t>
            </a:r>
            <a:r>
              <a:rPr lang="en-US" dirty="0" err="1"/>
              <a:t>theo</a:t>
            </a:r>
            <a:r>
              <a:rPr lang="en-US" dirty="0"/>
              <a:t> </a:t>
            </a:r>
            <a:r>
              <a:rPr lang="en-US" dirty="0" err="1"/>
              <a:t>đơn</a:t>
            </a:r>
            <a:r>
              <a:rPr lang="en-US" dirty="0"/>
              <a:t> </a:t>
            </a:r>
            <a:r>
              <a:rPr lang="en-US" dirty="0" err="1"/>
              <a:t>vị</a:t>
            </a:r>
            <a:r>
              <a:rPr lang="en-US" dirty="0"/>
              <a:t> word (1 word = 4 byte = 32 bit). </a:t>
            </a:r>
          </a:p>
          <a:p>
            <a:r>
              <a:rPr lang="en-US" dirty="0"/>
              <a:t>Trường </a:t>
            </a:r>
            <a:r>
              <a:rPr lang="en-US" b="1" dirty="0"/>
              <a:t>Type of service (TOS)</a:t>
            </a:r>
            <a:r>
              <a:rPr lang="en-US" dirty="0"/>
              <a:t>: </a:t>
            </a:r>
            <a:r>
              <a:rPr lang="en-US" dirty="0" err="1"/>
              <a:t>gồm</a:t>
            </a:r>
            <a:r>
              <a:rPr lang="en-US" dirty="0"/>
              <a:t> 8 bit </a:t>
            </a:r>
            <a:r>
              <a:rPr lang="en-US" dirty="0" err="1"/>
              <a:t>phân</a:t>
            </a:r>
            <a:r>
              <a:rPr lang="en-US" dirty="0"/>
              <a:t> </a:t>
            </a:r>
            <a:r>
              <a:rPr lang="en-US" dirty="0" err="1"/>
              <a:t>biệt</a:t>
            </a:r>
            <a:r>
              <a:rPr lang="en-US" dirty="0"/>
              <a:t> </a:t>
            </a:r>
            <a:r>
              <a:rPr lang="en-US" dirty="0" err="1"/>
              <a:t>các</a:t>
            </a:r>
            <a:r>
              <a:rPr lang="en-US" dirty="0"/>
              <a:t> </a:t>
            </a:r>
            <a:r>
              <a:rPr lang="en-US" dirty="0" err="1"/>
              <a:t>kiểu</a:t>
            </a:r>
            <a:r>
              <a:rPr lang="en-US" dirty="0"/>
              <a:t> </a:t>
            </a:r>
            <a:r>
              <a:rPr lang="en-US" dirty="0" err="1"/>
              <a:t>dịch</a:t>
            </a:r>
            <a:r>
              <a:rPr lang="en-US" dirty="0"/>
              <a:t> </a:t>
            </a:r>
            <a:r>
              <a:rPr lang="en-US" dirty="0" err="1"/>
              <a:t>vụ</a:t>
            </a:r>
            <a:r>
              <a:rPr lang="en-US" dirty="0"/>
              <a:t> </a:t>
            </a:r>
            <a:r>
              <a:rPr lang="en-US" dirty="0" err="1"/>
              <a:t>khác</a:t>
            </a:r>
            <a:r>
              <a:rPr lang="en-US" dirty="0"/>
              <a:t> </a:t>
            </a:r>
            <a:r>
              <a:rPr lang="en-US" dirty="0" err="1"/>
              <a:t>nhau</a:t>
            </a:r>
            <a:r>
              <a:rPr lang="en-US" dirty="0"/>
              <a:t> (</a:t>
            </a:r>
            <a:r>
              <a:rPr lang="en-US" dirty="0" err="1"/>
              <a:t>các</a:t>
            </a:r>
            <a:r>
              <a:rPr lang="en-US" dirty="0"/>
              <a:t> </a:t>
            </a:r>
            <a:r>
              <a:rPr lang="en-US" dirty="0" err="1"/>
              <a:t>loại</a:t>
            </a:r>
            <a:r>
              <a:rPr lang="en-US" dirty="0"/>
              <a:t> datagram </a:t>
            </a:r>
            <a:r>
              <a:rPr lang="en-US" dirty="0" err="1"/>
              <a:t>khác</a:t>
            </a:r>
            <a:r>
              <a:rPr lang="en-US" dirty="0"/>
              <a:t> </a:t>
            </a:r>
            <a:r>
              <a:rPr lang="en-US" dirty="0" err="1"/>
              <a:t>nhau</a:t>
            </a:r>
            <a:r>
              <a:rPr lang="en-US" dirty="0"/>
              <a:t>, </a:t>
            </a:r>
            <a:r>
              <a:rPr lang="en-US" dirty="0" err="1"/>
              <a:t>lấy</a:t>
            </a:r>
            <a:r>
              <a:rPr lang="en-US" dirty="0"/>
              <a:t> </a:t>
            </a:r>
            <a:r>
              <a:rPr lang="en-US" dirty="0" err="1"/>
              <a:t>ví</a:t>
            </a:r>
            <a:r>
              <a:rPr lang="en-US" dirty="0"/>
              <a:t> </a:t>
            </a:r>
            <a:r>
              <a:rPr lang="en-US" dirty="0" err="1"/>
              <a:t>dụ</a:t>
            </a:r>
            <a:r>
              <a:rPr lang="en-US" dirty="0"/>
              <a:t> </a:t>
            </a:r>
            <a:r>
              <a:rPr lang="en-US" dirty="0" err="1"/>
              <a:t>là</a:t>
            </a:r>
            <a:r>
              <a:rPr lang="en-US" dirty="0"/>
              <a:t> datagram </a:t>
            </a:r>
            <a:r>
              <a:rPr lang="en-US" dirty="0" err="1"/>
              <a:t>chứa</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các</a:t>
            </a:r>
            <a:r>
              <a:rPr lang="en-US" dirty="0"/>
              <a:t> </a:t>
            </a:r>
            <a:r>
              <a:rPr lang="en-US" dirty="0" err="1"/>
              <a:t>dịch</a:t>
            </a:r>
            <a:r>
              <a:rPr lang="en-US" dirty="0"/>
              <a:t> </a:t>
            </a:r>
            <a:r>
              <a:rPr lang="en-US" dirty="0" err="1"/>
              <a:t>vụ</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dịch</a:t>
            </a:r>
            <a:r>
              <a:rPr lang="en-US" dirty="0"/>
              <a:t> </a:t>
            </a:r>
            <a:r>
              <a:rPr lang="en-US" dirty="0" err="1"/>
              <a:t>vụ</a:t>
            </a:r>
            <a:r>
              <a:rPr lang="en-US" dirty="0"/>
              <a:t> </a:t>
            </a:r>
            <a:r>
              <a:rPr lang="en-US" dirty="0" err="1"/>
              <a:t>VoiceIP</a:t>
            </a:r>
            <a:r>
              <a:rPr lang="en-US" dirty="0"/>
              <a:t>) </a:t>
            </a:r>
            <a:r>
              <a:rPr lang="en-US" dirty="0" err="1"/>
              <a:t>hoặc</a:t>
            </a:r>
            <a:r>
              <a:rPr lang="en-US" dirty="0"/>
              <a:t> </a:t>
            </a:r>
            <a:r>
              <a:rPr lang="en-US" dirty="0" err="1"/>
              <a:t>là</a:t>
            </a:r>
            <a:r>
              <a:rPr lang="en-US" dirty="0"/>
              <a:t> datagram </a:t>
            </a:r>
            <a:r>
              <a:rPr lang="en-US" dirty="0" err="1"/>
              <a:t>không</a:t>
            </a:r>
            <a:r>
              <a:rPr lang="en-US" dirty="0"/>
              <a:t> </a:t>
            </a:r>
            <a:r>
              <a:rPr lang="en-US" dirty="0" err="1"/>
              <a:t>chứa</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các</a:t>
            </a:r>
            <a:r>
              <a:rPr lang="en-US" dirty="0"/>
              <a:t> </a:t>
            </a:r>
            <a:r>
              <a:rPr lang="en-US" dirty="0" err="1"/>
              <a:t>dịch</a:t>
            </a:r>
            <a:r>
              <a:rPr lang="en-US" dirty="0"/>
              <a:t> </a:t>
            </a:r>
            <a:r>
              <a:rPr lang="en-US" dirty="0" err="1"/>
              <a:t>vụ</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dịch</a:t>
            </a:r>
            <a:r>
              <a:rPr lang="en-US" dirty="0"/>
              <a:t> </a:t>
            </a:r>
            <a:r>
              <a:rPr lang="en-US" dirty="0" err="1"/>
              <a:t>vụ</a:t>
            </a:r>
            <a:r>
              <a:rPr lang="en-US" dirty="0"/>
              <a:t> </a:t>
            </a:r>
            <a:r>
              <a:rPr lang="en-US" dirty="0" err="1"/>
              <a:t>chuyển</a:t>
            </a:r>
            <a:r>
              <a:rPr lang="en-US" dirty="0"/>
              <a:t> </a:t>
            </a:r>
            <a:r>
              <a:rPr lang="en-US" dirty="0" err="1"/>
              <a:t>tập</a:t>
            </a:r>
            <a:r>
              <a:rPr lang="en-US" dirty="0"/>
              <a:t> tin FTP).</a:t>
            </a:r>
          </a:p>
          <a:p>
            <a:r>
              <a:rPr lang="en-US" dirty="0"/>
              <a:t>Trường </a:t>
            </a:r>
            <a:r>
              <a:rPr lang="en-US" b="1" dirty="0"/>
              <a:t>Datagram length</a:t>
            </a:r>
            <a:r>
              <a:rPr lang="en-US" dirty="0"/>
              <a:t>: </a:t>
            </a:r>
            <a:r>
              <a:rPr lang="en-US" dirty="0" err="1"/>
              <a:t>gồm</a:t>
            </a:r>
            <a:r>
              <a:rPr lang="en-US" dirty="0"/>
              <a:t> 2 byte </a:t>
            </a:r>
            <a:r>
              <a:rPr lang="en-US" dirty="0" err="1"/>
              <a:t>dữ</a:t>
            </a:r>
            <a:r>
              <a:rPr lang="en-US" dirty="0"/>
              <a:t> </a:t>
            </a:r>
            <a:r>
              <a:rPr lang="en-US" dirty="0" err="1"/>
              <a:t>liệu</a:t>
            </a:r>
            <a:r>
              <a:rPr lang="en-US" dirty="0"/>
              <a:t> </a:t>
            </a:r>
            <a:r>
              <a:rPr lang="en-US" dirty="0" err="1"/>
              <a:t>xác</a:t>
            </a:r>
            <a:r>
              <a:rPr lang="en-US" dirty="0"/>
              <a:t> </a:t>
            </a:r>
            <a:r>
              <a:rPr lang="en-US" dirty="0" err="1"/>
              <a:t>định</a:t>
            </a:r>
            <a:r>
              <a:rPr lang="en-US" dirty="0"/>
              <a:t> </a:t>
            </a:r>
            <a:r>
              <a:rPr lang="en-US" dirty="0" err="1"/>
              <a:t>chiều</a:t>
            </a:r>
            <a:r>
              <a:rPr lang="en-US" dirty="0"/>
              <a:t> </a:t>
            </a:r>
            <a:r>
              <a:rPr lang="en-US" dirty="0" err="1"/>
              <a:t>dài</a:t>
            </a:r>
            <a:r>
              <a:rPr lang="en-US" dirty="0"/>
              <a:t> </a:t>
            </a:r>
            <a:r>
              <a:rPr lang="en-US" dirty="0" err="1"/>
              <a:t>của</a:t>
            </a:r>
            <a:r>
              <a:rPr lang="en-US" dirty="0"/>
              <a:t> </a:t>
            </a:r>
            <a:r>
              <a:rPr lang="en-US" dirty="0" err="1"/>
              <a:t>một</a:t>
            </a:r>
            <a:r>
              <a:rPr lang="en-US" dirty="0"/>
              <a:t> IP datagram (bao </a:t>
            </a:r>
            <a:r>
              <a:rPr lang="en-US" dirty="0" err="1"/>
              <a:t>gồm</a:t>
            </a:r>
            <a:r>
              <a:rPr lang="en-US" dirty="0"/>
              <a:t> </a:t>
            </a:r>
            <a:r>
              <a:rPr lang="en-US" dirty="0" err="1"/>
              <a:t>phần</a:t>
            </a:r>
            <a:r>
              <a:rPr lang="en-US" dirty="0"/>
              <a:t> header </a:t>
            </a:r>
            <a:r>
              <a:rPr lang="en-US" dirty="0" err="1"/>
              <a:t>và</a:t>
            </a:r>
            <a:r>
              <a:rPr lang="en-US" dirty="0"/>
              <a:t> </a:t>
            </a:r>
            <a:r>
              <a:rPr lang="en-US" dirty="0" err="1"/>
              <a:t>phần</a:t>
            </a:r>
            <a:r>
              <a:rPr lang="en-US" dirty="0"/>
              <a:t> </a:t>
            </a:r>
            <a:r>
              <a:rPr lang="en-US" dirty="0" err="1"/>
              <a:t>dữ</a:t>
            </a:r>
            <a:r>
              <a:rPr lang="en-US" dirty="0"/>
              <a:t> </a:t>
            </a:r>
            <a:r>
              <a:rPr lang="en-US" dirty="0" err="1"/>
              <a:t>liệu</a:t>
            </a:r>
            <a:r>
              <a:rPr lang="en-US" dirty="0"/>
              <a:t> - data). Thông </a:t>
            </a:r>
            <a:r>
              <a:rPr lang="en-US" dirty="0" err="1"/>
              <a:t>thường</a:t>
            </a:r>
            <a:r>
              <a:rPr lang="en-US" dirty="0"/>
              <a:t> </a:t>
            </a:r>
            <a:r>
              <a:rPr lang="en-US" dirty="0" err="1"/>
              <a:t>một</a:t>
            </a:r>
            <a:r>
              <a:rPr lang="en-US" dirty="0"/>
              <a:t> datagram </a:t>
            </a:r>
            <a:r>
              <a:rPr lang="en-US" dirty="0" err="1"/>
              <a:t>có</a:t>
            </a:r>
            <a:r>
              <a:rPr lang="en-US" dirty="0"/>
              <a:t> </a:t>
            </a:r>
            <a:r>
              <a:rPr lang="en-US" dirty="0" err="1"/>
              <a:t>chiều</a:t>
            </a:r>
            <a:r>
              <a:rPr lang="en-US" dirty="0"/>
              <a:t> </a:t>
            </a:r>
            <a:r>
              <a:rPr lang="en-US" dirty="0" err="1"/>
              <a:t>dài</a:t>
            </a:r>
            <a:r>
              <a:rPr lang="en-US" dirty="0"/>
              <a:t> </a:t>
            </a:r>
            <a:r>
              <a:rPr lang="en-US" dirty="0" err="1"/>
              <a:t>hiếm</a:t>
            </a:r>
            <a:r>
              <a:rPr lang="en-US" dirty="0"/>
              <a:t> </a:t>
            </a:r>
            <a:r>
              <a:rPr lang="en-US" dirty="0" err="1"/>
              <a:t>khi</a:t>
            </a:r>
            <a:r>
              <a:rPr lang="en-US" dirty="0"/>
              <a:t> </a:t>
            </a:r>
            <a:r>
              <a:rPr lang="en-US" dirty="0" err="1"/>
              <a:t>vượt</a:t>
            </a:r>
            <a:r>
              <a:rPr lang="en-US" dirty="0"/>
              <a:t> </a:t>
            </a:r>
            <a:r>
              <a:rPr lang="en-US" dirty="0" err="1"/>
              <a:t>quá</a:t>
            </a:r>
            <a:r>
              <a:rPr lang="en-US" dirty="0"/>
              <a:t> 1500 byte.</a:t>
            </a:r>
          </a:p>
          <a:p>
            <a:r>
              <a:rPr lang="vi-VN" dirty="0"/>
              <a:t>Trường </a:t>
            </a:r>
            <a:r>
              <a:rPr lang="vi-VN" b="1" dirty="0"/>
              <a:t>Identifier, Flags, Fragmentation offset</a:t>
            </a:r>
            <a:r>
              <a:rPr lang="vi-VN" dirty="0"/>
              <a:t>: có tổng độ dài là 32 bit thông tin, được dùng trong quá trình phân mảnh gói tin IP (điều này được loại bỏ trong phiên bản IPv6).</a:t>
            </a:r>
          </a:p>
          <a:p>
            <a:endParaRPr lang="en-US" dirty="0"/>
          </a:p>
        </p:txBody>
      </p:sp>
    </p:spTree>
    <p:extLst>
      <p:ext uri="{BB962C8B-B14F-4D97-AF65-F5344CB8AC3E}">
        <p14:creationId xmlns:p14="http://schemas.microsoft.com/office/powerpoint/2010/main" val="136138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05BBB"/>
                </a:solidFill>
                <a:effectLst/>
                <a:uLnTx/>
                <a:uFillTx/>
                <a:latin typeface="Arial" panose="020B0604020202020204"/>
                <a:ea typeface="+mj-ea"/>
                <a:cs typeface="Helvetica World" panose="020B0500040000020004" pitchFamily="34" charset="0"/>
              </a:rPr>
              <a:t>GÓI TIN IPv4 </a:t>
            </a:r>
          </a:p>
        </p:txBody>
      </p:sp>
      <p:sp>
        <p:nvSpPr>
          <p:cNvPr id="6" name="Content Placeholder 5"/>
          <p:cNvSpPr>
            <a:spLocks noGrp="1"/>
          </p:cNvSpPr>
          <p:nvPr>
            <p:ph idx="1"/>
          </p:nvPr>
        </p:nvSpPr>
        <p:spPr>
          <a:xfrm>
            <a:off x="137433" y="1381850"/>
            <a:ext cx="11929876" cy="5476150"/>
          </a:xfrm>
        </p:spPr>
        <p:txBody>
          <a:bodyPr/>
          <a:lstStyle/>
          <a:p>
            <a:r>
              <a:rPr lang="vi-VN"/>
              <a:t>Trường </a:t>
            </a:r>
            <a:r>
              <a:rPr lang="vi-VN" b="1"/>
              <a:t>Time-to-live (TTL)</a:t>
            </a:r>
            <a:r>
              <a:rPr lang="vi-VN"/>
              <a:t>: 8 bit dữ liệu của trường này xác định thời gian tồn tại của 1 gói tin IP, được dùng để ngăn ngừa khả năng 1 gói tin IP được lưu chuyển mãi mãi trong một liên mạng (internetwork). </a:t>
            </a:r>
          </a:p>
          <a:p>
            <a:r>
              <a:rPr lang="vi-VN"/>
              <a:t>Trường </a:t>
            </a:r>
            <a:r>
              <a:rPr lang="vi-VN" b="1"/>
              <a:t>Protocol</a:t>
            </a:r>
            <a:r>
              <a:rPr lang="vi-VN"/>
              <a:t>: bao gồm 8 bit xác định giao thức tầng vận chuyển cụ thể được sử dụng, lấy ví dụ nếu giá trị được biểu diễn bởi 8 bít trường này là 6 thì giao thức tầng vận chuyển được xác định là TCP, còn nếu là 17 thì đó là UDP.</a:t>
            </a:r>
            <a:endParaRPr lang="en-US"/>
          </a:p>
          <a:p>
            <a:r>
              <a:rPr lang="en-US"/>
              <a:t>Trường </a:t>
            </a:r>
            <a:r>
              <a:rPr lang="en-US" b="1"/>
              <a:t>Header checksum</a:t>
            </a:r>
            <a:r>
              <a:rPr lang="en-US"/>
              <a:t>: 16 bit của trường này được dùng để phát hiện lỗi trong tiêu đề gói tin IP nhận được.</a:t>
            </a:r>
          </a:p>
          <a:p>
            <a:r>
              <a:rPr lang="en-US"/>
              <a:t>Trường </a:t>
            </a:r>
            <a:r>
              <a:rPr lang="en-US" b="1"/>
              <a:t>Source and Destination IP addresses</a:t>
            </a:r>
            <a:r>
              <a:rPr lang="en-US"/>
              <a:t>: 32 bit địa chỉ IP nguồn và địa chỉ IP đích đến của gói tin.</a:t>
            </a:r>
          </a:p>
          <a:p>
            <a:r>
              <a:rPr lang="en-US"/>
              <a:t>Trường </a:t>
            </a:r>
            <a:r>
              <a:rPr lang="en-US" b="1"/>
              <a:t>Options</a:t>
            </a:r>
            <a:r>
              <a:rPr lang="en-US"/>
              <a:t>: là trường thông tin bổ sung cho phép mở rộng nội dung chứa trong phần đầu (header) của 1 gói tin IP (IPv4 datagram). Trong phiên bản IPv6 phần này không được sử dụng.</a:t>
            </a:r>
          </a:p>
          <a:p>
            <a:r>
              <a:rPr lang="en-US"/>
              <a:t>Trường </a:t>
            </a:r>
            <a:r>
              <a:rPr lang="en-US" b="1"/>
              <a:t>Data </a:t>
            </a:r>
            <a:r>
              <a:rPr lang="en-US"/>
              <a:t>– trường dữ liệu của 1 gói tin IP: trường này thông thường chứa các dữ liệu từ tầng giao vận (các segment dữ liệu) cần được chuyển tới đích đến. Ngoài ra trường này có thể chứa các dữ liệu khác như các bản tin được tạo bởi giao thức ICMP.</a:t>
            </a:r>
          </a:p>
          <a:p>
            <a:pPr marL="0" indent="0">
              <a:buNone/>
            </a:pPr>
            <a:endParaRPr lang="en-US"/>
          </a:p>
          <a:p>
            <a:endParaRPr lang="en-US"/>
          </a:p>
        </p:txBody>
      </p:sp>
    </p:spTree>
    <p:extLst>
      <p:ext uri="{BB962C8B-B14F-4D97-AF65-F5344CB8AC3E}">
        <p14:creationId xmlns:p14="http://schemas.microsoft.com/office/powerpoint/2010/main" val="1466705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cs typeface="Helvetica World" panose="020B0500040000020004" pitchFamily="34" charset="0"/>
              </a:rPr>
              <a:t>ĐỊA CHỈ </a:t>
            </a:r>
            <a:r>
              <a:rPr kumimoji="0" lang="en-US" sz="1800" b="1" i="0" u="none" strike="noStrike" kern="1200" cap="none" spc="0" normalizeH="0" baseline="0" noProof="0">
                <a:ln>
                  <a:noFill/>
                </a:ln>
                <a:solidFill>
                  <a:srgbClr val="005BBB"/>
                </a:solidFill>
                <a:effectLst/>
                <a:uLnTx/>
                <a:uFillTx/>
                <a:cs typeface="Helvetica World" panose="020B0500040000020004" pitchFamily="34" charset="0"/>
              </a:rPr>
              <a:t>IPv4</a:t>
            </a:r>
          </a:p>
        </p:txBody>
      </p:sp>
      <p:sp>
        <p:nvSpPr>
          <p:cNvPr id="168" name="Rectangle 3"/>
          <p:cNvSpPr txBox="1">
            <a:spLocks noChangeArrowheads="1"/>
          </p:cNvSpPr>
          <p:nvPr/>
        </p:nvSpPr>
        <p:spPr>
          <a:xfrm>
            <a:off x="100407" y="1444624"/>
            <a:ext cx="5660313" cy="5413376"/>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5BBB"/>
              </a:buClr>
              <a:defRPr/>
            </a:pP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Việc</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định danh địa chỉ IP trên lớp mạng là cần thiết để có thể xác định chính xác mạng nguồn và mạng đích, máy tính nguồn và máy tính đích, các địa chỉ này được sử dụng để hoạch định tuyến đường gói tin được truyền đi.</a:t>
            </a:r>
          </a:p>
          <a:p>
            <a:pPr>
              <a:buClr>
                <a:srgbClr val="005BBB"/>
              </a:buClr>
              <a:defRPr/>
            </a:pP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Một</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địa chỉ IP được đánh tương ứng cho một giao diện ghép nối (một interface), chính là phần kết nối giữa một máy tính hay một router với đường truyền vật lý.</a:t>
            </a: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685800" marR="0" lvl="1" indent="-182880" algn="l" defTabSz="914400" rtl="0" eaLnBrk="1" fontAlgn="auto" latinLnBrk="0" hangingPunct="1">
              <a:lnSpc>
                <a:spcPct val="130000"/>
              </a:lnSpc>
              <a:spcBef>
                <a:spcPts val="600"/>
              </a:spcBef>
              <a:spcAft>
                <a:spcPts val="0"/>
              </a:spcAft>
              <a:buClr>
                <a:srgbClr val="005BBB"/>
              </a:buClr>
              <a:buSzPct val="120000"/>
              <a:buFont typeface="Courier New" panose="02070309020205020404" pitchFamily="49" charset="0"/>
              <a:buChar char="o"/>
              <a:tabLst/>
              <a:defRPr/>
            </a:pP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Một</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a:t>
            </a:r>
            <a:r>
              <a:rPr lang="en-US" altLang="en-US">
                <a:solidFill>
                  <a:srgbClr val="666666">
                    <a:lumMod val="50000"/>
                  </a:srgbClr>
                </a:solidFill>
                <a:latin typeface="Arial" panose="020B0604020202020204"/>
              </a:rPr>
              <a:t>r</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outer</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có thể có nhiều interface</a:t>
            </a:r>
            <a:endParaRPr kumimoji="0" lang="en-US" altLang="ja-JP" sz="1800" b="0" i="0" u="none" strike="noStrike" kern="1200" cap="none" spc="0" normalizeH="0" baseline="0" noProof="0">
              <a:ln>
                <a:noFill/>
              </a:ln>
              <a:solidFill>
                <a:srgbClr val="666666">
                  <a:lumMod val="50000"/>
                </a:srgbClr>
              </a:solidFill>
              <a:effectLst/>
              <a:uLnTx/>
              <a:uFillTx/>
              <a:latin typeface="Arial" panose="020B0604020202020204"/>
              <a:ea typeface="ＭＳ Ｐゴシック" panose="020B0600070205080204" pitchFamily="34" charset="-128"/>
              <a:cs typeface="+mn-cs"/>
            </a:endParaRPr>
          </a:p>
          <a:p>
            <a:pPr marL="685800" marR="0" lvl="1" indent="-182880" algn="l" defTabSz="914400" rtl="0" eaLnBrk="1" fontAlgn="auto" latinLnBrk="0" hangingPunct="1">
              <a:lnSpc>
                <a:spcPct val="130000"/>
              </a:lnSpc>
              <a:spcBef>
                <a:spcPts val="600"/>
              </a:spcBef>
              <a:spcAft>
                <a:spcPts val="0"/>
              </a:spcAft>
              <a:buClr>
                <a:srgbClr val="005BBB"/>
              </a:buClr>
              <a:buSzPct val="120000"/>
              <a:buFont typeface="Courier New" panose="02070309020205020404" pitchFamily="49" charset="0"/>
              <a:buChar char="o"/>
              <a:tabLst/>
              <a:defRPr/>
            </a:pP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 Một</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máy tính thường có 1 hoặc 2 </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interface (</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giao diện </a:t>
            </a:r>
            <a:r>
              <a:rPr lang="en-US" altLang="en-US">
                <a:solidFill>
                  <a:srgbClr val="666666">
                    <a:lumMod val="50000"/>
                  </a:srgbClr>
                </a:solidFill>
                <a:latin typeface="Arial" panose="020B0604020202020204"/>
              </a:rPr>
              <a:t>kết nối</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 dung</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chuẩn </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Ethernet</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hoặc </a:t>
            </a:r>
            <a:r>
              <a:rPr lang="en-US" altLang="en-US">
                <a:solidFill>
                  <a:srgbClr val="666666">
                    <a:lumMod val="50000"/>
                  </a:srgbClr>
                </a:solidFill>
                <a:latin typeface="Arial" panose="020B0604020202020204"/>
              </a:rPr>
              <a:t>chuẩn không dây</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 802.11)</a:t>
            </a:r>
          </a:p>
        </p:txBody>
      </p:sp>
      <p:pic>
        <p:nvPicPr>
          <p:cNvPr id="2" name="Picture 1"/>
          <p:cNvPicPr>
            <a:picLocks noChangeAspect="1"/>
          </p:cNvPicPr>
          <p:nvPr/>
        </p:nvPicPr>
        <p:blipFill>
          <a:blip r:embed="rId3"/>
          <a:stretch>
            <a:fillRect/>
          </a:stretch>
        </p:blipFill>
        <p:spPr>
          <a:xfrm>
            <a:off x="5892805" y="1330328"/>
            <a:ext cx="6245822" cy="4589826"/>
          </a:xfrm>
          <a:prstGeom prst="rect">
            <a:avLst/>
          </a:prstGeom>
        </p:spPr>
      </p:pic>
    </p:spTree>
    <p:extLst>
      <p:ext uri="{BB962C8B-B14F-4D97-AF65-F5344CB8AC3E}">
        <p14:creationId xmlns:p14="http://schemas.microsoft.com/office/powerpoint/2010/main" val="1326373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005BBB"/>
                </a:solidFill>
                <a:cs typeface="Helvetica World" panose="020B0500040000020004" pitchFamily="34" charset="0"/>
              </a:rPr>
              <a:t>CẤU TRÚC CỦA ĐỊA CHỈ IPv4</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168" name="Rectangle 3"/>
          <p:cNvSpPr txBox="1">
            <a:spLocks noChangeArrowheads="1"/>
          </p:cNvSpPr>
          <p:nvPr/>
        </p:nvSpPr>
        <p:spPr>
          <a:xfrm>
            <a:off x="149783" y="1371547"/>
            <a:ext cx="5988712" cy="5324221"/>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i="1">
                <a:solidFill>
                  <a:srgbClr val="666666">
                    <a:lumMod val="50000"/>
                  </a:srgbClr>
                </a:solidFill>
                <a:latin typeface="Arial" panose="020B0604020202020204"/>
              </a:rPr>
              <a:t>Ký pháp thường gặp của đại chỉ IP</a:t>
            </a:r>
            <a:r>
              <a:rPr kumimoji="0" lang="en-US" altLang="en-US" sz="1800" i="1" u="none" strike="noStrike" kern="1200" cap="none" spc="0" normalizeH="0" baseline="0" noProof="0">
                <a:ln>
                  <a:noFill/>
                </a:ln>
                <a:solidFill>
                  <a:srgbClr val="666666">
                    <a:lumMod val="50000"/>
                  </a:srgbClr>
                </a:solidFill>
                <a:effectLst/>
                <a:uLnTx/>
                <a:uFillTx/>
                <a:latin typeface="Arial" panose="020B0604020202020204"/>
              </a:rPr>
              <a:t>:</a:t>
            </a:r>
          </a:p>
          <a:p>
            <a:pPr marL="685800" marR="0" lvl="1" indent="-182880" algn="l" defTabSz="914400" rtl="0" eaLnBrk="1" fontAlgn="auto" latinLnBrk="0" hangingPunct="1">
              <a:lnSpc>
                <a:spcPct val="130000"/>
              </a:lnSpc>
              <a:spcBef>
                <a:spcPts val="600"/>
              </a:spcBef>
              <a:spcAft>
                <a:spcPts val="0"/>
              </a:spcAft>
              <a:buClr>
                <a:srgbClr val="005BBB"/>
              </a:buClr>
              <a:buSzPct val="120000"/>
              <a:buFont typeface="Courier New" panose="02070309020205020404" pitchFamily="49" charset="0"/>
              <a:buChar char="o"/>
              <a:tabLst/>
              <a:defRPr/>
            </a:pPr>
            <a:r>
              <a:rPr lang="en-US" altLang="en-US">
                <a:solidFill>
                  <a:srgbClr val="666666">
                    <a:lumMod val="50000"/>
                  </a:srgbClr>
                </a:solidFill>
                <a:latin typeface="Arial" panose="020B0604020202020204"/>
              </a:rPr>
              <a:t>Dạng biểu diễn nhị phân</a:t>
            </a: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685800" marR="0" lvl="1" indent="-182880" algn="l" defTabSz="914400" rtl="0" eaLnBrk="1" fontAlgn="auto" latinLnBrk="0" hangingPunct="1">
              <a:lnSpc>
                <a:spcPct val="130000"/>
              </a:lnSpc>
              <a:spcBef>
                <a:spcPts val="600"/>
              </a:spcBef>
              <a:spcAft>
                <a:spcPts val="0"/>
              </a:spcAft>
              <a:buClr>
                <a:srgbClr val="005BBB"/>
              </a:buClr>
              <a:buSzPct val="120000"/>
              <a:buFont typeface="Courier New" panose="02070309020205020404" pitchFamily="49" charset="0"/>
              <a:buChar char="o"/>
              <a:tabLst/>
              <a:defRPr/>
            </a:pP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Dạng</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dấu chấm thập phân (</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Dotted-decimal notation)</a:t>
            </a:r>
          </a:p>
          <a:p>
            <a:pPr>
              <a:buClr>
                <a:srgbClr val="005BBB"/>
              </a:buClr>
              <a:defRPr/>
            </a:pPr>
            <a:r>
              <a:rPr lang="en-US" altLang="en-US" i="1" noProof="0">
                <a:solidFill>
                  <a:srgbClr val="666666">
                    <a:lumMod val="50000"/>
                  </a:srgbClr>
                </a:solidFill>
              </a:rPr>
              <a:t>Địa chỉ IPv4 có độ dài 32 bit, chia thành 4 octet, mỗi octet (cụm 8) có độ dài 8 bit.</a:t>
            </a:r>
            <a:endParaRPr kumimoji="0" lang="en-US" altLang="en-US" sz="1800" i="0" u="none" strike="noStrike" kern="1200" cap="none" spc="0" normalizeH="0" baseline="0" noProof="0">
              <a:ln>
                <a:noFill/>
              </a:ln>
              <a:solidFill>
                <a:srgbClr val="666666">
                  <a:lumMod val="50000"/>
                </a:srgbClr>
              </a:solidFill>
              <a:effectLst/>
              <a:uLnTx/>
              <a:uFillTx/>
              <a:latin typeface="Arial" panose="020B0604020202020204"/>
            </a:endParaRP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a:solidFill>
                  <a:srgbClr val="666666">
                    <a:lumMod val="50000"/>
                  </a:srgbClr>
                </a:solidFill>
                <a:latin typeface="Arial" panose="020B0604020202020204"/>
              </a:rPr>
              <a:t>Giá trị thập phân trong mỗi octet</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 </a:t>
            </a:r>
            <a:r>
              <a:rPr kumimoji="0" lang="en-US" alt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0 – 255</a:t>
            </a: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a:t>
            </a: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a:solidFill>
                  <a:srgbClr val="666666">
                    <a:lumMod val="50000"/>
                  </a:srgbClr>
                </a:solidFill>
                <a:latin typeface="Arial" panose="020B0604020202020204"/>
              </a:rPr>
              <a:t>Mỗi địa chỉ IP trên môi trường internet là duy nhất để đảm bảo tính chính xác khi truyền và nhận dữ liệu.</a:t>
            </a: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a:solidFill>
                  <a:srgbClr val="666666">
                    <a:lumMod val="50000"/>
                  </a:srgbClr>
                </a:solidFill>
                <a:latin typeface="Arial" panose="020B0604020202020204"/>
              </a:rPr>
              <a:t>Có 3 kiểu địa chỉ IP</a:t>
            </a:r>
            <a:r>
              <a:rPr kumimoji="0" lang="en-US" altLang="en-US" sz="1800" i="0" u="none" strike="noStrike" kern="1200" cap="none" spc="0" normalizeH="0" baseline="0" noProof="0">
                <a:ln>
                  <a:noFill/>
                </a:ln>
                <a:solidFill>
                  <a:srgbClr val="666666">
                    <a:lumMod val="50000"/>
                  </a:srgbClr>
                </a:solidFill>
                <a:effectLst/>
                <a:uLnTx/>
                <a:uFillTx/>
                <a:latin typeface="Arial" panose="020B0604020202020204"/>
                <a:ea typeface="+mn-ea"/>
                <a:cs typeface="+mn-cs"/>
              </a:rPr>
              <a:t>: </a:t>
            </a:r>
            <a:r>
              <a:rPr lang="en-US" altLang="en-US">
                <a:solidFill>
                  <a:srgbClr val="666666">
                    <a:lumMod val="50000"/>
                  </a:srgbClr>
                </a:solidFill>
                <a:latin typeface="Arial" panose="020B0604020202020204"/>
              </a:rPr>
              <a:t>địa chỉ u</a:t>
            </a:r>
            <a:r>
              <a:rPr kumimoji="0" lang="en-US" altLang="en-US" sz="1800" i="0" u="none" strike="noStrike" kern="1200" cap="none" spc="0" normalizeH="0" baseline="0" noProof="0">
                <a:ln>
                  <a:noFill/>
                </a:ln>
                <a:solidFill>
                  <a:srgbClr val="666666">
                    <a:lumMod val="50000"/>
                  </a:srgbClr>
                </a:solidFill>
                <a:effectLst/>
                <a:uLnTx/>
                <a:uFillTx/>
                <a:latin typeface="Arial" panose="020B0604020202020204"/>
                <a:ea typeface="+mn-ea"/>
                <a:cs typeface="+mn-cs"/>
              </a:rPr>
              <a:t>nicast, </a:t>
            </a:r>
            <a:r>
              <a:rPr lang="en-US" altLang="en-US">
                <a:solidFill>
                  <a:srgbClr val="666666">
                    <a:lumMod val="50000"/>
                  </a:srgbClr>
                </a:solidFill>
                <a:latin typeface="Arial" panose="020B0604020202020204"/>
              </a:rPr>
              <a:t>địa chỉ m</a:t>
            </a:r>
            <a:r>
              <a:rPr kumimoji="0" lang="en-US" altLang="en-US" sz="1800" i="0" u="none" strike="noStrike" kern="1200" cap="none" spc="0" normalizeH="0" baseline="0" noProof="0">
                <a:ln>
                  <a:noFill/>
                </a:ln>
                <a:solidFill>
                  <a:srgbClr val="666666">
                    <a:lumMod val="50000"/>
                  </a:srgbClr>
                </a:solidFill>
                <a:effectLst/>
                <a:uLnTx/>
                <a:uFillTx/>
                <a:latin typeface="Arial" panose="020B0604020202020204"/>
                <a:ea typeface="+mn-ea"/>
                <a:cs typeface="+mn-cs"/>
              </a:rPr>
              <a:t>ulticast, </a:t>
            </a:r>
            <a:r>
              <a:rPr lang="en-US" altLang="en-US" noProof="0">
                <a:solidFill>
                  <a:srgbClr val="666666">
                    <a:lumMod val="50000"/>
                  </a:srgbClr>
                </a:solidFill>
                <a:latin typeface="Arial" panose="020B0604020202020204"/>
              </a:rPr>
              <a:t>địa chỉ b</a:t>
            </a:r>
            <a:r>
              <a:rPr kumimoji="0" lang="en-US" altLang="en-US" sz="1800" i="0" u="none" strike="noStrike" kern="1200" cap="none" spc="0" normalizeH="0" baseline="0" noProof="0">
                <a:ln>
                  <a:noFill/>
                </a:ln>
                <a:solidFill>
                  <a:srgbClr val="666666">
                    <a:lumMod val="50000"/>
                  </a:srgbClr>
                </a:solidFill>
                <a:effectLst/>
                <a:uLnTx/>
                <a:uFillTx/>
                <a:latin typeface="Arial" panose="020B0604020202020204"/>
                <a:ea typeface="+mn-ea"/>
                <a:cs typeface="+mn-cs"/>
              </a:rPr>
              <a:t>roadcast.</a:t>
            </a: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1"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pic>
        <p:nvPicPr>
          <p:cNvPr id="3" name="Picture 2"/>
          <p:cNvPicPr>
            <a:picLocks noChangeAspect="1"/>
          </p:cNvPicPr>
          <p:nvPr/>
        </p:nvPicPr>
        <p:blipFill>
          <a:blip r:embed="rId3"/>
          <a:stretch>
            <a:fillRect/>
          </a:stretch>
        </p:blipFill>
        <p:spPr>
          <a:xfrm>
            <a:off x="6419850" y="2584884"/>
            <a:ext cx="5772150" cy="1828800"/>
          </a:xfrm>
          <a:prstGeom prst="rect">
            <a:avLst/>
          </a:prstGeom>
        </p:spPr>
      </p:pic>
      <p:sp>
        <p:nvSpPr>
          <p:cNvPr id="4" name="Rectangle 3"/>
          <p:cNvSpPr/>
          <p:nvPr/>
        </p:nvSpPr>
        <p:spPr>
          <a:xfrm>
            <a:off x="7593436" y="1916615"/>
            <a:ext cx="3557384" cy="369332"/>
          </a:xfrm>
          <a:prstGeom prst="rect">
            <a:avLst/>
          </a:prstGeom>
        </p:spPr>
        <p:txBody>
          <a:bodyPr wrap="non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b="1" noProof="0">
                <a:solidFill>
                  <a:srgbClr val="666666">
                    <a:lumMod val="50000"/>
                  </a:srgbClr>
                </a:solidFill>
                <a:latin typeface="Arial" panose="020B0604020202020204"/>
              </a:rPr>
              <a:t>Địa chỉ IPv4</a:t>
            </a: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 192.168.21.76</a:t>
            </a:r>
          </a:p>
        </p:txBody>
      </p:sp>
      <p:sp>
        <p:nvSpPr>
          <p:cNvPr id="7" name="TextBox 6"/>
          <p:cNvSpPr txBox="1"/>
          <p:nvPr/>
        </p:nvSpPr>
        <p:spPr>
          <a:xfrm>
            <a:off x="5972118" y="2154328"/>
            <a:ext cx="7745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Octet</a:t>
            </a:r>
          </a:p>
        </p:txBody>
      </p:sp>
      <p:cxnSp>
        <p:nvCxnSpPr>
          <p:cNvPr id="9" name="Straight Arrow Connector 8"/>
          <p:cNvCxnSpPr/>
          <p:nvPr/>
        </p:nvCxnSpPr>
        <p:spPr>
          <a:xfrm>
            <a:off x="6419850" y="2557526"/>
            <a:ext cx="1036713" cy="482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287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cs typeface="Helvetica World" panose="020B0500040000020004" pitchFamily="34" charset="0"/>
              </a:rPr>
              <a:t>CẤU TRÚC ĐỊA CHỈ IPv4</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graphicFrame>
        <p:nvGraphicFramePr>
          <p:cNvPr id="5" name="Table 4"/>
          <p:cNvGraphicFramePr>
            <a:graphicFrameLocks noGrp="1"/>
          </p:cNvGraphicFramePr>
          <p:nvPr/>
        </p:nvGraphicFramePr>
        <p:xfrm>
          <a:off x="469416" y="1657216"/>
          <a:ext cx="6267048" cy="370840"/>
        </p:xfrm>
        <a:graphic>
          <a:graphicData uri="http://schemas.openxmlformats.org/drawingml/2006/table">
            <a:tbl>
              <a:tblPr firstRow="1" bandRow="1">
                <a:tableStyleId>{2D5ABB26-0587-4C30-8999-92F81FD0307C}</a:tableStyleId>
              </a:tblPr>
              <a:tblGrid>
                <a:gridCol w="6267048">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1 0 0 0 0 0 1 1 0 1 1 0 1 1 0 0 0 1 1 1 1 0 1 0 1 1 0 0 1 1 0 0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8" name="Rectangle 7"/>
          <p:cNvSpPr/>
          <p:nvPr/>
        </p:nvSpPr>
        <p:spPr>
          <a:xfrm>
            <a:off x="469416" y="2187615"/>
            <a:ext cx="2898815" cy="45141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NETWORK ID</a:t>
            </a:r>
          </a:p>
        </p:txBody>
      </p:sp>
      <p:sp>
        <p:nvSpPr>
          <p:cNvPr id="13" name="Rectangle 12"/>
          <p:cNvSpPr/>
          <p:nvPr/>
        </p:nvSpPr>
        <p:spPr>
          <a:xfrm>
            <a:off x="3368231" y="2187614"/>
            <a:ext cx="3368233" cy="45141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HOST ID</a:t>
            </a:r>
          </a:p>
        </p:txBody>
      </p:sp>
      <p:sp>
        <p:nvSpPr>
          <p:cNvPr id="11" name="TextBox 10"/>
          <p:cNvSpPr txBox="1"/>
          <p:nvPr/>
        </p:nvSpPr>
        <p:spPr>
          <a:xfrm>
            <a:off x="3145122" y="2882096"/>
            <a:ext cx="9156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32 bits</a:t>
            </a:r>
          </a:p>
        </p:txBody>
      </p:sp>
      <p:cxnSp>
        <p:nvCxnSpPr>
          <p:cNvPr id="14" name="Straight Arrow Connector 13"/>
          <p:cNvCxnSpPr>
            <a:stCxn id="11" idx="1"/>
          </p:cNvCxnSpPr>
          <p:nvPr/>
        </p:nvCxnSpPr>
        <p:spPr>
          <a:xfrm flipH="1">
            <a:off x="469416" y="3066762"/>
            <a:ext cx="267570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3"/>
          </p:cNvCxnSpPr>
          <p:nvPr/>
        </p:nvCxnSpPr>
        <p:spPr>
          <a:xfrm>
            <a:off x="4060757" y="3066762"/>
            <a:ext cx="267570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18"/>
          <p:cNvGraphicFramePr>
            <a:graphicFrameLocks noGrp="1"/>
          </p:cNvGraphicFramePr>
          <p:nvPr/>
        </p:nvGraphicFramePr>
        <p:xfrm>
          <a:off x="87446" y="3615265"/>
          <a:ext cx="1683473" cy="370840"/>
        </p:xfrm>
        <a:graphic>
          <a:graphicData uri="http://schemas.openxmlformats.org/drawingml/2006/table">
            <a:tbl>
              <a:tblPr firstRow="1" bandRow="1">
                <a:tableStyleId>{2D5ABB26-0587-4C30-8999-92F81FD0307C}</a:tableStyleId>
              </a:tblPr>
              <a:tblGrid>
                <a:gridCol w="1683473">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1 0 0 0 0 0 1 1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0" name="Table 19"/>
          <p:cNvGraphicFramePr>
            <a:graphicFrameLocks noGrp="1"/>
          </p:cNvGraphicFramePr>
          <p:nvPr/>
        </p:nvGraphicFramePr>
        <p:xfrm>
          <a:off x="1840369" y="3616748"/>
          <a:ext cx="1716268" cy="370840"/>
        </p:xfrm>
        <a:graphic>
          <a:graphicData uri="http://schemas.openxmlformats.org/drawingml/2006/table">
            <a:tbl>
              <a:tblPr firstRow="1" bandRow="1">
                <a:tableStyleId>{2D5ABB26-0587-4C30-8999-92F81FD0307C}</a:tableStyleId>
              </a:tblPr>
              <a:tblGrid>
                <a:gridCol w="1716268">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0 1 1 0 1 1 0 0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1" name="Table 20"/>
          <p:cNvGraphicFramePr>
            <a:graphicFrameLocks noGrp="1"/>
          </p:cNvGraphicFramePr>
          <p:nvPr/>
        </p:nvGraphicFramePr>
        <p:xfrm>
          <a:off x="3617753" y="3616748"/>
          <a:ext cx="1691190" cy="370840"/>
        </p:xfrm>
        <a:graphic>
          <a:graphicData uri="http://schemas.openxmlformats.org/drawingml/2006/table">
            <a:tbl>
              <a:tblPr firstRow="1" bandRow="1">
                <a:tableStyleId>{2D5ABB26-0587-4C30-8999-92F81FD0307C}</a:tableStyleId>
              </a:tblPr>
              <a:tblGrid>
                <a:gridCol w="1691190">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0 1 1 1 1 0 1 0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2" name="Table 21"/>
          <p:cNvGraphicFramePr>
            <a:graphicFrameLocks noGrp="1"/>
          </p:cNvGraphicFramePr>
          <p:nvPr/>
        </p:nvGraphicFramePr>
        <p:xfrm>
          <a:off x="5358484" y="3612999"/>
          <a:ext cx="1735559" cy="370840"/>
        </p:xfrm>
        <a:graphic>
          <a:graphicData uri="http://schemas.openxmlformats.org/drawingml/2006/table">
            <a:tbl>
              <a:tblPr firstRow="1" bandRow="1">
                <a:tableStyleId>{2D5ABB26-0587-4C30-8999-92F81FD0307C}</a:tableStyleId>
              </a:tblPr>
              <a:tblGrid>
                <a:gridCol w="1735559">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1 1 0 0 1 1 0 0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23" name="TextBox 22"/>
          <p:cNvSpPr txBox="1"/>
          <p:nvPr/>
        </p:nvSpPr>
        <p:spPr>
          <a:xfrm>
            <a:off x="443980" y="4087108"/>
            <a:ext cx="78739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8 bits</a:t>
            </a:r>
          </a:p>
        </p:txBody>
      </p:sp>
      <p:sp>
        <p:nvSpPr>
          <p:cNvPr id="24" name="TextBox 23"/>
          <p:cNvSpPr txBox="1"/>
          <p:nvPr/>
        </p:nvSpPr>
        <p:spPr>
          <a:xfrm>
            <a:off x="2293488" y="4107034"/>
            <a:ext cx="78739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8 bits</a:t>
            </a:r>
          </a:p>
        </p:txBody>
      </p:sp>
      <p:sp>
        <p:nvSpPr>
          <p:cNvPr id="25" name="TextBox 24"/>
          <p:cNvSpPr txBox="1"/>
          <p:nvPr/>
        </p:nvSpPr>
        <p:spPr>
          <a:xfrm>
            <a:off x="4069650" y="4104918"/>
            <a:ext cx="78739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8 bits</a:t>
            </a:r>
          </a:p>
        </p:txBody>
      </p:sp>
      <p:sp>
        <p:nvSpPr>
          <p:cNvPr id="26" name="TextBox 25"/>
          <p:cNvSpPr txBox="1"/>
          <p:nvPr/>
        </p:nvSpPr>
        <p:spPr>
          <a:xfrm>
            <a:off x="5881917" y="4069933"/>
            <a:ext cx="78739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666666">
                    <a:lumMod val="50000"/>
                  </a:srgbClr>
                </a:solidFill>
                <a:effectLst/>
                <a:uLnTx/>
                <a:uFillTx/>
                <a:latin typeface="Arial" panose="020B0604020202020204"/>
                <a:ea typeface="+mn-ea"/>
                <a:cs typeface="+mn-cs"/>
              </a:rPr>
              <a:t>8 bits</a:t>
            </a:r>
          </a:p>
        </p:txBody>
      </p:sp>
      <p:graphicFrame>
        <p:nvGraphicFramePr>
          <p:cNvPr id="27" name="Table 26"/>
          <p:cNvGraphicFramePr>
            <a:graphicFrameLocks noGrp="1"/>
          </p:cNvGraphicFramePr>
          <p:nvPr/>
        </p:nvGraphicFramePr>
        <p:xfrm>
          <a:off x="90089" y="4980860"/>
          <a:ext cx="1683473" cy="370840"/>
        </p:xfrm>
        <a:graphic>
          <a:graphicData uri="http://schemas.openxmlformats.org/drawingml/2006/table">
            <a:tbl>
              <a:tblPr firstRow="1" bandRow="1">
                <a:tableStyleId>{2D5ABB26-0587-4C30-8999-92F81FD0307C}</a:tableStyleId>
              </a:tblPr>
              <a:tblGrid>
                <a:gridCol w="1683473">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131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8" name="Table 27"/>
          <p:cNvGraphicFramePr>
            <a:graphicFrameLocks noGrp="1"/>
          </p:cNvGraphicFramePr>
          <p:nvPr/>
        </p:nvGraphicFramePr>
        <p:xfrm>
          <a:off x="1918823" y="4977111"/>
          <a:ext cx="1716268" cy="370840"/>
        </p:xfrm>
        <a:graphic>
          <a:graphicData uri="http://schemas.openxmlformats.org/drawingml/2006/table">
            <a:tbl>
              <a:tblPr firstRow="1" bandRow="1">
                <a:tableStyleId>{2D5ABB26-0587-4C30-8999-92F81FD0307C}</a:tableStyleId>
              </a:tblPr>
              <a:tblGrid>
                <a:gridCol w="1716268">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108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9" name="Table 28"/>
          <p:cNvGraphicFramePr>
            <a:graphicFrameLocks noGrp="1"/>
          </p:cNvGraphicFramePr>
          <p:nvPr/>
        </p:nvGraphicFramePr>
        <p:xfrm>
          <a:off x="3780352" y="4980860"/>
          <a:ext cx="1691190" cy="370840"/>
        </p:xfrm>
        <a:graphic>
          <a:graphicData uri="http://schemas.openxmlformats.org/drawingml/2006/table">
            <a:tbl>
              <a:tblPr firstRow="1" bandRow="1">
                <a:tableStyleId>{2D5ABB26-0587-4C30-8999-92F81FD0307C}</a:tableStyleId>
              </a:tblPr>
              <a:tblGrid>
                <a:gridCol w="1691190">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0" name="Table 29"/>
          <p:cNvGraphicFramePr>
            <a:graphicFrameLocks noGrp="1"/>
          </p:cNvGraphicFramePr>
          <p:nvPr/>
        </p:nvGraphicFramePr>
        <p:xfrm>
          <a:off x="5604313" y="4992882"/>
          <a:ext cx="1735559" cy="370840"/>
        </p:xfrm>
        <a:graphic>
          <a:graphicData uri="http://schemas.openxmlformats.org/drawingml/2006/table">
            <a:tbl>
              <a:tblPr firstRow="1" bandRow="1">
                <a:tableStyleId>{2D5ABB26-0587-4C30-8999-92F81FD0307C}</a:tableStyleId>
              </a:tblPr>
              <a:tblGrid>
                <a:gridCol w="1735559">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204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17" name="Oval 16"/>
          <p:cNvSpPr/>
          <p:nvPr/>
        </p:nvSpPr>
        <p:spPr>
          <a:xfrm>
            <a:off x="5497184" y="5261857"/>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Oval 31"/>
          <p:cNvSpPr/>
          <p:nvPr/>
        </p:nvSpPr>
        <p:spPr>
          <a:xfrm>
            <a:off x="3676646" y="5261857"/>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Oval 32"/>
          <p:cNvSpPr/>
          <p:nvPr/>
        </p:nvSpPr>
        <p:spPr>
          <a:xfrm>
            <a:off x="1806000" y="5261857"/>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p:cNvSpPr/>
          <p:nvPr/>
        </p:nvSpPr>
        <p:spPr>
          <a:xfrm>
            <a:off x="7339873" y="1162293"/>
            <a:ext cx="4852128" cy="369331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solidFill>
                  <a:srgbClr val="666666">
                    <a:lumMod val="50000"/>
                  </a:srgbClr>
                </a:solidFill>
                <a:latin typeface="Arial" panose="020B0604020202020204"/>
              </a:rPr>
              <a:t>32 bit trong một địa chỉ IPv4 sẽ chia thành là phần mạng (network portion) và phần thiết bị đầu cuối (host portion).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0">
                <a:solidFill>
                  <a:srgbClr val="666666">
                    <a:lumMod val="50000"/>
                  </a:srgbClr>
                </a:solidFill>
                <a:latin typeface="Arial" panose="020B0604020202020204"/>
              </a:rPr>
              <a:t>Định danh một địa chỉ IP với tuân thủ các nguyên tắc sau:</a:t>
            </a:r>
          </a:p>
          <a:p>
            <a:pPr marL="742950" lvl="1" indent="-285750">
              <a:buFont typeface="Courier New" panose="02070309020205020404" pitchFamily="49" charset="0"/>
              <a:buChar char="o"/>
              <a:defRPr/>
            </a:pPr>
            <a:r>
              <a:rPr lang="en-US" noProof="0">
                <a:solidFill>
                  <a:srgbClr val="666666">
                    <a:lumMod val="50000"/>
                  </a:srgbClr>
                </a:solidFill>
                <a:latin typeface="Arial" panose="020B0604020202020204"/>
              </a:rPr>
              <a:t>Trường hợp tất cả các bit phần host đồng thời bằng 0, </a:t>
            </a:r>
            <a:r>
              <a:rPr lang="en-US" b="1" noProof="0">
                <a:solidFill>
                  <a:srgbClr val="666666">
                    <a:lumMod val="50000"/>
                  </a:srgbClr>
                </a:solidFill>
                <a:latin typeface="Arial" panose="020B0604020202020204"/>
              </a:rPr>
              <a:t>địa chỉ đó dùng định danh cho địa chỉ mạng</a:t>
            </a:r>
          </a:p>
          <a:p>
            <a:pPr marL="742950" lvl="1" indent="-285750">
              <a:buFont typeface="Courier New" panose="02070309020205020404" pitchFamily="49" charset="0"/>
              <a:buChar char="o"/>
              <a:defRPr/>
            </a:pPr>
            <a:r>
              <a:rPr lang="en-US">
                <a:solidFill>
                  <a:srgbClr val="666666">
                    <a:lumMod val="50000"/>
                  </a:srgbClr>
                </a:solidFill>
              </a:rPr>
              <a:t>Trường hợp tất cả các bit phần host đồng thời bằng 1, </a:t>
            </a:r>
            <a:r>
              <a:rPr lang="en-US" b="1">
                <a:solidFill>
                  <a:srgbClr val="666666">
                    <a:lumMod val="50000"/>
                  </a:srgbClr>
                </a:solidFill>
              </a:rPr>
              <a:t>địa chỉ đó dùng định danh cho địa chỉ broadcast</a:t>
            </a:r>
          </a:p>
          <a:p>
            <a:pPr marL="742950" lvl="1" indent="-285750">
              <a:buFont typeface="Courier New" panose="02070309020205020404" pitchFamily="49" charset="0"/>
              <a:buChar char="o"/>
              <a:defRPr/>
            </a:pPr>
            <a:endParaRPr lang="en-US" noProof="0">
              <a:solidFill>
                <a:srgbClr val="666666">
                  <a:lumMod val="50000"/>
                </a:srgbClr>
              </a:solidFill>
              <a:latin typeface="Arial" panose="020B0604020202020204"/>
            </a:endParaRP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24452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8" y="951041"/>
            <a:ext cx="658061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dirty="0">
                <a:ln>
                  <a:noFill/>
                </a:ln>
                <a:solidFill>
                  <a:srgbClr val="FFC000"/>
                </a:solidFill>
                <a:effectLst/>
                <a:uLnTx/>
                <a:uFillTx/>
                <a:cs typeface="Helvetica World" panose="020B0500040000020004" pitchFamily="34" charset="0"/>
              </a:rPr>
              <a:t>BÀI TẬP</a:t>
            </a:r>
            <a:endParaRPr kumimoji="0" lang="en-US" sz="1800" b="1" i="0" u="none" strike="noStrike" kern="1200" cap="none" spc="0" normalizeH="0" baseline="0" noProof="0" dirty="0">
              <a:ln>
                <a:noFill/>
              </a:ln>
              <a:solidFill>
                <a:srgbClr val="FFC000"/>
              </a:solidFill>
              <a:effectLst/>
              <a:uLnTx/>
              <a:uFillTx/>
              <a:cs typeface="Helvetica World" panose="020B0500040000020004" pitchFamily="34" charset="0"/>
            </a:endParaRPr>
          </a:p>
        </p:txBody>
      </p:sp>
      <p:pic>
        <p:nvPicPr>
          <p:cNvPr id="3" name="Picture 2">
            <a:extLst>
              <a:ext uri="{FF2B5EF4-FFF2-40B4-BE49-F238E27FC236}">
                <a16:creationId xmlns:a16="http://schemas.microsoft.com/office/drawing/2014/main" id="{0B68A119-BF13-4BA2-A3C1-0AA31B40B8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931" y="1958212"/>
            <a:ext cx="8965096" cy="3438736"/>
          </a:xfrm>
          <a:prstGeom prst="rect">
            <a:avLst/>
          </a:prstGeom>
        </p:spPr>
      </p:pic>
    </p:spTree>
    <p:extLst>
      <p:ext uri="{BB962C8B-B14F-4D97-AF65-F5344CB8AC3E}">
        <p14:creationId xmlns:p14="http://schemas.microsoft.com/office/powerpoint/2010/main" val="3925586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cs typeface="Helvetica World" panose="020B0500040000020004" pitchFamily="34" charset="0"/>
              </a:rPr>
              <a:t>MẶT NẠ ĐỊA CHỈ IPv4 (IPv4 ADDRESS MASK)</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3549273831"/>
              </p:ext>
            </p:extLst>
          </p:nvPr>
        </p:nvGraphicFramePr>
        <p:xfrm>
          <a:off x="87446" y="2751659"/>
          <a:ext cx="1683473" cy="370840"/>
        </p:xfrm>
        <a:graphic>
          <a:graphicData uri="http://schemas.openxmlformats.org/drawingml/2006/table">
            <a:tbl>
              <a:tblPr firstRow="1" bandRow="1">
                <a:tableStyleId>{2D5ABB26-0587-4C30-8999-92F81FD0307C}</a:tableStyleId>
              </a:tblPr>
              <a:tblGrid>
                <a:gridCol w="1683473">
                  <a:extLst>
                    <a:ext uri="{9D8B030D-6E8A-4147-A177-3AD203B41FA5}">
                      <a16:colId xmlns:a16="http://schemas.microsoft.com/office/drawing/2014/main" val="1091541952"/>
                    </a:ext>
                  </a:extLst>
                </a:gridCol>
              </a:tblGrid>
              <a:tr h="370840">
                <a:tc>
                  <a:txBody>
                    <a:bodyPr/>
                    <a:lstStyle/>
                    <a:p>
                      <a:r>
                        <a:rPr lang="en-US" b="1" dirty="0">
                          <a:solidFill>
                            <a:schemeClr val="tx1">
                              <a:lumMod val="50000"/>
                            </a:schemeClr>
                          </a:solidFill>
                        </a:rPr>
                        <a:t>1 0 0 0 0 0 1 1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418841600"/>
              </p:ext>
            </p:extLst>
          </p:nvPr>
        </p:nvGraphicFramePr>
        <p:xfrm>
          <a:off x="1840369" y="2753142"/>
          <a:ext cx="1716268" cy="370840"/>
        </p:xfrm>
        <a:graphic>
          <a:graphicData uri="http://schemas.openxmlformats.org/drawingml/2006/table">
            <a:tbl>
              <a:tblPr firstRow="1" bandRow="1">
                <a:tableStyleId>{2D5ABB26-0587-4C30-8999-92F81FD0307C}</a:tableStyleId>
              </a:tblPr>
              <a:tblGrid>
                <a:gridCol w="1716268">
                  <a:extLst>
                    <a:ext uri="{9D8B030D-6E8A-4147-A177-3AD203B41FA5}">
                      <a16:colId xmlns:a16="http://schemas.microsoft.com/office/drawing/2014/main" val="1091541952"/>
                    </a:ext>
                  </a:extLst>
                </a:gridCol>
              </a:tblGrid>
              <a:tr h="370840">
                <a:tc>
                  <a:txBody>
                    <a:bodyPr/>
                    <a:lstStyle/>
                    <a:p>
                      <a:r>
                        <a:rPr lang="en-US" b="1" dirty="0">
                          <a:solidFill>
                            <a:schemeClr val="tx1">
                              <a:lumMod val="50000"/>
                            </a:schemeClr>
                          </a:solidFill>
                        </a:rPr>
                        <a:t>0 1 1 0 1 1 0 0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867063970"/>
              </p:ext>
            </p:extLst>
          </p:nvPr>
        </p:nvGraphicFramePr>
        <p:xfrm>
          <a:off x="3617753" y="2753142"/>
          <a:ext cx="1691190" cy="370840"/>
        </p:xfrm>
        <a:graphic>
          <a:graphicData uri="http://schemas.openxmlformats.org/drawingml/2006/table">
            <a:tbl>
              <a:tblPr firstRow="1" bandRow="1">
                <a:tableStyleId>{2D5ABB26-0587-4C30-8999-92F81FD0307C}</a:tableStyleId>
              </a:tblPr>
              <a:tblGrid>
                <a:gridCol w="1691190">
                  <a:extLst>
                    <a:ext uri="{9D8B030D-6E8A-4147-A177-3AD203B41FA5}">
                      <a16:colId xmlns:a16="http://schemas.microsoft.com/office/drawing/2014/main" val="1091541952"/>
                    </a:ext>
                  </a:extLst>
                </a:gridCol>
              </a:tblGrid>
              <a:tr h="370840">
                <a:tc>
                  <a:txBody>
                    <a:bodyPr/>
                    <a:lstStyle/>
                    <a:p>
                      <a:r>
                        <a:rPr lang="en-US" b="1" dirty="0">
                          <a:solidFill>
                            <a:schemeClr val="tx1">
                              <a:lumMod val="50000"/>
                            </a:schemeClr>
                          </a:solidFill>
                        </a:rPr>
                        <a:t>0 1 1 1 1 0 1 0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3600330978"/>
              </p:ext>
            </p:extLst>
          </p:nvPr>
        </p:nvGraphicFramePr>
        <p:xfrm>
          <a:off x="5358484" y="2749393"/>
          <a:ext cx="1735559" cy="370840"/>
        </p:xfrm>
        <a:graphic>
          <a:graphicData uri="http://schemas.openxmlformats.org/drawingml/2006/table">
            <a:tbl>
              <a:tblPr firstRow="1" bandRow="1">
                <a:tableStyleId>{2D5ABB26-0587-4C30-8999-92F81FD0307C}</a:tableStyleId>
              </a:tblPr>
              <a:tblGrid>
                <a:gridCol w="1735559">
                  <a:extLst>
                    <a:ext uri="{9D8B030D-6E8A-4147-A177-3AD203B41FA5}">
                      <a16:colId xmlns:a16="http://schemas.microsoft.com/office/drawing/2014/main" val="1091541952"/>
                    </a:ext>
                  </a:extLst>
                </a:gridCol>
              </a:tblGrid>
              <a:tr h="370840">
                <a:tc>
                  <a:txBody>
                    <a:bodyPr/>
                    <a:lstStyle/>
                    <a:p>
                      <a:r>
                        <a:rPr lang="en-US" b="1" dirty="0">
                          <a:solidFill>
                            <a:schemeClr val="tx1">
                              <a:lumMod val="50000"/>
                            </a:schemeClr>
                          </a:solidFill>
                        </a:rPr>
                        <a:t>1 1 0 0 1 1 0 0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26" name="TextBox 25"/>
          <p:cNvSpPr txBox="1"/>
          <p:nvPr/>
        </p:nvSpPr>
        <p:spPr>
          <a:xfrm>
            <a:off x="5881917" y="3206327"/>
            <a:ext cx="6848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00B050"/>
                </a:solidFill>
                <a:latin typeface="Arial" panose="020B0604020202020204"/>
              </a:rPr>
              <a:t>AND</a:t>
            </a:r>
            <a:endParaRPr kumimoji="0" lang="en-US" sz="1800" b="1" i="0" u="none" strike="noStrike" kern="1200" cap="none" spc="0" normalizeH="0" baseline="0" noProof="0">
              <a:ln>
                <a:noFill/>
              </a:ln>
              <a:solidFill>
                <a:srgbClr val="00B050"/>
              </a:solidFill>
              <a:effectLst/>
              <a:uLnTx/>
              <a:uFillTx/>
              <a:latin typeface="Arial" panose="020B0604020202020204"/>
            </a:endParaRPr>
          </a:p>
        </p:txBody>
      </p:sp>
      <p:graphicFrame>
        <p:nvGraphicFramePr>
          <p:cNvPr id="27" name="Table 26"/>
          <p:cNvGraphicFramePr>
            <a:graphicFrameLocks noGrp="1"/>
          </p:cNvGraphicFramePr>
          <p:nvPr>
            <p:extLst>
              <p:ext uri="{D42A27DB-BD31-4B8C-83A1-F6EECF244321}">
                <p14:modId xmlns:p14="http://schemas.microsoft.com/office/powerpoint/2010/main" val="3372450987"/>
              </p:ext>
            </p:extLst>
          </p:nvPr>
        </p:nvGraphicFramePr>
        <p:xfrm>
          <a:off x="90089" y="4845390"/>
          <a:ext cx="1683473" cy="370840"/>
        </p:xfrm>
        <a:graphic>
          <a:graphicData uri="http://schemas.openxmlformats.org/drawingml/2006/table">
            <a:tbl>
              <a:tblPr firstRow="1" bandRow="1">
                <a:tableStyleId>{2D5ABB26-0587-4C30-8999-92F81FD0307C}</a:tableStyleId>
              </a:tblPr>
              <a:tblGrid>
                <a:gridCol w="1683473">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1 0 0 0 0 0 1 1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730695027"/>
              </p:ext>
            </p:extLst>
          </p:nvPr>
        </p:nvGraphicFramePr>
        <p:xfrm>
          <a:off x="1859831" y="4841641"/>
          <a:ext cx="1716268" cy="370840"/>
        </p:xfrm>
        <a:graphic>
          <a:graphicData uri="http://schemas.openxmlformats.org/drawingml/2006/table">
            <a:tbl>
              <a:tblPr firstRow="1" bandRow="1">
                <a:tableStyleId>{2D5ABB26-0587-4C30-8999-92F81FD0307C}</a:tableStyleId>
              </a:tblPr>
              <a:tblGrid>
                <a:gridCol w="1716268">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0 1 1 0 1 1 0 0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3828606574"/>
              </p:ext>
            </p:extLst>
          </p:nvPr>
        </p:nvGraphicFramePr>
        <p:xfrm>
          <a:off x="3691864" y="4845390"/>
          <a:ext cx="1691190" cy="370840"/>
        </p:xfrm>
        <a:graphic>
          <a:graphicData uri="http://schemas.openxmlformats.org/drawingml/2006/table">
            <a:tbl>
              <a:tblPr firstRow="1" bandRow="1">
                <a:tableStyleId>{2D5ABB26-0587-4C30-8999-92F81FD0307C}</a:tableStyleId>
              </a:tblPr>
              <a:tblGrid>
                <a:gridCol w="1691190">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0 0 0 0 0 0 0 0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2739842109"/>
              </p:ext>
            </p:extLst>
          </p:nvPr>
        </p:nvGraphicFramePr>
        <p:xfrm>
          <a:off x="5471581" y="4842664"/>
          <a:ext cx="1670474" cy="370840"/>
        </p:xfrm>
        <a:graphic>
          <a:graphicData uri="http://schemas.openxmlformats.org/drawingml/2006/table">
            <a:tbl>
              <a:tblPr firstRow="1" bandRow="1">
                <a:tableStyleId>{2D5ABB26-0587-4C30-8999-92F81FD0307C}</a:tableStyleId>
              </a:tblPr>
              <a:tblGrid>
                <a:gridCol w="1670474">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0 0 0 0 0 0 0 0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17" name="Oval 16"/>
          <p:cNvSpPr/>
          <p:nvPr/>
        </p:nvSpPr>
        <p:spPr>
          <a:xfrm>
            <a:off x="5393948" y="5126387"/>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Oval 31"/>
          <p:cNvSpPr/>
          <p:nvPr/>
        </p:nvSpPr>
        <p:spPr>
          <a:xfrm>
            <a:off x="3588158" y="5126387"/>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Oval 32"/>
          <p:cNvSpPr/>
          <p:nvPr/>
        </p:nvSpPr>
        <p:spPr>
          <a:xfrm>
            <a:off x="1776504" y="5126387"/>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31" name="Table 30"/>
          <p:cNvGraphicFramePr>
            <a:graphicFrameLocks noGrp="1"/>
          </p:cNvGraphicFramePr>
          <p:nvPr>
            <p:extLst>
              <p:ext uri="{D42A27DB-BD31-4B8C-83A1-F6EECF244321}">
                <p14:modId xmlns:p14="http://schemas.microsoft.com/office/powerpoint/2010/main" val="3275035589"/>
              </p:ext>
            </p:extLst>
          </p:nvPr>
        </p:nvGraphicFramePr>
        <p:xfrm>
          <a:off x="121315" y="3682992"/>
          <a:ext cx="1683473" cy="370840"/>
        </p:xfrm>
        <a:graphic>
          <a:graphicData uri="http://schemas.openxmlformats.org/drawingml/2006/table">
            <a:tbl>
              <a:tblPr firstRow="1" bandRow="1">
                <a:tableStyleId>{2D5ABB26-0587-4C30-8999-92F81FD0307C}</a:tableStyleId>
              </a:tblPr>
              <a:tblGrid>
                <a:gridCol w="1683473">
                  <a:extLst>
                    <a:ext uri="{9D8B030D-6E8A-4147-A177-3AD203B41FA5}">
                      <a16:colId xmlns:a16="http://schemas.microsoft.com/office/drawing/2014/main" val="1091541952"/>
                    </a:ext>
                  </a:extLst>
                </a:gridCol>
              </a:tblGrid>
              <a:tr h="370840">
                <a:tc>
                  <a:txBody>
                    <a:bodyPr/>
                    <a:lstStyle/>
                    <a:p>
                      <a:r>
                        <a:rPr lang="en-US" b="1" dirty="0">
                          <a:solidFill>
                            <a:schemeClr val="tx1">
                              <a:lumMod val="50000"/>
                            </a:schemeClr>
                          </a:solidFill>
                        </a:rPr>
                        <a:t>1 1 1 1 1 1 1 1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611035551"/>
              </p:ext>
            </p:extLst>
          </p:nvPr>
        </p:nvGraphicFramePr>
        <p:xfrm>
          <a:off x="1874238" y="3684475"/>
          <a:ext cx="1716268" cy="370840"/>
        </p:xfrm>
        <a:graphic>
          <a:graphicData uri="http://schemas.openxmlformats.org/drawingml/2006/table">
            <a:tbl>
              <a:tblPr firstRow="1" bandRow="1">
                <a:tableStyleId>{2D5ABB26-0587-4C30-8999-92F81FD0307C}</a:tableStyleId>
              </a:tblPr>
              <a:tblGrid>
                <a:gridCol w="1716268">
                  <a:extLst>
                    <a:ext uri="{9D8B030D-6E8A-4147-A177-3AD203B41FA5}">
                      <a16:colId xmlns:a16="http://schemas.microsoft.com/office/drawing/2014/main" val="1091541952"/>
                    </a:ext>
                  </a:extLst>
                </a:gridCol>
              </a:tblGrid>
              <a:tr h="370840">
                <a:tc>
                  <a:txBody>
                    <a:bodyPr/>
                    <a:lstStyle/>
                    <a:p>
                      <a:r>
                        <a:rPr lang="en-US" b="1" dirty="0">
                          <a:solidFill>
                            <a:schemeClr val="tx1">
                              <a:lumMod val="50000"/>
                            </a:schemeClr>
                          </a:solidFill>
                        </a:rPr>
                        <a:t>1 1 1 1 1 1 1 1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970372947"/>
              </p:ext>
            </p:extLst>
          </p:nvPr>
        </p:nvGraphicFramePr>
        <p:xfrm>
          <a:off x="3651622" y="3684475"/>
          <a:ext cx="1691190" cy="370840"/>
        </p:xfrm>
        <a:graphic>
          <a:graphicData uri="http://schemas.openxmlformats.org/drawingml/2006/table">
            <a:tbl>
              <a:tblPr firstRow="1" bandRow="1">
                <a:tableStyleId>{2D5ABB26-0587-4C30-8999-92F81FD0307C}</a:tableStyleId>
              </a:tblPr>
              <a:tblGrid>
                <a:gridCol w="1691190">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0 0 0 0 0 0 0 0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329665596"/>
              </p:ext>
            </p:extLst>
          </p:nvPr>
        </p:nvGraphicFramePr>
        <p:xfrm>
          <a:off x="5392353" y="3680726"/>
          <a:ext cx="1735559" cy="370840"/>
        </p:xfrm>
        <a:graphic>
          <a:graphicData uri="http://schemas.openxmlformats.org/drawingml/2006/table">
            <a:tbl>
              <a:tblPr firstRow="1" bandRow="1">
                <a:tableStyleId>{2D5ABB26-0587-4C30-8999-92F81FD0307C}</a:tableStyleId>
              </a:tblPr>
              <a:tblGrid>
                <a:gridCol w="1735559">
                  <a:extLst>
                    <a:ext uri="{9D8B030D-6E8A-4147-A177-3AD203B41FA5}">
                      <a16:colId xmlns:a16="http://schemas.microsoft.com/office/drawing/2014/main" val="1091541952"/>
                    </a:ext>
                  </a:extLst>
                </a:gridCol>
              </a:tblGrid>
              <a:tr h="370840">
                <a:tc>
                  <a:txBody>
                    <a:bodyPr/>
                    <a:lstStyle/>
                    <a:p>
                      <a:r>
                        <a:rPr lang="en-US" b="1">
                          <a:solidFill>
                            <a:schemeClr val="tx1">
                              <a:lumMod val="50000"/>
                            </a:schemeClr>
                          </a:solidFill>
                        </a:rPr>
                        <a:t>0 0 0 0 0 0 0 0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1468834025"/>
              </p:ext>
            </p:extLst>
          </p:nvPr>
        </p:nvGraphicFramePr>
        <p:xfrm>
          <a:off x="73159" y="5471923"/>
          <a:ext cx="1683473" cy="370840"/>
        </p:xfrm>
        <a:graphic>
          <a:graphicData uri="http://schemas.openxmlformats.org/drawingml/2006/table">
            <a:tbl>
              <a:tblPr firstRow="1" bandRow="1">
                <a:tableStyleId>{2D5ABB26-0587-4C30-8999-92F81FD0307C}</a:tableStyleId>
              </a:tblPr>
              <a:tblGrid>
                <a:gridCol w="1683473">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131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4089598471"/>
              </p:ext>
            </p:extLst>
          </p:nvPr>
        </p:nvGraphicFramePr>
        <p:xfrm>
          <a:off x="1901893" y="5468174"/>
          <a:ext cx="1716268" cy="370840"/>
        </p:xfrm>
        <a:graphic>
          <a:graphicData uri="http://schemas.openxmlformats.org/drawingml/2006/table">
            <a:tbl>
              <a:tblPr firstRow="1" bandRow="1">
                <a:tableStyleId>{2D5ABB26-0587-4C30-8999-92F81FD0307C}</a:tableStyleId>
              </a:tblPr>
              <a:tblGrid>
                <a:gridCol w="1716268">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108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39" name="Table 38"/>
          <p:cNvGraphicFramePr>
            <a:graphicFrameLocks noGrp="1"/>
          </p:cNvGraphicFramePr>
          <p:nvPr>
            <p:extLst>
              <p:ext uri="{D42A27DB-BD31-4B8C-83A1-F6EECF244321}">
                <p14:modId xmlns:p14="http://schemas.microsoft.com/office/powerpoint/2010/main" val="3092697248"/>
              </p:ext>
            </p:extLst>
          </p:nvPr>
        </p:nvGraphicFramePr>
        <p:xfrm>
          <a:off x="3763422" y="5471923"/>
          <a:ext cx="1691190" cy="370840"/>
        </p:xfrm>
        <a:graphic>
          <a:graphicData uri="http://schemas.openxmlformats.org/drawingml/2006/table">
            <a:tbl>
              <a:tblPr firstRow="1" bandRow="1">
                <a:tableStyleId>{2D5ABB26-0587-4C30-8999-92F81FD0307C}</a:tableStyleId>
              </a:tblPr>
              <a:tblGrid>
                <a:gridCol w="1691190">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3065857200"/>
              </p:ext>
            </p:extLst>
          </p:nvPr>
        </p:nvGraphicFramePr>
        <p:xfrm>
          <a:off x="5587383" y="5483945"/>
          <a:ext cx="1540529" cy="370840"/>
        </p:xfrm>
        <a:graphic>
          <a:graphicData uri="http://schemas.openxmlformats.org/drawingml/2006/table">
            <a:tbl>
              <a:tblPr firstRow="1" bandRow="1">
                <a:tableStyleId>{2D5ABB26-0587-4C30-8999-92F81FD0307C}</a:tableStyleId>
              </a:tblPr>
              <a:tblGrid>
                <a:gridCol w="1540529">
                  <a:extLst>
                    <a:ext uri="{9D8B030D-6E8A-4147-A177-3AD203B41FA5}">
                      <a16:colId xmlns:a16="http://schemas.microsoft.com/office/drawing/2014/main" val="1091541952"/>
                    </a:ext>
                  </a:extLst>
                </a:gridCol>
              </a:tblGrid>
              <a:tr h="370840">
                <a:tc>
                  <a:txBody>
                    <a:bodyPr/>
                    <a:lstStyle/>
                    <a:p>
                      <a:pPr algn="ctr"/>
                      <a:r>
                        <a:rPr lang="en-US" b="1">
                          <a:solidFill>
                            <a:schemeClr val="tx1">
                              <a:lumMod val="50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41" name="Oval 40"/>
          <p:cNvSpPr/>
          <p:nvPr/>
        </p:nvSpPr>
        <p:spPr>
          <a:xfrm>
            <a:off x="5480254" y="5752920"/>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Oval 41"/>
          <p:cNvSpPr/>
          <p:nvPr/>
        </p:nvSpPr>
        <p:spPr>
          <a:xfrm>
            <a:off x="3659716" y="5752920"/>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Oval 42"/>
          <p:cNvSpPr/>
          <p:nvPr/>
        </p:nvSpPr>
        <p:spPr>
          <a:xfrm>
            <a:off x="1789070" y="5752920"/>
            <a:ext cx="65574" cy="8609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 name="Straight Connector 2"/>
          <p:cNvCxnSpPr/>
          <p:nvPr/>
        </p:nvCxnSpPr>
        <p:spPr>
          <a:xfrm>
            <a:off x="121315" y="4409768"/>
            <a:ext cx="720162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7703" y="1637071"/>
            <a:ext cx="3687097" cy="646331"/>
          </a:xfrm>
          <a:prstGeom prst="rect">
            <a:avLst/>
          </a:prstGeom>
          <a:noFill/>
        </p:spPr>
        <p:txBody>
          <a:bodyPr wrap="square" rtlCol="0">
            <a:spAutoFit/>
          </a:bodyPr>
          <a:lstStyle/>
          <a:p>
            <a:r>
              <a:rPr lang="en-US" dirty="0" err="1"/>
              <a:t>Địa</a:t>
            </a:r>
            <a:r>
              <a:rPr lang="en-US" dirty="0"/>
              <a:t> </a:t>
            </a:r>
            <a:r>
              <a:rPr lang="en-US" dirty="0" err="1"/>
              <a:t>chỉ</a:t>
            </a:r>
            <a:r>
              <a:rPr lang="en-US" dirty="0"/>
              <a:t> IPv4:       131.108.102.204</a:t>
            </a:r>
          </a:p>
          <a:p>
            <a:r>
              <a:rPr lang="en-US" dirty="0" err="1"/>
              <a:t>Mặt</a:t>
            </a:r>
            <a:r>
              <a:rPr lang="en-US" dirty="0"/>
              <a:t> </a:t>
            </a:r>
            <a:r>
              <a:rPr lang="en-US" dirty="0" err="1"/>
              <a:t>nạ</a:t>
            </a:r>
            <a:r>
              <a:rPr lang="en-US" dirty="0"/>
              <a:t>:                255.255.0.0</a:t>
            </a:r>
          </a:p>
        </p:txBody>
      </p:sp>
      <p:sp>
        <p:nvSpPr>
          <p:cNvPr id="7" name="TextBox 6"/>
          <p:cNvSpPr txBox="1"/>
          <p:nvPr/>
        </p:nvSpPr>
        <p:spPr>
          <a:xfrm>
            <a:off x="7322943" y="1330328"/>
            <a:ext cx="4795318" cy="5078313"/>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err="1"/>
              <a:t>Cấu</a:t>
            </a:r>
            <a:r>
              <a:rPr lang="en-US" dirty="0"/>
              <a:t> </a:t>
            </a:r>
            <a:r>
              <a:rPr lang="en-US" dirty="0" err="1"/>
              <a:t>trúc</a:t>
            </a:r>
            <a:r>
              <a:rPr lang="en-US" dirty="0"/>
              <a:t> </a:t>
            </a:r>
            <a:r>
              <a:rPr lang="en-US" dirty="0" err="1"/>
              <a:t>của</a:t>
            </a:r>
            <a:r>
              <a:rPr lang="en-US" dirty="0"/>
              <a:t> </a:t>
            </a:r>
            <a:r>
              <a:rPr lang="en-US" dirty="0" err="1"/>
              <a:t>một</a:t>
            </a:r>
            <a:r>
              <a:rPr lang="en-US" dirty="0"/>
              <a:t> </a:t>
            </a:r>
            <a:r>
              <a:rPr lang="en-US" dirty="0" err="1"/>
              <a:t>mặt</a:t>
            </a:r>
            <a:r>
              <a:rPr lang="en-US" dirty="0"/>
              <a:t> </a:t>
            </a:r>
            <a:r>
              <a:rPr lang="en-US" dirty="0" err="1"/>
              <a:t>nạ</a:t>
            </a:r>
            <a:r>
              <a:rPr lang="en-US" dirty="0"/>
              <a:t> </a:t>
            </a:r>
            <a:r>
              <a:rPr lang="en-US" dirty="0" err="1"/>
              <a:t>địa</a:t>
            </a:r>
            <a:r>
              <a:rPr lang="en-US" dirty="0"/>
              <a:t> </a:t>
            </a:r>
            <a:r>
              <a:rPr lang="en-US" dirty="0" err="1"/>
              <a:t>chỉ</a:t>
            </a:r>
            <a:r>
              <a:rPr lang="en-US" dirty="0"/>
              <a:t> (address mask) </a:t>
            </a:r>
            <a:r>
              <a:rPr lang="en-US" dirty="0" err="1"/>
              <a:t>và</a:t>
            </a:r>
            <a:r>
              <a:rPr lang="en-US" dirty="0"/>
              <a:t> </a:t>
            </a:r>
            <a:r>
              <a:rPr lang="en-US" dirty="0" err="1"/>
              <a:t>một</a:t>
            </a:r>
            <a:r>
              <a:rPr lang="en-US" dirty="0"/>
              <a:t> </a:t>
            </a:r>
            <a:r>
              <a:rPr lang="en-US" dirty="0" err="1"/>
              <a:t>địa</a:t>
            </a:r>
            <a:r>
              <a:rPr lang="en-US" dirty="0"/>
              <a:t> </a:t>
            </a:r>
            <a:r>
              <a:rPr lang="en-US" dirty="0" err="1"/>
              <a:t>chỉ</a:t>
            </a:r>
            <a:r>
              <a:rPr lang="en-US" dirty="0"/>
              <a:t> IPv4 </a:t>
            </a:r>
            <a:r>
              <a:rPr lang="en-US" dirty="0" err="1"/>
              <a:t>là</a:t>
            </a:r>
            <a:r>
              <a:rPr lang="en-US" dirty="0"/>
              <a:t> </a:t>
            </a:r>
            <a:r>
              <a:rPr lang="en-US" dirty="0" err="1"/>
              <a:t>tương</a:t>
            </a:r>
            <a:r>
              <a:rPr lang="en-US" dirty="0"/>
              <a:t> </a:t>
            </a:r>
            <a:r>
              <a:rPr lang="en-US" dirty="0" err="1"/>
              <a:t>tự</a:t>
            </a:r>
            <a:r>
              <a:rPr lang="en-US" dirty="0"/>
              <a:t> </a:t>
            </a:r>
            <a:r>
              <a:rPr lang="en-US" dirty="0" err="1"/>
              <a:t>nhau</a:t>
            </a:r>
            <a:r>
              <a:rPr lang="en-US" dirty="0"/>
              <a:t> (32 bit, chia </a:t>
            </a:r>
            <a:r>
              <a:rPr lang="en-US" dirty="0" err="1"/>
              <a:t>thành</a:t>
            </a:r>
            <a:r>
              <a:rPr lang="en-US" dirty="0"/>
              <a:t> 4 octet).</a:t>
            </a:r>
          </a:p>
          <a:p>
            <a:pPr marL="285750" indent="-285750">
              <a:buFont typeface="Arial" panose="020B0604020202020204" pitchFamily="34" charset="0"/>
              <a:buChar char="•"/>
            </a:pPr>
            <a:r>
              <a:rPr lang="en-US" dirty="0" err="1"/>
              <a:t>Cách</a:t>
            </a:r>
            <a:r>
              <a:rPr lang="en-US" dirty="0"/>
              <a:t> </a:t>
            </a:r>
            <a:r>
              <a:rPr lang="en-US" dirty="0" err="1"/>
              <a:t>viết</a:t>
            </a:r>
            <a:r>
              <a:rPr lang="en-US" dirty="0"/>
              <a:t> </a:t>
            </a:r>
            <a:r>
              <a:rPr lang="en-US" dirty="0" err="1"/>
              <a:t>mặt</a:t>
            </a:r>
            <a:r>
              <a:rPr lang="en-US" dirty="0"/>
              <a:t> </a:t>
            </a:r>
            <a:r>
              <a:rPr lang="en-US" dirty="0" err="1"/>
              <a:t>nạ</a:t>
            </a:r>
            <a:r>
              <a:rPr lang="en-US" dirty="0"/>
              <a:t> </a:t>
            </a:r>
            <a:r>
              <a:rPr lang="en-US" dirty="0" err="1"/>
              <a:t>phải</a:t>
            </a:r>
            <a:r>
              <a:rPr lang="en-US" dirty="0"/>
              <a:t> </a:t>
            </a:r>
            <a:r>
              <a:rPr lang="en-US" dirty="0" err="1"/>
              <a:t>tuân</a:t>
            </a:r>
            <a:r>
              <a:rPr lang="en-US" dirty="0"/>
              <a:t> </a:t>
            </a:r>
            <a:r>
              <a:rPr lang="en-US" dirty="0" err="1"/>
              <a:t>thủ</a:t>
            </a:r>
            <a:r>
              <a:rPr lang="en-US" dirty="0"/>
              <a:t> </a:t>
            </a:r>
            <a:r>
              <a:rPr lang="en-US" dirty="0" err="1"/>
              <a:t>các</a:t>
            </a:r>
            <a:r>
              <a:rPr lang="en-US" dirty="0"/>
              <a:t> </a:t>
            </a:r>
            <a:r>
              <a:rPr lang="en-US" dirty="0" err="1"/>
              <a:t>quy</a:t>
            </a:r>
            <a:r>
              <a:rPr lang="en-US" dirty="0"/>
              <a:t> </a:t>
            </a:r>
            <a:r>
              <a:rPr lang="en-US" dirty="0" err="1"/>
              <a:t>tắc</a:t>
            </a:r>
            <a:r>
              <a:rPr lang="en-US" dirty="0"/>
              <a:t> </a:t>
            </a:r>
            <a:r>
              <a:rPr lang="en-US" dirty="0" err="1"/>
              <a:t>sau</a:t>
            </a:r>
            <a:r>
              <a:rPr lang="en-US" dirty="0"/>
              <a:t>:</a:t>
            </a:r>
          </a:p>
          <a:p>
            <a:pPr marL="742950" lvl="1" indent="-285750">
              <a:buFont typeface="Courier New" panose="02070309020205020404" pitchFamily="49" charset="0"/>
              <a:buChar char="o"/>
            </a:pPr>
            <a:r>
              <a:rPr lang="en-US" dirty="0"/>
              <a:t>Các bit </a:t>
            </a:r>
            <a:r>
              <a:rPr lang="en-US" b="1" dirty="0"/>
              <a:t>1</a:t>
            </a:r>
            <a:r>
              <a:rPr lang="en-US" dirty="0"/>
              <a:t> </a:t>
            </a:r>
            <a:r>
              <a:rPr lang="en-US" dirty="0" err="1"/>
              <a:t>được</a:t>
            </a:r>
            <a:r>
              <a:rPr lang="en-US" dirty="0"/>
              <a:t> </a:t>
            </a:r>
            <a:r>
              <a:rPr lang="en-US" dirty="0" err="1"/>
              <a:t>viết</a:t>
            </a:r>
            <a:r>
              <a:rPr lang="en-US" dirty="0"/>
              <a:t> </a:t>
            </a:r>
            <a:r>
              <a:rPr lang="en-US" dirty="0" err="1"/>
              <a:t>trước</a:t>
            </a:r>
            <a:r>
              <a:rPr lang="en-US" dirty="0"/>
              <a:t>, </a:t>
            </a:r>
            <a:r>
              <a:rPr lang="en-US" dirty="0" err="1"/>
              <a:t>các</a:t>
            </a:r>
            <a:r>
              <a:rPr lang="en-US" dirty="0"/>
              <a:t> bit </a:t>
            </a:r>
            <a:r>
              <a:rPr lang="en-US" b="1" dirty="0"/>
              <a:t>0</a:t>
            </a:r>
            <a:r>
              <a:rPr lang="en-US" dirty="0"/>
              <a:t> </a:t>
            </a:r>
            <a:r>
              <a:rPr lang="en-US" dirty="0" err="1"/>
              <a:t>viết</a:t>
            </a:r>
            <a:r>
              <a:rPr lang="en-US" dirty="0"/>
              <a:t> </a:t>
            </a:r>
            <a:r>
              <a:rPr lang="en-US" dirty="0" err="1"/>
              <a:t>sau</a:t>
            </a:r>
            <a:endParaRPr lang="en-US" dirty="0"/>
          </a:p>
          <a:p>
            <a:pPr marL="742950" lvl="1" indent="-285750">
              <a:buFont typeface="Courier New" panose="02070309020205020404" pitchFamily="49" charset="0"/>
              <a:buChar char="o"/>
            </a:pPr>
            <a:r>
              <a:rPr lang="en-US" dirty="0" err="1"/>
              <a:t>Nếu</a:t>
            </a:r>
            <a:r>
              <a:rPr lang="en-US" dirty="0"/>
              <a:t> </a:t>
            </a:r>
            <a:r>
              <a:rPr lang="en-US" dirty="0" err="1"/>
              <a:t>một</a:t>
            </a:r>
            <a:r>
              <a:rPr lang="en-US" dirty="0"/>
              <a:t> bit </a:t>
            </a:r>
            <a:r>
              <a:rPr lang="en-US" dirty="0" err="1"/>
              <a:t>trong</a:t>
            </a:r>
            <a:r>
              <a:rPr lang="en-US" dirty="0"/>
              <a:t> </a:t>
            </a:r>
            <a:r>
              <a:rPr lang="en-US" dirty="0" err="1"/>
              <a:t>mặt</a:t>
            </a:r>
            <a:r>
              <a:rPr lang="en-US" dirty="0"/>
              <a:t> </a:t>
            </a:r>
            <a:r>
              <a:rPr lang="en-US" dirty="0" err="1"/>
              <a:t>nạ</a:t>
            </a:r>
            <a:r>
              <a:rPr lang="en-US" dirty="0"/>
              <a:t> </a:t>
            </a:r>
            <a:r>
              <a:rPr lang="en-US" dirty="0" err="1"/>
              <a:t>được</a:t>
            </a:r>
            <a:r>
              <a:rPr lang="en-US" dirty="0"/>
              <a:t> </a:t>
            </a:r>
            <a:r>
              <a:rPr lang="en-US" dirty="0" err="1"/>
              <a:t>gán</a:t>
            </a:r>
            <a:r>
              <a:rPr lang="en-US" dirty="0"/>
              <a:t> </a:t>
            </a:r>
            <a:r>
              <a:rPr lang="en-US" dirty="0" err="1"/>
              <a:t>giá</a:t>
            </a:r>
            <a:r>
              <a:rPr lang="en-US" dirty="0"/>
              <a:t> </a:t>
            </a:r>
            <a:r>
              <a:rPr lang="en-US" dirty="0" err="1"/>
              <a:t>trị</a:t>
            </a:r>
            <a:r>
              <a:rPr lang="en-US" dirty="0"/>
              <a:t> </a:t>
            </a:r>
            <a:r>
              <a:rPr lang="en-US" dirty="0" err="1"/>
              <a:t>là</a:t>
            </a:r>
            <a:r>
              <a:rPr lang="en-US" dirty="0"/>
              <a:t> </a:t>
            </a:r>
            <a:r>
              <a:rPr lang="en-US" b="1" dirty="0"/>
              <a:t>1</a:t>
            </a:r>
            <a:r>
              <a:rPr lang="en-US" dirty="0"/>
              <a:t> </a:t>
            </a:r>
            <a:r>
              <a:rPr lang="en-US" dirty="0" err="1"/>
              <a:t>thì</a:t>
            </a:r>
            <a:r>
              <a:rPr lang="en-US" dirty="0"/>
              <a:t> bit </a:t>
            </a:r>
            <a:r>
              <a:rPr lang="en-US" dirty="0" err="1"/>
              <a:t>có</a:t>
            </a:r>
            <a:r>
              <a:rPr lang="en-US" dirty="0"/>
              <a:t> </a:t>
            </a:r>
            <a:r>
              <a:rPr lang="en-US" dirty="0" err="1"/>
              <a:t>vị</a:t>
            </a:r>
            <a:r>
              <a:rPr lang="en-US" dirty="0"/>
              <a:t> </a:t>
            </a:r>
            <a:r>
              <a:rPr lang="en-US" dirty="0" err="1"/>
              <a:t>trí</a:t>
            </a:r>
            <a:r>
              <a:rPr lang="en-US" dirty="0"/>
              <a:t> </a:t>
            </a:r>
            <a:r>
              <a:rPr lang="en-US" dirty="0" err="1"/>
              <a:t>tương</a:t>
            </a:r>
            <a:r>
              <a:rPr lang="en-US" dirty="0"/>
              <a:t> </a:t>
            </a:r>
            <a:r>
              <a:rPr lang="en-US" dirty="0" err="1"/>
              <a:t>ứng</a:t>
            </a:r>
            <a:r>
              <a:rPr lang="en-US" dirty="0"/>
              <a:t> </a:t>
            </a:r>
            <a:r>
              <a:rPr lang="en-US" dirty="0" err="1"/>
              <a:t>trong</a:t>
            </a:r>
            <a:r>
              <a:rPr lang="en-US" dirty="0"/>
              <a:t> </a:t>
            </a:r>
            <a:r>
              <a:rPr lang="en-US" dirty="0" err="1"/>
              <a:t>địa</a:t>
            </a:r>
            <a:r>
              <a:rPr lang="en-US" dirty="0"/>
              <a:t> </a:t>
            </a:r>
            <a:r>
              <a:rPr lang="en-US" dirty="0" err="1"/>
              <a:t>chỉ</a:t>
            </a:r>
            <a:r>
              <a:rPr lang="en-US" dirty="0"/>
              <a:t> IPv4 </a:t>
            </a:r>
            <a:r>
              <a:rPr lang="en-US" dirty="0" err="1"/>
              <a:t>được</a:t>
            </a:r>
            <a:r>
              <a:rPr lang="en-US" dirty="0"/>
              <a:t> </a:t>
            </a:r>
            <a:r>
              <a:rPr lang="en-US" dirty="0" err="1"/>
              <a:t>chứa</a:t>
            </a:r>
            <a:r>
              <a:rPr lang="en-US" dirty="0"/>
              <a:t> </a:t>
            </a:r>
            <a:r>
              <a:rPr lang="en-US" dirty="0" err="1"/>
              <a:t>trong</a:t>
            </a:r>
            <a:r>
              <a:rPr lang="en-US" dirty="0"/>
              <a:t> </a:t>
            </a:r>
            <a:r>
              <a:rPr lang="en-US" dirty="0" err="1"/>
              <a:t>phần</a:t>
            </a:r>
            <a:r>
              <a:rPr lang="en-US" dirty="0"/>
              <a:t> </a:t>
            </a:r>
            <a:r>
              <a:rPr lang="en-US" dirty="0" err="1"/>
              <a:t>xác</a:t>
            </a:r>
            <a:r>
              <a:rPr lang="en-US" dirty="0"/>
              <a:t> </a:t>
            </a:r>
            <a:r>
              <a:rPr lang="en-US" dirty="0" err="1"/>
              <a:t>định</a:t>
            </a:r>
            <a:r>
              <a:rPr lang="en-US" dirty="0"/>
              <a:t> </a:t>
            </a:r>
            <a:r>
              <a:rPr lang="en-US" dirty="0" err="1"/>
              <a:t>địa</a:t>
            </a:r>
            <a:r>
              <a:rPr lang="en-US" dirty="0"/>
              <a:t> </a:t>
            </a:r>
            <a:r>
              <a:rPr lang="en-US" dirty="0" err="1"/>
              <a:t>chỉ</a:t>
            </a:r>
            <a:r>
              <a:rPr lang="en-US" dirty="0"/>
              <a:t> </a:t>
            </a:r>
            <a:r>
              <a:rPr lang="en-US" dirty="0" err="1"/>
              <a:t>mạng</a:t>
            </a:r>
            <a:endParaRPr lang="en-US" dirty="0"/>
          </a:p>
          <a:p>
            <a:pPr marL="742950" lvl="1" indent="-285750">
              <a:buFont typeface="Courier New" panose="02070309020205020404" pitchFamily="49" charset="0"/>
              <a:buChar char="o"/>
            </a:pPr>
            <a:r>
              <a:rPr lang="en-US" dirty="0" err="1"/>
              <a:t>Nếu</a:t>
            </a:r>
            <a:r>
              <a:rPr lang="en-US" dirty="0"/>
              <a:t> </a:t>
            </a:r>
            <a:r>
              <a:rPr lang="en-US" dirty="0" err="1"/>
              <a:t>một</a:t>
            </a:r>
            <a:r>
              <a:rPr lang="en-US" dirty="0"/>
              <a:t> bit </a:t>
            </a:r>
            <a:r>
              <a:rPr lang="en-US" dirty="0" err="1"/>
              <a:t>trong</a:t>
            </a:r>
            <a:r>
              <a:rPr lang="en-US" dirty="0"/>
              <a:t> </a:t>
            </a:r>
            <a:r>
              <a:rPr lang="en-US" dirty="0" err="1"/>
              <a:t>mặt</a:t>
            </a:r>
            <a:r>
              <a:rPr lang="en-US" dirty="0"/>
              <a:t> </a:t>
            </a:r>
            <a:r>
              <a:rPr lang="en-US" dirty="0" err="1"/>
              <a:t>nạ</a:t>
            </a:r>
            <a:r>
              <a:rPr lang="en-US" dirty="0"/>
              <a:t> </a:t>
            </a:r>
            <a:r>
              <a:rPr lang="en-US" dirty="0" err="1"/>
              <a:t>được</a:t>
            </a:r>
            <a:r>
              <a:rPr lang="en-US" dirty="0"/>
              <a:t> </a:t>
            </a:r>
            <a:r>
              <a:rPr lang="en-US" dirty="0" err="1"/>
              <a:t>gán</a:t>
            </a:r>
            <a:r>
              <a:rPr lang="en-US" dirty="0"/>
              <a:t> </a:t>
            </a:r>
            <a:r>
              <a:rPr lang="en-US" dirty="0" err="1"/>
              <a:t>giá</a:t>
            </a:r>
            <a:r>
              <a:rPr lang="en-US" dirty="0"/>
              <a:t> </a:t>
            </a:r>
            <a:r>
              <a:rPr lang="en-US" dirty="0" err="1"/>
              <a:t>trị</a:t>
            </a:r>
            <a:r>
              <a:rPr lang="en-US" dirty="0"/>
              <a:t> </a:t>
            </a:r>
            <a:r>
              <a:rPr lang="en-US" dirty="0" err="1"/>
              <a:t>là</a:t>
            </a:r>
            <a:r>
              <a:rPr lang="en-US" dirty="0"/>
              <a:t> </a:t>
            </a:r>
            <a:r>
              <a:rPr lang="en-US" b="1" dirty="0"/>
              <a:t>0</a:t>
            </a:r>
            <a:r>
              <a:rPr lang="en-US" dirty="0"/>
              <a:t> </a:t>
            </a:r>
            <a:r>
              <a:rPr lang="en-US" dirty="0" err="1"/>
              <a:t>thì</a:t>
            </a:r>
            <a:r>
              <a:rPr lang="en-US" dirty="0"/>
              <a:t> bit </a:t>
            </a:r>
            <a:r>
              <a:rPr lang="en-US" dirty="0" err="1"/>
              <a:t>có</a:t>
            </a:r>
            <a:r>
              <a:rPr lang="en-US" dirty="0"/>
              <a:t> </a:t>
            </a:r>
            <a:r>
              <a:rPr lang="en-US" dirty="0" err="1"/>
              <a:t>vị</a:t>
            </a:r>
            <a:r>
              <a:rPr lang="en-US" dirty="0"/>
              <a:t> </a:t>
            </a:r>
            <a:r>
              <a:rPr lang="en-US" dirty="0" err="1"/>
              <a:t>trí</a:t>
            </a:r>
            <a:r>
              <a:rPr lang="en-US" dirty="0"/>
              <a:t> </a:t>
            </a:r>
            <a:r>
              <a:rPr lang="en-US" dirty="0" err="1"/>
              <a:t>tương</a:t>
            </a:r>
            <a:r>
              <a:rPr lang="en-US" dirty="0"/>
              <a:t> </a:t>
            </a:r>
            <a:r>
              <a:rPr lang="en-US" dirty="0" err="1"/>
              <a:t>ứng</a:t>
            </a:r>
            <a:r>
              <a:rPr lang="en-US" dirty="0"/>
              <a:t> </a:t>
            </a:r>
            <a:r>
              <a:rPr lang="en-US" dirty="0" err="1"/>
              <a:t>trong</a:t>
            </a:r>
            <a:r>
              <a:rPr lang="en-US" dirty="0"/>
              <a:t> </a:t>
            </a:r>
            <a:r>
              <a:rPr lang="en-US" dirty="0" err="1"/>
              <a:t>địa</a:t>
            </a:r>
            <a:r>
              <a:rPr lang="en-US" dirty="0"/>
              <a:t> </a:t>
            </a:r>
            <a:r>
              <a:rPr lang="en-US" dirty="0" err="1"/>
              <a:t>chỉ</a:t>
            </a:r>
            <a:r>
              <a:rPr lang="en-US" dirty="0"/>
              <a:t> IP </a:t>
            </a:r>
            <a:r>
              <a:rPr lang="en-US" dirty="0" err="1"/>
              <a:t>được</a:t>
            </a:r>
            <a:r>
              <a:rPr lang="en-US" dirty="0"/>
              <a:t> </a:t>
            </a:r>
            <a:r>
              <a:rPr lang="en-US" dirty="0" err="1"/>
              <a:t>chứa</a:t>
            </a:r>
            <a:r>
              <a:rPr lang="en-US" dirty="0"/>
              <a:t> </a:t>
            </a:r>
            <a:r>
              <a:rPr lang="en-US" dirty="0" err="1"/>
              <a:t>trong</a:t>
            </a:r>
            <a:r>
              <a:rPr lang="en-US" dirty="0"/>
              <a:t> </a:t>
            </a:r>
            <a:r>
              <a:rPr lang="en-US" dirty="0" err="1"/>
              <a:t>phần</a:t>
            </a:r>
            <a:r>
              <a:rPr lang="en-US" dirty="0"/>
              <a:t> </a:t>
            </a:r>
            <a:r>
              <a:rPr lang="en-US" dirty="0" err="1"/>
              <a:t>xác</a:t>
            </a:r>
            <a:r>
              <a:rPr lang="en-US" dirty="0"/>
              <a:t> </a:t>
            </a:r>
            <a:r>
              <a:rPr lang="en-US" dirty="0" err="1"/>
              <a:t>định</a:t>
            </a:r>
            <a:r>
              <a:rPr lang="en-US" dirty="0"/>
              <a:t> </a:t>
            </a:r>
            <a:r>
              <a:rPr lang="en-US" dirty="0" err="1"/>
              <a:t>địa</a:t>
            </a:r>
            <a:r>
              <a:rPr lang="en-US" dirty="0"/>
              <a:t> </a:t>
            </a:r>
            <a:r>
              <a:rPr lang="en-US" dirty="0" err="1"/>
              <a:t>chỉ</a:t>
            </a:r>
            <a:r>
              <a:rPr lang="en-US" dirty="0"/>
              <a:t> host</a:t>
            </a:r>
          </a:p>
          <a:p>
            <a:pPr marL="742950" lvl="1" indent="-285750">
              <a:buFont typeface="Courier New" panose="02070309020205020404" pitchFamily="49" charset="0"/>
              <a:buChar char="o"/>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98471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8" y="951041"/>
            <a:ext cx="658061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FFC000"/>
                </a:solidFill>
                <a:cs typeface="Helvetica World" panose="020B0500040000020004" pitchFamily="34" charset="0"/>
              </a:rPr>
              <a:t>BIỂU DIỄN MẶT NẠ DƯỚI DẠNG  “/n” (SLASH NOTATION)</a:t>
            </a:r>
            <a:endParaRPr kumimoji="0" lang="en-US" sz="1800" b="1" i="0" u="none" strike="noStrike" kern="1200" cap="none" spc="0" normalizeH="0" baseline="0" noProof="0">
              <a:ln>
                <a:noFill/>
              </a:ln>
              <a:solidFill>
                <a:srgbClr val="FFC000"/>
              </a:solidFill>
              <a:effectLst/>
              <a:uLnTx/>
              <a:uFillTx/>
              <a:cs typeface="Helvetica World" panose="020B0500040000020004" pitchFamily="34" charset="0"/>
            </a:endParaRPr>
          </a:p>
        </p:txBody>
      </p:sp>
      <p:sp>
        <p:nvSpPr>
          <p:cNvPr id="6" name="TextBox 5"/>
          <p:cNvSpPr txBox="1"/>
          <p:nvPr/>
        </p:nvSpPr>
        <p:spPr>
          <a:xfrm>
            <a:off x="427703" y="1637071"/>
            <a:ext cx="10958052" cy="3416320"/>
          </a:xfrm>
          <a:prstGeom prst="rect">
            <a:avLst/>
          </a:prstGeom>
          <a:noFill/>
        </p:spPr>
        <p:txBody>
          <a:bodyPr wrap="square" rtlCol="0">
            <a:spAutoFit/>
          </a:bodyPr>
          <a:lstStyle/>
          <a:p>
            <a:pPr marL="285750" indent="-285750" algn="just">
              <a:buFont typeface="Arial" panose="020B0604020202020204" pitchFamily="34" charset="0"/>
              <a:buChar char="•"/>
            </a:pPr>
            <a:r>
              <a:rPr lang="en-US"/>
              <a:t>Khi cho một địa chỉ IPv4 đồng thời để chỉ ra địa chỉ đó thuộc mạng nào thì ta cung cấp đồng thời địa chỉ đó với mặt nạ mạng (network mask) đi kèm, ví dụ:</a:t>
            </a:r>
          </a:p>
          <a:p>
            <a:pPr algn="just"/>
            <a:endParaRPr lang="en-US"/>
          </a:p>
          <a:p>
            <a:pPr lvl="1" algn="just"/>
            <a:r>
              <a:rPr lang="en-US"/>
              <a:t>Địa chỉ IPv4:       </a:t>
            </a:r>
            <a:r>
              <a:rPr lang="en-US" b="1">
                <a:solidFill>
                  <a:srgbClr val="0070C0"/>
                </a:solidFill>
              </a:rPr>
              <a:t>131.108.102.204</a:t>
            </a:r>
          </a:p>
          <a:p>
            <a:pPr lvl="1" algn="just"/>
            <a:r>
              <a:rPr lang="en-US"/>
              <a:t>Mặt nạ:                </a:t>
            </a:r>
            <a:r>
              <a:rPr lang="en-US" b="1">
                <a:solidFill>
                  <a:srgbClr val="0070C0"/>
                </a:solidFill>
              </a:rPr>
              <a:t>255.255.0.0</a:t>
            </a:r>
          </a:p>
          <a:p>
            <a:pPr lvl="1" algn="just"/>
            <a:endParaRPr lang="en-US" b="1">
              <a:solidFill>
                <a:srgbClr val="0070C0"/>
              </a:solidFill>
            </a:endParaRPr>
          </a:p>
          <a:p>
            <a:pPr marL="285750" indent="-285750" algn="just">
              <a:buFont typeface="Arial" panose="020B0604020202020204" pitchFamily="34" charset="0"/>
              <a:buChar char="•"/>
            </a:pPr>
            <a:r>
              <a:rPr lang="en-US"/>
              <a:t>Ta có thể biểu diễn mặt nạ mạng  thông qua ký hiệu </a:t>
            </a:r>
            <a:r>
              <a:rPr lang="en-US" b="1"/>
              <a:t>“/n”</a:t>
            </a:r>
            <a:r>
              <a:rPr lang="en-US"/>
              <a:t>, với n là số bit 1 có trong mặt nạ mạng, được gọi là “</a:t>
            </a:r>
            <a:r>
              <a:rPr lang="en-US" b="1"/>
              <a:t>số prefix</a:t>
            </a:r>
            <a:r>
              <a:rPr lang="en-US"/>
              <a:t>” hoặc “</a:t>
            </a:r>
            <a:r>
              <a:rPr lang="en-US" b="1"/>
              <a:t>độ dài prefix</a:t>
            </a:r>
            <a:r>
              <a:rPr lang="en-US"/>
              <a:t>”.</a:t>
            </a:r>
          </a:p>
          <a:p>
            <a:pPr algn="just"/>
            <a:endParaRPr lang="en-US"/>
          </a:p>
          <a:p>
            <a:pPr marL="285750" indent="-285750" algn="just">
              <a:buFont typeface="Arial" panose="020B0604020202020204" pitchFamily="34" charset="0"/>
              <a:buChar char="•"/>
            </a:pPr>
            <a:r>
              <a:rPr lang="en-US"/>
              <a:t>Trong ví dụ trên địa chỉ IPv4 khi đó được biểu diễn có dạng:</a:t>
            </a:r>
          </a:p>
          <a:p>
            <a:pPr marL="285750" indent="-285750" algn="just">
              <a:buFont typeface="Arial" panose="020B0604020202020204" pitchFamily="34" charset="0"/>
              <a:buChar char="•"/>
            </a:pPr>
            <a:endParaRPr lang="en-US"/>
          </a:p>
          <a:p>
            <a:pPr lvl="1" algn="just"/>
            <a:r>
              <a:rPr lang="en-US" b="1">
                <a:solidFill>
                  <a:srgbClr val="0070C0"/>
                </a:solidFill>
              </a:rPr>
              <a:t>                        131.108.102.204/16</a:t>
            </a:r>
          </a:p>
        </p:txBody>
      </p:sp>
    </p:spTree>
    <p:extLst>
      <p:ext uri="{BB962C8B-B14F-4D97-AF65-F5344CB8AC3E}">
        <p14:creationId xmlns:p14="http://schemas.microsoft.com/office/powerpoint/2010/main" val="4254684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005BBB"/>
                </a:solidFill>
                <a:cs typeface="Helvetica World" panose="020B0500040000020004" pitchFamily="34" charset="0"/>
              </a:rPr>
              <a:t>PHÂN LỚP ĐỊA CHỈ IPv4</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2" name="Rectangle 1"/>
          <p:cNvSpPr/>
          <p:nvPr/>
        </p:nvSpPr>
        <p:spPr>
          <a:xfrm>
            <a:off x="-1" y="1330328"/>
            <a:ext cx="12019935" cy="1338828"/>
          </a:xfrm>
          <a:prstGeom prst="rect">
            <a:avLst/>
          </a:prstGeom>
        </p:spPr>
        <p:txBody>
          <a:bodyPr wrap="square">
            <a:spAutoFit/>
          </a:bodyPr>
          <a:lstStyle/>
          <a:p>
            <a:pPr marL="285750" lvl="0" indent="-285750">
              <a:lnSpc>
                <a:spcPct val="150000"/>
              </a:lnSpc>
              <a:buFont typeface="Arial" panose="020B0604020202020204" pitchFamily="34" charset="0"/>
              <a:buChar char="•"/>
              <a:defRPr/>
            </a:pPr>
            <a:r>
              <a:rPr lang="en-US" altLang="en-US">
                <a:solidFill>
                  <a:srgbClr val="666666">
                    <a:lumMod val="50000"/>
                  </a:srgbClr>
                </a:solidFill>
              </a:rPr>
              <a:t>Ban đầu kiến trúc địa chỉ internet được chia thành 5 lớp (A, B, C, D và E). Cách thức phân chia được này được gọi là phân lớp chuẩn – </a:t>
            </a:r>
            <a:r>
              <a:rPr lang="en-US" altLang="en-US" b="1">
                <a:solidFill>
                  <a:srgbClr val="666666">
                    <a:lumMod val="50000"/>
                  </a:srgbClr>
                </a:solidFill>
              </a:rPr>
              <a:t>classful addressing</a:t>
            </a:r>
            <a:r>
              <a:rPr lang="en-US" altLang="en-US">
                <a:solidFill>
                  <a:srgbClr val="666666">
                    <a:lumMod val="50000"/>
                  </a:srgbClr>
                </a:solidFill>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rPr>
              <a:t>Người</a:t>
            </a:r>
            <a:r>
              <a:rPr kumimoji="0" lang="en-US" altLang="en-US" sz="1800" b="0" i="0" u="none" strike="noStrike" kern="1200" cap="none" spc="0" normalizeH="0" noProof="0">
                <a:ln>
                  <a:noFill/>
                </a:ln>
                <a:solidFill>
                  <a:srgbClr val="666666">
                    <a:lumMod val="50000"/>
                  </a:srgbClr>
                </a:solidFill>
                <a:effectLst/>
                <a:uLnTx/>
                <a:uFillTx/>
                <a:latin typeface="Arial" panose="020B0604020202020204"/>
                <a:ea typeface="+mn-ea"/>
                <a:cs typeface="+mn-cs"/>
              </a:rPr>
              <a:t> ta quy định bit đầu tiên hoặc nhóm các bit đầu tiên xác định lớp của địa chỉ đó.</a:t>
            </a:r>
            <a:endParaRPr kumimoji="0" lang="en-US" altLang="en-US" sz="1800" b="0" i="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284" y="2669154"/>
            <a:ext cx="7964129" cy="3643155"/>
          </a:xfrm>
          <a:prstGeom prst="rect">
            <a:avLst/>
          </a:prstGeom>
        </p:spPr>
      </p:pic>
    </p:spTree>
    <p:extLst>
      <p:ext uri="{BB962C8B-B14F-4D97-AF65-F5344CB8AC3E}">
        <p14:creationId xmlns:p14="http://schemas.microsoft.com/office/powerpoint/2010/main" val="1978374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FFC000"/>
                </a:solidFill>
                <a:cs typeface="Helvetica World" panose="020B0500040000020004" pitchFamily="34" charset="0"/>
              </a:rPr>
              <a:t>ĐỊA CHỈ LỚP</a:t>
            </a:r>
            <a:r>
              <a:rPr kumimoji="0" lang="en-US" sz="1800" b="1" i="0" u="none" strike="noStrike" kern="1200" cap="none" spc="0" normalizeH="0" baseline="0" noProof="0">
                <a:ln>
                  <a:noFill/>
                </a:ln>
                <a:solidFill>
                  <a:srgbClr val="FFC000"/>
                </a:solidFill>
                <a:effectLst/>
                <a:uLnTx/>
                <a:uFillTx/>
                <a:cs typeface="Helvetica World" panose="020B0500040000020004" pitchFamily="34" charset="0"/>
              </a:rPr>
              <a:t> A</a:t>
            </a:r>
          </a:p>
        </p:txBody>
      </p:sp>
      <p:sp>
        <p:nvSpPr>
          <p:cNvPr id="168" name="Rectangle 3"/>
          <p:cNvSpPr txBox="1">
            <a:spLocks noChangeArrowheads="1"/>
          </p:cNvSpPr>
          <p:nvPr/>
        </p:nvSpPr>
        <p:spPr>
          <a:xfrm>
            <a:off x="149783" y="1371547"/>
            <a:ext cx="5988712" cy="5061683"/>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sp>
        <p:nvSpPr>
          <p:cNvPr id="4" name="TextBox 3"/>
          <p:cNvSpPr txBox="1"/>
          <p:nvPr/>
        </p:nvSpPr>
        <p:spPr>
          <a:xfrm>
            <a:off x="7553045" y="3218877"/>
            <a:ext cx="4402975" cy="369332"/>
          </a:xfrm>
          <a:prstGeom prst="rect">
            <a:avLst/>
          </a:prstGeom>
          <a:solidFill>
            <a:schemeClr val="accent5">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FF0000"/>
                </a:solidFill>
                <a:latin typeface="Arial" panose="020B0604020202020204"/>
              </a:rPr>
              <a:t>Octet đầu</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rPr>
              <a:t>:  0 </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127  </a:t>
            </a:r>
            <a:r>
              <a:rPr lang="en-US" b="1" noProof="0">
                <a:solidFill>
                  <a:srgbClr val="FF0000"/>
                </a:solidFill>
                <a:latin typeface="Arial" panose="020B0604020202020204"/>
                <a:sym typeface="Wingdings" panose="05000000000000000000" pitchFamily="2" charset="2"/>
              </a:rPr>
              <a:t>Địa chỉ lớp</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A</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6" name="TextBox 5"/>
          <p:cNvSpPr txBox="1"/>
          <p:nvPr/>
        </p:nvSpPr>
        <p:spPr>
          <a:xfrm>
            <a:off x="6548286" y="1342051"/>
            <a:ext cx="2015360" cy="369332"/>
          </a:xfrm>
          <a:prstGeom prst="rect">
            <a:avLst/>
          </a:prstGeom>
          <a:noFill/>
        </p:spPr>
        <p:txBody>
          <a:bodyPr wrap="none" rtlCol="0">
            <a:spAutoFit/>
          </a:bodyPr>
          <a:lstStyle/>
          <a:p>
            <a:r>
              <a:rPr lang="en-US" u="sng"/>
              <a:t>Địa chỉ IPv4 lớp A</a:t>
            </a:r>
          </a:p>
        </p:txBody>
      </p:sp>
      <p:sp>
        <p:nvSpPr>
          <p:cNvPr id="10" name="TextBox 9"/>
          <p:cNvSpPr txBox="1"/>
          <p:nvPr/>
        </p:nvSpPr>
        <p:spPr>
          <a:xfrm>
            <a:off x="174755" y="1407074"/>
            <a:ext cx="6329652" cy="5312223"/>
          </a:xfrm>
          <a:prstGeom prst="rect">
            <a:avLst/>
          </a:prstGeom>
          <a:solidFill>
            <a:schemeClr val="tx1">
              <a:lumMod val="20000"/>
              <a:lumOff val="80000"/>
            </a:schemeClr>
          </a:solidFill>
        </p:spPr>
        <p:txBody>
          <a:bodyPr wrap="square" rtlCol="0">
            <a:spAutoFit/>
          </a:bodyPr>
          <a:lstStyle/>
          <a:p>
            <a:pPr marL="228600" lvl="0" indent="-228600" algn="just">
              <a:lnSpc>
                <a:spcPct val="13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Bit </a:t>
            </a:r>
            <a:r>
              <a:rPr lang="en-US" altLang="en-US" dirty="0" err="1">
                <a:solidFill>
                  <a:srgbClr val="666666">
                    <a:lumMod val="50000"/>
                  </a:srgbClr>
                </a:solidFill>
              </a:rPr>
              <a:t>đầu</a:t>
            </a:r>
            <a:r>
              <a:rPr lang="en-US" altLang="en-US" dirty="0">
                <a:solidFill>
                  <a:srgbClr val="666666">
                    <a:lumMod val="50000"/>
                  </a:srgbClr>
                </a:solidFill>
              </a:rPr>
              <a:t> </a:t>
            </a:r>
            <a:r>
              <a:rPr lang="en-US" altLang="en-US" dirty="0" err="1">
                <a:solidFill>
                  <a:srgbClr val="666666">
                    <a:lumMod val="50000"/>
                  </a:srgbClr>
                </a:solidFill>
              </a:rPr>
              <a:t>tiên</a:t>
            </a:r>
            <a:r>
              <a:rPr lang="en-US" altLang="en-US" dirty="0">
                <a:solidFill>
                  <a:srgbClr val="666666">
                    <a:lumMod val="50000"/>
                  </a:srgbClr>
                </a:solidFill>
              </a:rPr>
              <a:t> </a:t>
            </a:r>
            <a:r>
              <a:rPr lang="en-US" altLang="en-US" dirty="0" err="1">
                <a:solidFill>
                  <a:srgbClr val="666666">
                    <a:lumMod val="50000"/>
                  </a:srgbClr>
                </a:solidFill>
              </a:rPr>
              <a:t>của</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A </a:t>
            </a:r>
            <a:r>
              <a:rPr lang="en-US" altLang="en-US" dirty="0" err="1">
                <a:solidFill>
                  <a:srgbClr val="666666">
                    <a:lumMod val="50000"/>
                  </a:srgbClr>
                </a:solidFill>
              </a:rPr>
              <a:t>luôn</a:t>
            </a:r>
            <a:r>
              <a:rPr lang="en-US" altLang="en-US" dirty="0">
                <a:solidFill>
                  <a:srgbClr val="666666">
                    <a:lumMod val="50000"/>
                  </a:srgbClr>
                </a:solidFill>
              </a:rPr>
              <a:t> </a:t>
            </a:r>
            <a:r>
              <a:rPr lang="en-US" altLang="en-US" dirty="0" err="1">
                <a:solidFill>
                  <a:srgbClr val="666666">
                    <a:lumMod val="50000"/>
                  </a:srgbClr>
                </a:solidFill>
              </a:rPr>
              <a:t>là</a:t>
            </a:r>
            <a:r>
              <a:rPr lang="en-US" altLang="en-US" dirty="0">
                <a:solidFill>
                  <a:srgbClr val="666666">
                    <a:lumMod val="50000"/>
                  </a:srgbClr>
                </a:solidFill>
              </a:rPr>
              <a:t> </a:t>
            </a:r>
            <a:r>
              <a:rPr lang="en-US" altLang="en-US" b="1" dirty="0">
                <a:solidFill>
                  <a:srgbClr val="666666">
                    <a:lumMod val="50000"/>
                  </a:srgbClr>
                </a:solidFill>
              </a:rPr>
              <a:t>0</a:t>
            </a:r>
            <a:r>
              <a:rPr lang="en-US" altLang="en-US" dirty="0">
                <a:solidFill>
                  <a:srgbClr val="666666">
                    <a:lumMod val="50000"/>
                  </a:srgbClr>
                </a:solidFill>
              </a:rPr>
              <a:t>.</a:t>
            </a:r>
          </a:p>
          <a:p>
            <a:pPr marL="228600" lvl="0" indent="-228600" algn="just">
              <a:lnSpc>
                <a:spcPct val="13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7 bit </a:t>
            </a:r>
            <a:r>
              <a:rPr lang="en-US" altLang="en-US" dirty="0" err="1">
                <a:solidFill>
                  <a:srgbClr val="666666">
                    <a:lumMod val="50000"/>
                  </a:srgbClr>
                </a:solidFill>
              </a:rPr>
              <a:t>còn</a:t>
            </a:r>
            <a:r>
              <a:rPr lang="en-US" altLang="en-US" dirty="0">
                <a:solidFill>
                  <a:srgbClr val="666666">
                    <a:lumMod val="50000"/>
                  </a:srgbClr>
                </a:solidFill>
              </a:rPr>
              <a:t> </a:t>
            </a:r>
            <a:r>
              <a:rPr lang="en-US" altLang="en-US" dirty="0" err="1">
                <a:solidFill>
                  <a:srgbClr val="666666">
                    <a:lumMod val="50000"/>
                  </a:srgbClr>
                </a:solidFill>
              </a:rPr>
              <a:t>lại</a:t>
            </a:r>
            <a:r>
              <a:rPr lang="en-US" altLang="en-US" dirty="0">
                <a:solidFill>
                  <a:srgbClr val="666666">
                    <a:lumMod val="50000"/>
                  </a:srgbClr>
                </a:solidFill>
              </a:rPr>
              <a:t> </a:t>
            </a:r>
            <a:r>
              <a:rPr lang="en-US" altLang="en-US" dirty="0" err="1">
                <a:solidFill>
                  <a:srgbClr val="666666">
                    <a:lumMod val="50000"/>
                  </a:srgbClr>
                </a:solidFill>
              </a:rPr>
              <a:t>trong</a:t>
            </a:r>
            <a:r>
              <a:rPr lang="en-US" altLang="en-US" dirty="0">
                <a:solidFill>
                  <a:srgbClr val="666666">
                    <a:lumMod val="50000"/>
                  </a:srgbClr>
                </a:solidFill>
              </a:rPr>
              <a:t> octet </a:t>
            </a:r>
            <a:r>
              <a:rPr lang="en-US" altLang="en-US" dirty="0" err="1">
                <a:solidFill>
                  <a:srgbClr val="666666">
                    <a:lumMod val="50000"/>
                  </a:srgbClr>
                </a:solidFill>
              </a:rPr>
              <a:t>đầu</a:t>
            </a:r>
            <a:r>
              <a:rPr lang="en-US" altLang="en-US" dirty="0">
                <a:solidFill>
                  <a:srgbClr val="666666">
                    <a:lumMod val="50000"/>
                  </a:srgbClr>
                </a:solidFill>
              </a:rPr>
              <a:t> </a:t>
            </a:r>
            <a:r>
              <a:rPr lang="en-US" altLang="en-US" dirty="0" err="1">
                <a:solidFill>
                  <a:srgbClr val="666666">
                    <a:lumMod val="50000"/>
                  </a:srgbClr>
                </a:solidFill>
              </a:rPr>
              <a:t>xác</a:t>
            </a:r>
            <a:r>
              <a:rPr lang="en-US" altLang="en-US" dirty="0">
                <a:solidFill>
                  <a:srgbClr val="666666">
                    <a:lumMod val="50000"/>
                  </a:srgbClr>
                </a:solidFill>
              </a:rPr>
              <a:t> </a:t>
            </a:r>
            <a:r>
              <a:rPr lang="en-US" altLang="en-US" dirty="0" err="1">
                <a:solidFill>
                  <a:srgbClr val="666666">
                    <a:lumMod val="50000"/>
                  </a:srgbClr>
                </a:solidFill>
              </a:rPr>
              <a:t>định</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có</a:t>
            </a:r>
            <a:r>
              <a:rPr lang="en-US" altLang="en-US" dirty="0">
                <a:solidFill>
                  <a:srgbClr val="666666">
                    <a:lumMod val="50000"/>
                  </a:srgbClr>
                </a:solidFill>
                <a:sym typeface="Wingdings" panose="05000000000000000000" pitchFamily="2" charset="2"/>
              </a:rPr>
              <a:t>  </a:t>
            </a:r>
            <a:r>
              <a:rPr lang="en-US" altLang="en-US" b="1" dirty="0">
                <a:solidFill>
                  <a:srgbClr val="666666">
                    <a:lumMod val="50000"/>
                  </a:srgbClr>
                </a:solidFill>
                <a:sym typeface="Wingdings" panose="05000000000000000000" pitchFamily="2" charset="2"/>
              </a:rPr>
              <a:t>2</a:t>
            </a:r>
            <a:r>
              <a:rPr lang="en-US" altLang="en-US" b="1" baseline="30000" dirty="0">
                <a:solidFill>
                  <a:srgbClr val="666666">
                    <a:lumMod val="50000"/>
                  </a:srgbClr>
                </a:solidFill>
                <a:sym typeface="Wingdings" panose="05000000000000000000" pitchFamily="2" charset="2"/>
              </a:rPr>
              <a:t>7</a:t>
            </a:r>
            <a:r>
              <a:rPr lang="en-US" altLang="en-US" b="1" dirty="0">
                <a:solidFill>
                  <a:srgbClr val="666666">
                    <a:lumMod val="50000"/>
                  </a:srgbClr>
                </a:solidFill>
                <a:sym typeface="Wingdings" panose="05000000000000000000" pitchFamily="2" charset="2"/>
              </a:rPr>
              <a:t> = 128</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mạng</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lớp</a:t>
            </a:r>
            <a:r>
              <a:rPr lang="en-US" altLang="en-US" dirty="0">
                <a:solidFill>
                  <a:srgbClr val="666666">
                    <a:lumMod val="50000"/>
                  </a:srgbClr>
                </a:solidFill>
                <a:sym typeface="Wingdings" panose="05000000000000000000" pitchFamily="2" charset="2"/>
              </a:rPr>
              <a:t> A.</a:t>
            </a:r>
          </a:p>
          <a:p>
            <a:pPr marL="228600" lvl="0" indent="-228600" algn="just">
              <a:lnSpc>
                <a:spcPct val="130000"/>
              </a:lnSpc>
              <a:spcBef>
                <a:spcPts val="600"/>
              </a:spcBef>
              <a:buClr>
                <a:srgbClr val="005BBB"/>
              </a:buClr>
              <a:buSzPct val="120000"/>
              <a:buFont typeface="Wingdings" panose="05000000000000000000" pitchFamily="2" charset="2"/>
              <a:buChar char="à"/>
              <a:defRPr/>
            </a:pPr>
            <a:r>
              <a:rPr lang="en-US" altLang="en-US" dirty="0" err="1">
                <a:solidFill>
                  <a:srgbClr val="666666">
                    <a:lumMod val="50000"/>
                  </a:srgbClr>
                </a:solidFill>
              </a:rPr>
              <a:t>Dải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A: </a:t>
            </a:r>
            <a:r>
              <a:rPr lang="en-US" altLang="en-US" dirty="0">
                <a:solidFill>
                  <a:srgbClr val="FF0000"/>
                </a:solidFill>
              </a:rPr>
              <a:t>0.0.0.0/8 </a:t>
            </a:r>
            <a:r>
              <a:rPr lang="en-US" altLang="en-US" dirty="0" err="1">
                <a:solidFill>
                  <a:srgbClr val="666666">
                    <a:lumMod val="50000"/>
                  </a:srgbClr>
                </a:solidFill>
              </a:rPr>
              <a:t>đến</a:t>
            </a:r>
            <a:r>
              <a:rPr lang="en-US" altLang="en-US" dirty="0">
                <a:solidFill>
                  <a:srgbClr val="FF0000"/>
                </a:solidFill>
              </a:rPr>
              <a:t> 127.0.0.0/8</a:t>
            </a:r>
            <a:r>
              <a:rPr lang="en-US" altLang="en-US" dirty="0">
                <a:solidFill>
                  <a:srgbClr val="666666">
                    <a:lumMod val="50000"/>
                  </a:srgbClr>
                </a:solidFill>
              </a:rPr>
              <a:t>.</a:t>
            </a:r>
          </a:p>
          <a:p>
            <a:pPr marL="228600" lvl="0" indent="-228600" algn="just">
              <a:lnSpc>
                <a:spcPct val="130000"/>
              </a:lnSpc>
              <a:spcBef>
                <a:spcPts val="600"/>
              </a:spcBef>
              <a:buClr>
                <a:srgbClr val="005BBB"/>
              </a:buClr>
              <a:buSzPct val="120000"/>
              <a:buFont typeface="Wingdings" panose="05000000000000000000" pitchFamily="2" charset="2"/>
              <a:buChar char="à"/>
              <a:defRPr/>
            </a:pPr>
            <a:r>
              <a:rPr lang="en-US" altLang="en-US" dirty="0" err="1">
                <a:solidFill>
                  <a:srgbClr val="666666">
                    <a:lumMod val="50000"/>
                  </a:srgbClr>
                </a:solidFill>
              </a:rPr>
              <a:t>Các</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trong</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127.0.0.0/8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sử</a:t>
            </a:r>
            <a:r>
              <a:rPr lang="en-US" altLang="en-US" dirty="0">
                <a:solidFill>
                  <a:srgbClr val="666666">
                    <a:lumMod val="50000"/>
                  </a:srgbClr>
                </a:solidFill>
              </a:rPr>
              <a:t> </a:t>
            </a:r>
            <a:r>
              <a:rPr lang="en-US" altLang="en-US" dirty="0" err="1">
                <a:solidFill>
                  <a:srgbClr val="666666">
                    <a:lumMod val="50000"/>
                  </a:srgbClr>
                </a:solidFill>
              </a:rPr>
              <a:t>dụng</a:t>
            </a:r>
            <a:r>
              <a:rPr lang="en-US" altLang="en-US" dirty="0">
                <a:solidFill>
                  <a:srgbClr val="666666">
                    <a:lumMod val="50000"/>
                  </a:srgbClr>
                </a:solidFill>
              </a:rPr>
              <a:t> </a:t>
            </a:r>
            <a:r>
              <a:rPr lang="en-US" altLang="en-US" dirty="0" err="1">
                <a:solidFill>
                  <a:srgbClr val="666666">
                    <a:lumMod val="50000"/>
                  </a:srgbClr>
                </a:solidFill>
              </a:rPr>
              <a:t>làm</a:t>
            </a:r>
            <a:r>
              <a:rPr lang="en-US" altLang="en-US" b="1"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loopback.</a:t>
            </a:r>
          </a:p>
          <a:p>
            <a:pPr marL="228600" lvl="0" indent="-228600" algn="just">
              <a:lnSpc>
                <a:spcPct val="130000"/>
              </a:lnSpc>
              <a:spcBef>
                <a:spcPts val="600"/>
              </a:spcBef>
              <a:buClr>
                <a:srgbClr val="005BBB"/>
              </a:buClr>
              <a:buSzPct val="120000"/>
              <a:buFont typeface="Wingdings" panose="05000000000000000000" pitchFamily="2" charset="2"/>
              <a:buChar char="à"/>
              <a:defRPr/>
            </a:pPr>
            <a:r>
              <a:rPr lang="en-US" altLang="en-US" dirty="0" err="1">
                <a:solidFill>
                  <a:srgbClr val="666666">
                    <a:lumMod val="50000"/>
                  </a:srgbClr>
                </a:solidFill>
              </a:rPr>
              <a:t>Các</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trong</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0.0.0.0/8 </a:t>
            </a:r>
            <a:r>
              <a:rPr lang="en-US" altLang="en-US" dirty="0" err="1">
                <a:solidFill>
                  <a:srgbClr val="666666">
                    <a:lumMod val="50000"/>
                  </a:srgbClr>
                </a:solidFill>
              </a:rPr>
              <a:t>không</a:t>
            </a:r>
            <a:r>
              <a:rPr lang="en-US" altLang="en-US" dirty="0">
                <a:solidFill>
                  <a:srgbClr val="666666">
                    <a:lumMod val="50000"/>
                  </a:srgbClr>
                </a:solidFill>
              </a:rPr>
              <a:t> </a:t>
            </a:r>
            <a:r>
              <a:rPr lang="en-US" altLang="en-US" dirty="0" err="1">
                <a:solidFill>
                  <a:srgbClr val="666666">
                    <a:lumMod val="50000"/>
                  </a:srgbClr>
                </a:solidFill>
              </a:rPr>
              <a:t>hợp</a:t>
            </a:r>
            <a:r>
              <a:rPr lang="en-US" altLang="en-US" dirty="0">
                <a:solidFill>
                  <a:srgbClr val="666666">
                    <a:lumMod val="50000"/>
                  </a:srgbClr>
                </a:solidFill>
              </a:rPr>
              <a:t> </a:t>
            </a:r>
            <a:r>
              <a:rPr lang="en-US" altLang="en-US" dirty="0" err="1">
                <a:solidFill>
                  <a:srgbClr val="666666">
                    <a:lumMod val="50000"/>
                  </a:srgbClr>
                </a:solidFill>
              </a:rPr>
              <a:t>lệ</a:t>
            </a:r>
            <a:r>
              <a:rPr lang="en-US" altLang="en-US" dirty="0">
                <a:solidFill>
                  <a:srgbClr val="666666">
                    <a:lumMod val="50000"/>
                  </a:srgbClr>
                </a:solidFill>
              </a:rPr>
              <a:t> </a:t>
            </a:r>
            <a:r>
              <a:rPr lang="en-US" altLang="en-US" dirty="0" err="1">
                <a:solidFill>
                  <a:srgbClr val="666666">
                    <a:lumMod val="50000"/>
                  </a:srgbClr>
                </a:solidFill>
              </a:rPr>
              <a:t>để</a:t>
            </a:r>
            <a:r>
              <a:rPr lang="en-US" altLang="en-US" dirty="0">
                <a:solidFill>
                  <a:srgbClr val="666666">
                    <a:lumMod val="50000"/>
                  </a:srgbClr>
                </a:solidFill>
              </a:rPr>
              <a:t> </a:t>
            </a:r>
            <a:r>
              <a:rPr lang="en-US" altLang="en-US" dirty="0" err="1">
                <a:solidFill>
                  <a:srgbClr val="666666">
                    <a:lumMod val="50000"/>
                  </a:srgbClr>
                </a:solidFill>
              </a:rPr>
              <a:t>gán</a:t>
            </a:r>
            <a:r>
              <a:rPr lang="en-US" altLang="en-US" dirty="0">
                <a:solidFill>
                  <a:srgbClr val="666666">
                    <a:lumMod val="50000"/>
                  </a:srgbClr>
                </a:solidFill>
              </a:rPr>
              <a:t> </a:t>
            </a:r>
            <a:r>
              <a:rPr lang="en-US" altLang="en-US" dirty="0" err="1">
                <a:solidFill>
                  <a:srgbClr val="666666">
                    <a:lumMod val="50000"/>
                  </a:srgbClr>
                </a:solidFill>
              </a:rPr>
              <a:t>cho</a:t>
            </a:r>
            <a:r>
              <a:rPr lang="en-US" altLang="en-US" dirty="0">
                <a:solidFill>
                  <a:srgbClr val="666666">
                    <a:lumMod val="50000"/>
                  </a:srgbClr>
                </a:solidFill>
              </a:rPr>
              <a:t> host.</a:t>
            </a:r>
            <a:endParaRPr lang="en-US" altLang="en-US" b="1" dirty="0">
              <a:solidFill>
                <a:srgbClr val="666666">
                  <a:lumMod val="50000"/>
                </a:srgbClr>
              </a:solidFill>
            </a:endParaRPr>
          </a:p>
          <a:p>
            <a:pPr marL="228600" lvl="0" indent="-228600" algn="just">
              <a:lnSpc>
                <a:spcPct val="13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Ba octet </a:t>
            </a:r>
            <a:r>
              <a:rPr lang="en-US" altLang="en-US" dirty="0" err="1">
                <a:solidFill>
                  <a:srgbClr val="666666">
                    <a:lumMod val="50000"/>
                  </a:srgbClr>
                </a:solidFill>
              </a:rPr>
              <a:t>sau</a:t>
            </a:r>
            <a:r>
              <a:rPr lang="en-US" altLang="en-US" dirty="0">
                <a:solidFill>
                  <a:srgbClr val="666666">
                    <a:lumMod val="50000"/>
                  </a:srgbClr>
                </a:solidFill>
              </a:rPr>
              <a:t> </a:t>
            </a:r>
            <a:r>
              <a:rPr lang="en-US" altLang="en-US" dirty="0" err="1">
                <a:solidFill>
                  <a:srgbClr val="666666">
                    <a:lumMod val="50000"/>
                  </a:srgbClr>
                </a:solidFill>
              </a:rPr>
              <a:t>của</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A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dùng</a:t>
            </a:r>
            <a:r>
              <a:rPr lang="en-US" altLang="en-US" dirty="0">
                <a:solidFill>
                  <a:srgbClr val="666666">
                    <a:lumMod val="50000"/>
                  </a:srgbClr>
                </a:solidFill>
              </a:rPr>
              <a:t> </a:t>
            </a:r>
            <a:r>
              <a:rPr lang="en-US" altLang="en-US" dirty="0" err="1">
                <a:solidFill>
                  <a:srgbClr val="666666">
                    <a:lumMod val="50000"/>
                  </a:srgbClr>
                </a:solidFill>
              </a:rPr>
              <a:t>để</a:t>
            </a:r>
            <a:r>
              <a:rPr lang="en-US" altLang="en-US" dirty="0">
                <a:solidFill>
                  <a:srgbClr val="666666">
                    <a:lumMod val="50000"/>
                  </a:srgbClr>
                </a:solidFill>
              </a:rPr>
              <a:t> </a:t>
            </a:r>
            <a:r>
              <a:rPr lang="en-US" altLang="en-US" dirty="0" err="1">
                <a:solidFill>
                  <a:srgbClr val="666666">
                    <a:lumMod val="50000"/>
                  </a:srgbClr>
                </a:solidFill>
              </a:rPr>
              <a:t>gán</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đầu</a:t>
            </a:r>
            <a:r>
              <a:rPr lang="en-US" altLang="en-US" dirty="0">
                <a:solidFill>
                  <a:srgbClr val="666666">
                    <a:lumMod val="50000"/>
                  </a:srgbClr>
                </a:solidFill>
              </a:rPr>
              <a:t> </a:t>
            </a:r>
            <a:r>
              <a:rPr lang="en-US" altLang="en-US" dirty="0" err="1">
                <a:solidFill>
                  <a:srgbClr val="666666">
                    <a:lumMod val="50000"/>
                  </a:srgbClr>
                </a:solidFill>
              </a:rPr>
              <a:t>cuối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host).</a:t>
            </a:r>
          </a:p>
          <a:p>
            <a:pPr marL="228600" lvl="0" indent="-228600" algn="just">
              <a:lnSpc>
                <a:spcPct val="13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Như </a:t>
            </a:r>
            <a:r>
              <a:rPr lang="en-US" altLang="en-US" dirty="0" err="1">
                <a:solidFill>
                  <a:srgbClr val="666666">
                    <a:lumMod val="50000"/>
                  </a:srgbClr>
                </a:solidFill>
              </a:rPr>
              <a:t>vậy</a:t>
            </a:r>
            <a:r>
              <a:rPr lang="en-US" altLang="en-US" dirty="0">
                <a:solidFill>
                  <a:srgbClr val="666666">
                    <a:lumMod val="50000"/>
                  </a:srgbClr>
                </a:solidFill>
              </a:rPr>
              <a:t> </a:t>
            </a:r>
            <a:r>
              <a:rPr lang="en-US" altLang="en-US" dirty="0" err="1">
                <a:solidFill>
                  <a:srgbClr val="666666">
                    <a:lumMod val="50000"/>
                  </a:srgbClr>
                </a:solidFill>
              </a:rPr>
              <a:t>mỗi</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A </a:t>
            </a:r>
            <a:r>
              <a:rPr lang="en-US" altLang="en-US" dirty="0" err="1">
                <a:solidFill>
                  <a:srgbClr val="666666">
                    <a:lumMod val="50000"/>
                  </a:srgbClr>
                </a:solidFill>
              </a:rPr>
              <a:t>sẽ</a:t>
            </a:r>
            <a:r>
              <a:rPr lang="en-US" altLang="en-US" dirty="0">
                <a:solidFill>
                  <a:srgbClr val="666666">
                    <a:lumMod val="50000"/>
                  </a:srgbClr>
                </a:solidFill>
              </a:rPr>
              <a:t> </a:t>
            </a:r>
            <a:r>
              <a:rPr lang="en-US" altLang="en-US" dirty="0" err="1">
                <a:solidFill>
                  <a:srgbClr val="666666">
                    <a:lumMod val="50000"/>
                  </a:srgbClr>
                </a:solidFill>
              </a:rPr>
              <a:t>có</a:t>
            </a:r>
            <a:r>
              <a:rPr lang="en-US" altLang="en-US" dirty="0">
                <a:solidFill>
                  <a:srgbClr val="666666">
                    <a:lumMod val="50000"/>
                  </a:srgbClr>
                </a:solidFill>
              </a:rPr>
              <a:t> </a:t>
            </a:r>
            <a:r>
              <a:rPr lang="en-US" altLang="en-US" b="1" dirty="0">
                <a:solidFill>
                  <a:srgbClr val="666666">
                    <a:lumMod val="50000"/>
                  </a:srgbClr>
                </a:solidFill>
              </a:rPr>
              <a:t>2</a:t>
            </a:r>
            <a:r>
              <a:rPr lang="en-US" altLang="en-US" b="1" baseline="30000" dirty="0">
                <a:solidFill>
                  <a:srgbClr val="666666">
                    <a:lumMod val="50000"/>
                  </a:srgbClr>
                </a:solidFill>
              </a:rPr>
              <a:t>24</a:t>
            </a:r>
            <a:r>
              <a:rPr lang="en-US" altLang="en-US" b="1" dirty="0">
                <a:solidFill>
                  <a:srgbClr val="666666">
                    <a:lumMod val="50000"/>
                  </a:srgbClr>
                </a:solidFill>
              </a:rPr>
              <a:t>-2 =  16,777,214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host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phép</a:t>
            </a:r>
            <a:r>
              <a:rPr lang="en-US" altLang="en-US" dirty="0">
                <a:solidFill>
                  <a:srgbClr val="666666">
                    <a:lumMod val="50000"/>
                  </a:srgbClr>
                </a:solidFill>
              </a:rPr>
              <a:t> </a:t>
            </a:r>
            <a:r>
              <a:rPr lang="en-US" altLang="en-US" dirty="0" err="1">
                <a:solidFill>
                  <a:srgbClr val="666666">
                    <a:lumMod val="50000"/>
                  </a:srgbClr>
                </a:solidFill>
              </a:rPr>
              <a:t>sử</a:t>
            </a:r>
            <a:r>
              <a:rPr lang="en-US" altLang="en-US" dirty="0">
                <a:solidFill>
                  <a:srgbClr val="666666">
                    <a:lumMod val="50000"/>
                  </a:srgbClr>
                </a:solidFill>
              </a:rPr>
              <a:t> </a:t>
            </a:r>
            <a:r>
              <a:rPr lang="en-US" altLang="en-US" dirty="0" err="1">
                <a:solidFill>
                  <a:srgbClr val="666666">
                    <a:lumMod val="50000"/>
                  </a:srgbClr>
                </a:solidFill>
              </a:rPr>
              <a:t>dụng</a:t>
            </a:r>
            <a:r>
              <a:rPr lang="en-US" altLang="en-US" dirty="0">
                <a:solidFill>
                  <a:srgbClr val="666666">
                    <a:lumMod val="50000"/>
                  </a:srgbClr>
                </a:solidFill>
              </a:rPr>
              <a:t>.</a:t>
            </a:r>
          </a:p>
          <a:p>
            <a:pPr marL="228600" lvl="0" indent="-228600" algn="just">
              <a:lnSpc>
                <a:spcPct val="130000"/>
              </a:lnSpc>
              <a:spcBef>
                <a:spcPts val="600"/>
              </a:spcBef>
              <a:buClr>
                <a:srgbClr val="005BBB"/>
              </a:buClr>
              <a:buSzPct val="120000"/>
              <a:buFont typeface="Arial" panose="020B0604020202020204" pitchFamily="34" charset="0"/>
              <a:buChar char="•"/>
              <a:defRPr/>
            </a:pPr>
            <a:r>
              <a:rPr lang="en-US" altLang="en-US" dirty="0" err="1">
                <a:solidFill>
                  <a:srgbClr val="666666">
                    <a:lumMod val="50000"/>
                  </a:srgbClr>
                </a:solidFill>
              </a:rPr>
              <a:t>Dải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hợp</a:t>
            </a:r>
            <a:r>
              <a:rPr lang="en-US" altLang="en-US" dirty="0">
                <a:solidFill>
                  <a:srgbClr val="666666">
                    <a:lumMod val="50000"/>
                  </a:srgbClr>
                </a:solidFill>
              </a:rPr>
              <a:t> </a:t>
            </a:r>
            <a:r>
              <a:rPr lang="en-US" altLang="en-US" dirty="0" err="1">
                <a:solidFill>
                  <a:srgbClr val="666666">
                    <a:lumMod val="50000"/>
                  </a:srgbClr>
                </a:solidFill>
              </a:rPr>
              <a:t>lệ</a:t>
            </a:r>
            <a:r>
              <a:rPr lang="en-US" altLang="en-US" dirty="0">
                <a:solidFill>
                  <a:srgbClr val="666666">
                    <a:lumMod val="50000"/>
                  </a:srgbClr>
                </a:solidFill>
              </a:rPr>
              <a:t>: 1.0.0.0 – 127.255.255.255</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4407" y="1709582"/>
            <a:ext cx="5451614" cy="1107359"/>
          </a:xfrm>
          <a:prstGeom prst="rect">
            <a:avLst/>
          </a:prstGeom>
        </p:spPr>
      </p:pic>
    </p:spTree>
    <p:extLst>
      <p:ext uri="{BB962C8B-B14F-4D97-AF65-F5344CB8AC3E}">
        <p14:creationId xmlns:p14="http://schemas.microsoft.com/office/powerpoint/2010/main" val="3825871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FFC000"/>
                </a:solidFill>
                <a:cs typeface="Helvetica World" panose="020B0500040000020004" pitchFamily="34" charset="0"/>
              </a:rPr>
              <a:t>ĐỊA CHỈ LỚP</a:t>
            </a:r>
            <a:r>
              <a:rPr kumimoji="0" lang="en-US" sz="1800" b="1" i="0" u="none" strike="noStrike" kern="1200" cap="none" spc="0" normalizeH="0" baseline="0" noProof="0">
                <a:ln>
                  <a:noFill/>
                </a:ln>
                <a:solidFill>
                  <a:srgbClr val="FFC000"/>
                </a:solidFill>
                <a:effectLst/>
                <a:uLnTx/>
                <a:uFillTx/>
                <a:cs typeface="Helvetica World" panose="020B0500040000020004" pitchFamily="34" charset="0"/>
              </a:rPr>
              <a:t> B</a:t>
            </a:r>
          </a:p>
        </p:txBody>
      </p:sp>
      <p:sp>
        <p:nvSpPr>
          <p:cNvPr id="168" name="Rectangle 3"/>
          <p:cNvSpPr txBox="1">
            <a:spLocks noChangeArrowheads="1"/>
          </p:cNvSpPr>
          <p:nvPr/>
        </p:nvSpPr>
        <p:spPr>
          <a:xfrm>
            <a:off x="149783" y="1371547"/>
            <a:ext cx="5988712" cy="5061683"/>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sp>
        <p:nvSpPr>
          <p:cNvPr id="4" name="TextBox 3"/>
          <p:cNvSpPr txBox="1"/>
          <p:nvPr/>
        </p:nvSpPr>
        <p:spPr>
          <a:xfrm>
            <a:off x="7317069" y="3307374"/>
            <a:ext cx="4254691" cy="369332"/>
          </a:xfrm>
          <a:prstGeom prst="rect">
            <a:avLst/>
          </a:prstGeom>
          <a:solidFill>
            <a:schemeClr val="accent5">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FF0000"/>
                </a:solidFill>
                <a:latin typeface="Arial" panose="020B0604020202020204"/>
              </a:rPr>
              <a:t>Octet đầu</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rPr>
              <a:t>:  128 </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191  </a:t>
            </a:r>
            <a:r>
              <a:rPr lang="en-US" b="1" noProof="0">
                <a:solidFill>
                  <a:srgbClr val="FF0000"/>
                </a:solidFill>
                <a:latin typeface="Arial" panose="020B0604020202020204"/>
                <a:sym typeface="Wingdings" panose="05000000000000000000" pitchFamily="2" charset="2"/>
              </a:rPr>
              <a:t>Địa chỉ lớp</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B</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8" name="TextBox 7"/>
          <p:cNvSpPr txBox="1"/>
          <p:nvPr/>
        </p:nvSpPr>
        <p:spPr>
          <a:xfrm>
            <a:off x="6548286" y="1342051"/>
            <a:ext cx="2028119" cy="369332"/>
          </a:xfrm>
          <a:prstGeom prst="rect">
            <a:avLst/>
          </a:prstGeom>
          <a:noFill/>
        </p:spPr>
        <p:txBody>
          <a:bodyPr wrap="none" rtlCol="0">
            <a:spAutoFit/>
          </a:bodyPr>
          <a:lstStyle/>
          <a:p>
            <a:r>
              <a:rPr lang="en-US" u="sng"/>
              <a:t>Địa chỉ IPv4 lớp B</a:t>
            </a:r>
          </a:p>
        </p:txBody>
      </p:sp>
      <p:sp>
        <p:nvSpPr>
          <p:cNvPr id="2" name="TextBox 1"/>
          <p:cNvSpPr txBox="1"/>
          <p:nvPr/>
        </p:nvSpPr>
        <p:spPr>
          <a:xfrm>
            <a:off x="121920" y="1449080"/>
            <a:ext cx="6394193" cy="4216539"/>
          </a:xfrm>
          <a:prstGeom prst="rect">
            <a:avLst/>
          </a:prstGeom>
          <a:solidFill>
            <a:schemeClr val="tx1">
              <a:lumMod val="20000"/>
              <a:lumOff val="80000"/>
            </a:schemeClr>
          </a:solidFill>
        </p:spPr>
        <p:txBody>
          <a:bodyPr wrap="square" rtlCol="0">
            <a:spAutoFit/>
          </a:bodyPr>
          <a:lstStyle/>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Hai bit </a:t>
            </a:r>
            <a:r>
              <a:rPr lang="en-US" altLang="en-US" dirty="0" err="1">
                <a:solidFill>
                  <a:srgbClr val="666666">
                    <a:lumMod val="50000"/>
                  </a:srgbClr>
                </a:solidFill>
              </a:rPr>
              <a:t>đầu</a:t>
            </a:r>
            <a:r>
              <a:rPr lang="en-US" altLang="en-US" dirty="0">
                <a:solidFill>
                  <a:srgbClr val="666666">
                    <a:lumMod val="50000"/>
                  </a:srgbClr>
                </a:solidFill>
              </a:rPr>
              <a:t> </a:t>
            </a:r>
            <a:r>
              <a:rPr lang="en-US" altLang="en-US" dirty="0" err="1">
                <a:solidFill>
                  <a:srgbClr val="666666">
                    <a:lumMod val="50000"/>
                  </a:srgbClr>
                </a:solidFill>
              </a:rPr>
              <a:t>tiên</a:t>
            </a:r>
            <a:r>
              <a:rPr lang="en-US" altLang="en-US" dirty="0">
                <a:solidFill>
                  <a:srgbClr val="666666">
                    <a:lumMod val="50000"/>
                  </a:srgbClr>
                </a:solidFill>
              </a:rPr>
              <a:t> </a:t>
            </a:r>
            <a:r>
              <a:rPr lang="en-US" altLang="en-US" dirty="0" err="1">
                <a:solidFill>
                  <a:srgbClr val="666666">
                    <a:lumMod val="50000"/>
                  </a:srgbClr>
                </a:solidFill>
              </a:rPr>
              <a:t>của</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IP </a:t>
            </a:r>
            <a:r>
              <a:rPr lang="en-US" altLang="en-US" dirty="0" err="1">
                <a:solidFill>
                  <a:srgbClr val="666666">
                    <a:lumMod val="50000"/>
                  </a:srgbClr>
                </a:solidFill>
              </a:rPr>
              <a:t>lớp</a:t>
            </a:r>
            <a:r>
              <a:rPr lang="en-US" altLang="en-US" dirty="0">
                <a:solidFill>
                  <a:srgbClr val="666666">
                    <a:lumMod val="50000"/>
                  </a:srgbClr>
                </a:solidFill>
              </a:rPr>
              <a:t> B </a:t>
            </a:r>
            <a:r>
              <a:rPr lang="en-US" altLang="en-US" dirty="0" err="1">
                <a:solidFill>
                  <a:srgbClr val="666666">
                    <a:lumMod val="50000"/>
                  </a:srgbClr>
                </a:solidFill>
              </a:rPr>
              <a:t>luôn</a:t>
            </a:r>
            <a:r>
              <a:rPr lang="en-US" altLang="en-US" dirty="0">
                <a:solidFill>
                  <a:srgbClr val="666666">
                    <a:lumMod val="50000"/>
                  </a:srgbClr>
                </a:solidFill>
              </a:rPr>
              <a:t> </a:t>
            </a:r>
            <a:r>
              <a:rPr lang="en-US" altLang="en-US" dirty="0" err="1">
                <a:solidFill>
                  <a:srgbClr val="666666">
                    <a:lumMod val="50000"/>
                  </a:srgbClr>
                </a:solidFill>
              </a:rPr>
              <a:t>là</a:t>
            </a:r>
            <a:r>
              <a:rPr lang="en-US" altLang="en-US" dirty="0">
                <a:solidFill>
                  <a:srgbClr val="666666">
                    <a:lumMod val="50000"/>
                  </a:srgbClr>
                </a:solidFill>
              </a:rPr>
              <a:t> </a:t>
            </a:r>
            <a:r>
              <a:rPr lang="en-US" altLang="en-US" b="1" dirty="0">
                <a:solidFill>
                  <a:srgbClr val="666666">
                    <a:lumMod val="50000"/>
                  </a:srgbClr>
                </a:solidFill>
              </a:rPr>
              <a:t>10</a:t>
            </a:r>
            <a:r>
              <a:rPr lang="en-US" altLang="en-US" dirty="0">
                <a:solidFill>
                  <a:srgbClr val="666666">
                    <a:lumMod val="50000"/>
                  </a:srgbClr>
                </a:solidFill>
              </a:rPr>
              <a: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sym typeface="Wingdings" panose="05000000000000000000" pitchFamily="2" charset="2"/>
              </a:rPr>
              <a:t>14 bit </a:t>
            </a:r>
            <a:r>
              <a:rPr lang="en-US" altLang="en-US" dirty="0" err="1">
                <a:solidFill>
                  <a:srgbClr val="666666">
                    <a:lumMod val="50000"/>
                  </a:srgbClr>
                </a:solidFill>
                <a:sym typeface="Wingdings" panose="05000000000000000000" pitchFamily="2" charset="2"/>
              </a:rPr>
              <a:t>còn</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lại</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trong</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hai</a:t>
            </a:r>
            <a:r>
              <a:rPr lang="en-US" altLang="en-US" dirty="0">
                <a:solidFill>
                  <a:srgbClr val="666666">
                    <a:lumMod val="50000"/>
                  </a:srgbClr>
                </a:solidFill>
                <a:sym typeface="Wingdings" panose="05000000000000000000" pitchFamily="2" charset="2"/>
              </a:rPr>
              <a:t> octet </a:t>
            </a:r>
            <a:r>
              <a:rPr lang="en-US" altLang="en-US" dirty="0" err="1">
                <a:solidFill>
                  <a:srgbClr val="666666">
                    <a:lumMod val="50000"/>
                  </a:srgbClr>
                </a:solidFill>
                <a:sym typeface="Wingdings" panose="05000000000000000000" pitchFamily="2" charset="2"/>
              </a:rPr>
              <a:t>đầu</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được</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dùng</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để</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xác</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định</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địa</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chỉ</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mạng</a:t>
            </a:r>
            <a:r>
              <a:rPr lang="en-US" altLang="en-US" dirty="0">
                <a:solidFill>
                  <a:srgbClr val="666666">
                    <a:lumMod val="50000"/>
                  </a:srgbClr>
                </a:solidFill>
                <a:sym typeface="Wingdings" panose="05000000000000000000" pitchFamily="2" charset="2"/>
              </a:rPr>
              <a:t>  </a:t>
            </a:r>
            <a:r>
              <a:rPr lang="en-US" altLang="en-US" dirty="0" err="1">
                <a:solidFill>
                  <a:srgbClr val="666666">
                    <a:lumMod val="50000"/>
                  </a:srgbClr>
                </a:solidFill>
                <a:sym typeface="Wingdings" panose="05000000000000000000" pitchFamily="2" charset="2"/>
              </a:rPr>
              <a:t>có</a:t>
            </a:r>
            <a:r>
              <a:rPr lang="en-US" altLang="en-US" dirty="0">
                <a:solidFill>
                  <a:srgbClr val="666666">
                    <a:lumMod val="50000"/>
                  </a:srgbClr>
                </a:solidFill>
                <a:sym typeface="Wingdings" panose="05000000000000000000" pitchFamily="2" charset="2"/>
              </a:rPr>
              <a:t> </a:t>
            </a:r>
            <a:r>
              <a:rPr lang="en-US" altLang="en-US" b="1" dirty="0">
                <a:solidFill>
                  <a:srgbClr val="666666">
                    <a:lumMod val="50000"/>
                  </a:srgbClr>
                </a:solidFill>
                <a:sym typeface="Wingdings" panose="05000000000000000000" pitchFamily="2" charset="2"/>
              </a:rPr>
              <a:t>2</a:t>
            </a:r>
            <a:r>
              <a:rPr lang="en-US" altLang="en-US" b="1" baseline="30000" dirty="0">
                <a:solidFill>
                  <a:srgbClr val="666666">
                    <a:lumMod val="50000"/>
                  </a:srgbClr>
                </a:solidFill>
                <a:sym typeface="Wingdings" panose="05000000000000000000" pitchFamily="2" charset="2"/>
              </a:rPr>
              <a:t>14</a:t>
            </a:r>
            <a:r>
              <a:rPr lang="en-US" altLang="en-US" b="1" dirty="0">
                <a:solidFill>
                  <a:srgbClr val="666666">
                    <a:lumMod val="50000"/>
                  </a:srgbClr>
                </a:solidFill>
                <a:sym typeface="Wingdings" panose="05000000000000000000" pitchFamily="2" charset="2"/>
              </a:rPr>
              <a:t> = 16,384 </a:t>
            </a:r>
            <a:r>
              <a:rPr lang="en-US" altLang="en-US" dirty="0" err="1">
                <a:solidFill>
                  <a:srgbClr val="666666">
                    <a:lumMod val="50000"/>
                  </a:srgbClr>
                </a:solidFill>
                <a:sym typeface="Wingdings" panose="05000000000000000000" pitchFamily="2" charset="2"/>
              </a:rPr>
              <a:t>mạng</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lớp</a:t>
            </a:r>
            <a:r>
              <a:rPr lang="en-US" altLang="en-US" dirty="0">
                <a:solidFill>
                  <a:srgbClr val="666666">
                    <a:lumMod val="50000"/>
                  </a:srgbClr>
                </a:solidFill>
                <a:sym typeface="Wingdings" panose="05000000000000000000" pitchFamily="2" charset="2"/>
              </a:rPr>
              <a:t> B.</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err="1">
                <a:solidFill>
                  <a:srgbClr val="666666">
                    <a:lumMod val="50000"/>
                  </a:srgbClr>
                </a:solidFill>
              </a:rPr>
              <a:t>Dải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B: </a:t>
            </a:r>
            <a:r>
              <a:rPr lang="en-US" altLang="en-US" dirty="0">
                <a:solidFill>
                  <a:srgbClr val="FF0000"/>
                </a:solidFill>
              </a:rPr>
              <a:t>128.0.0.0 </a:t>
            </a:r>
            <a:r>
              <a:rPr lang="en-US" altLang="en-US" dirty="0" err="1">
                <a:solidFill>
                  <a:srgbClr val="666666">
                    <a:lumMod val="50000"/>
                  </a:srgbClr>
                </a:solidFill>
              </a:rPr>
              <a:t>đến</a:t>
            </a:r>
            <a:r>
              <a:rPr lang="en-US" altLang="en-US" dirty="0">
                <a:solidFill>
                  <a:srgbClr val="FF0000"/>
                </a:solidFill>
              </a:rPr>
              <a:t> 191.255.0.0</a:t>
            </a:r>
            <a:r>
              <a:rPr lang="en-US" altLang="en-US" dirty="0">
                <a:solidFill>
                  <a:srgbClr val="666666">
                    <a:lumMod val="50000"/>
                  </a:srgbClr>
                </a:solidFill>
              </a:rPr>
              <a: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Hai octet </a:t>
            </a:r>
            <a:r>
              <a:rPr lang="en-US" altLang="en-US" dirty="0" err="1">
                <a:solidFill>
                  <a:srgbClr val="666666">
                    <a:lumMod val="50000"/>
                  </a:srgbClr>
                </a:solidFill>
              </a:rPr>
              <a:t>sau</a:t>
            </a:r>
            <a:r>
              <a:rPr lang="en-US" altLang="en-US" dirty="0">
                <a:solidFill>
                  <a:srgbClr val="666666">
                    <a:lumMod val="50000"/>
                  </a:srgbClr>
                </a:solidFill>
              </a:rPr>
              <a:t> </a:t>
            </a:r>
            <a:r>
              <a:rPr lang="en-US" altLang="en-US" dirty="0" err="1">
                <a:solidFill>
                  <a:srgbClr val="666666">
                    <a:lumMod val="50000"/>
                  </a:srgbClr>
                </a:solidFill>
              </a:rPr>
              <a:t>của</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B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dùng</a:t>
            </a:r>
            <a:r>
              <a:rPr lang="en-US" altLang="en-US" dirty="0">
                <a:solidFill>
                  <a:srgbClr val="666666">
                    <a:lumMod val="50000"/>
                  </a:srgbClr>
                </a:solidFill>
              </a:rPr>
              <a:t> </a:t>
            </a:r>
            <a:r>
              <a:rPr lang="en-US" altLang="en-US" dirty="0" err="1">
                <a:solidFill>
                  <a:srgbClr val="666666">
                    <a:lumMod val="50000"/>
                  </a:srgbClr>
                </a:solidFill>
              </a:rPr>
              <a:t>để</a:t>
            </a:r>
            <a:r>
              <a:rPr lang="en-US" altLang="en-US" dirty="0">
                <a:solidFill>
                  <a:srgbClr val="666666">
                    <a:lumMod val="50000"/>
                  </a:srgbClr>
                </a:solidFill>
              </a:rPr>
              <a:t> </a:t>
            </a:r>
            <a:r>
              <a:rPr lang="en-US" altLang="en-US" dirty="0" err="1">
                <a:solidFill>
                  <a:srgbClr val="666666">
                    <a:lumMod val="50000"/>
                  </a:srgbClr>
                </a:solidFill>
              </a:rPr>
              <a:t>gán</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host.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Như </a:t>
            </a:r>
            <a:r>
              <a:rPr lang="en-US" altLang="en-US" dirty="0" err="1">
                <a:solidFill>
                  <a:srgbClr val="666666">
                    <a:lumMod val="50000"/>
                  </a:srgbClr>
                </a:solidFill>
              </a:rPr>
              <a:t>vậy</a:t>
            </a:r>
            <a:r>
              <a:rPr lang="en-US" altLang="en-US" dirty="0">
                <a:solidFill>
                  <a:srgbClr val="666666">
                    <a:lumMod val="50000"/>
                  </a:srgbClr>
                </a:solidFill>
              </a:rPr>
              <a:t> </a:t>
            </a:r>
            <a:r>
              <a:rPr lang="en-US" altLang="en-US" dirty="0" err="1">
                <a:solidFill>
                  <a:srgbClr val="666666">
                    <a:lumMod val="50000"/>
                  </a:srgbClr>
                </a:solidFill>
              </a:rPr>
              <a:t>mỗi</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B </a:t>
            </a:r>
            <a:r>
              <a:rPr lang="en-US" altLang="en-US" dirty="0" err="1">
                <a:solidFill>
                  <a:srgbClr val="666666">
                    <a:lumMod val="50000"/>
                  </a:srgbClr>
                </a:solidFill>
              </a:rPr>
              <a:t>sẽ</a:t>
            </a:r>
            <a:r>
              <a:rPr lang="en-US" altLang="en-US" dirty="0">
                <a:solidFill>
                  <a:srgbClr val="666666">
                    <a:lumMod val="50000"/>
                  </a:srgbClr>
                </a:solidFill>
              </a:rPr>
              <a:t> </a:t>
            </a:r>
            <a:r>
              <a:rPr lang="en-US" altLang="en-US" dirty="0" err="1">
                <a:solidFill>
                  <a:srgbClr val="666666">
                    <a:lumMod val="50000"/>
                  </a:srgbClr>
                </a:solidFill>
              </a:rPr>
              <a:t>có</a:t>
            </a:r>
            <a:r>
              <a:rPr lang="en-US" altLang="en-US" dirty="0">
                <a:solidFill>
                  <a:srgbClr val="666666">
                    <a:lumMod val="50000"/>
                  </a:srgbClr>
                </a:solidFill>
              </a:rPr>
              <a:t> </a:t>
            </a:r>
            <a:r>
              <a:rPr lang="en-US" altLang="en-US" b="1" dirty="0">
                <a:solidFill>
                  <a:srgbClr val="666666">
                    <a:lumMod val="50000"/>
                  </a:srgbClr>
                </a:solidFill>
              </a:rPr>
              <a:t>2</a:t>
            </a:r>
            <a:r>
              <a:rPr lang="en-US" altLang="en-US" b="1" baseline="30000" dirty="0">
                <a:solidFill>
                  <a:srgbClr val="666666">
                    <a:lumMod val="50000"/>
                  </a:srgbClr>
                </a:solidFill>
              </a:rPr>
              <a:t>16</a:t>
            </a:r>
            <a:r>
              <a:rPr lang="en-US" altLang="en-US" b="1" dirty="0">
                <a:solidFill>
                  <a:srgbClr val="666666">
                    <a:lumMod val="50000"/>
                  </a:srgbClr>
                </a:solidFill>
              </a:rPr>
              <a:t> – 2 = 65,534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host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phép</a:t>
            </a:r>
            <a:r>
              <a:rPr lang="en-US" altLang="en-US" dirty="0">
                <a:solidFill>
                  <a:srgbClr val="666666">
                    <a:lumMod val="50000"/>
                  </a:srgbClr>
                </a:solidFill>
              </a:rPr>
              <a:t> </a:t>
            </a:r>
            <a:r>
              <a:rPr lang="en-US" altLang="en-US" dirty="0" err="1">
                <a:solidFill>
                  <a:srgbClr val="666666">
                    <a:lumMod val="50000"/>
                  </a:srgbClr>
                </a:solidFill>
              </a:rPr>
              <a:t>sử</a:t>
            </a:r>
            <a:r>
              <a:rPr lang="en-US" altLang="en-US" dirty="0">
                <a:solidFill>
                  <a:srgbClr val="666666">
                    <a:lumMod val="50000"/>
                  </a:srgbClr>
                </a:solidFill>
              </a:rPr>
              <a:t> </a:t>
            </a:r>
            <a:r>
              <a:rPr lang="en-US" altLang="en-US" dirty="0" err="1">
                <a:solidFill>
                  <a:srgbClr val="666666">
                    <a:lumMod val="50000"/>
                  </a:srgbClr>
                </a:solidFill>
              </a:rPr>
              <a:t>dụng</a:t>
            </a:r>
            <a:r>
              <a:rPr lang="en-US" altLang="en-US" dirty="0">
                <a:solidFill>
                  <a:srgbClr val="666666">
                    <a:lumMod val="50000"/>
                  </a:srgbClr>
                </a:solidFill>
              </a:rPr>
              <a: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err="1">
                <a:solidFill>
                  <a:srgbClr val="666666">
                    <a:lumMod val="50000"/>
                  </a:srgbClr>
                </a:solidFill>
              </a:rPr>
              <a:t>Dải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hợp</a:t>
            </a:r>
            <a:r>
              <a:rPr lang="en-US" altLang="en-US" dirty="0">
                <a:solidFill>
                  <a:srgbClr val="666666">
                    <a:lumMod val="50000"/>
                  </a:srgbClr>
                </a:solidFill>
              </a:rPr>
              <a:t> </a:t>
            </a:r>
            <a:r>
              <a:rPr lang="en-US" altLang="en-US" dirty="0" err="1">
                <a:solidFill>
                  <a:srgbClr val="666666">
                    <a:lumMod val="50000"/>
                  </a:srgbClr>
                </a:solidFill>
              </a:rPr>
              <a:t>lệ</a:t>
            </a:r>
            <a:r>
              <a:rPr lang="en-US" altLang="en-US" dirty="0">
                <a:solidFill>
                  <a:srgbClr val="666666">
                    <a:lumMod val="50000"/>
                  </a:srgbClr>
                </a:solidFill>
              </a:rPr>
              <a:t>: 128.0.0.0 – 191.255.255.255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1517" y="1739081"/>
            <a:ext cx="5451604" cy="1107357"/>
          </a:xfrm>
          <a:prstGeom prst="rect">
            <a:avLst/>
          </a:prstGeom>
        </p:spPr>
      </p:pic>
    </p:spTree>
    <p:extLst>
      <p:ext uri="{BB962C8B-B14F-4D97-AF65-F5344CB8AC3E}">
        <p14:creationId xmlns:p14="http://schemas.microsoft.com/office/powerpoint/2010/main" val="1645162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566031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FFC000"/>
                </a:solidFill>
                <a:cs typeface="Helvetica World" panose="020B0500040000020004" pitchFamily="34" charset="0"/>
              </a:rPr>
              <a:t>ĐỊA CHỈ LỚP</a:t>
            </a:r>
            <a:r>
              <a:rPr kumimoji="0" lang="en-US" sz="1800" b="1" i="0" u="none" strike="noStrike" kern="1200" cap="none" spc="0" normalizeH="0" baseline="0" noProof="0">
                <a:ln>
                  <a:noFill/>
                </a:ln>
                <a:solidFill>
                  <a:srgbClr val="FFC000"/>
                </a:solidFill>
                <a:effectLst/>
                <a:uLnTx/>
                <a:uFillTx/>
                <a:cs typeface="Helvetica World" panose="020B0500040000020004" pitchFamily="34" charset="0"/>
              </a:rPr>
              <a:t> C</a:t>
            </a:r>
          </a:p>
        </p:txBody>
      </p:sp>
      <p:sp>
        <p:nvSpPr>
          <p:cNvPr id="168" name="Rectangle 3"/>
          <p:cNvSpPr txBox="1">
            <a:spLocks noChangeArrowheads="1"/>
          </p:cNvSpPr>
          <p:nvPr/>
        </p:nvSpPr>
        <p:spPr>
          <a:xfrm>
            <a:off x="149783" y="1371547"/>
            <a:ext cx="5988712" cy="5061683"/>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sp>
        <p:nvSpPr>
          <p:cNvPr id="4" name="TextBox 3"/>
          <p:cNvSpPr txBox="1"/>
          <p:nvPr/>
        </p:nvSpPr>
        <p:spPr>
          <a:xfrm>
            <a:off x="7346563" y="3130394"/>
            <a:ext cx="4254691" cy="369332"/>
          </a:xfrm>
          <a:prstGeom prst="rect">
            <a:avLst/>
          </a:prstGeom>
          <a:solidFill>
            <a:schemeClr val="accent5">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FF0000"/>
                </a:solidFill>
                <a:latin typeface="Arial" panose="020B0604020202020204"/>
              </a:rPr>
              <a:t>Octet đầu</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rPr>
              <a:t>:  192 </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223  </a:t>
            </a:r>
            <a:r>
              <a:rPr lang="en-US" b="1" noProof="0">
                <a:solidFill>
                  <a:srgbClr val="FF0000"/>
                </a:solidFill>
                <a:latin typeface="Arial" panose="020B0604020202020204"/>
                <a:sym typeface="Wingdings" panose="05000000000000000000" pitchFamily="2" charset="2"/>
              </a:rPr>
              <a:t>Địa chỉ lớp</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C</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10" name="TextBox 9"/>
          <p:cNvSpPr txBox="1"/>
          <p:nvPr/>
        </p:nvSpPr>
        <p:spPr>
          <a:xfrm>
            <a:off x="6548286" y="1342051"/>
            <a:ext cx="2028119" cy="369332"/>
          </a:xfrm>
          <a:prstGeom prst="rect">
            <a:avLst/>
          </a:prstGeom>
          <a:noFill/>
        </p:spPr>
        <p:txBody>
          <a:bodyPr wrap="none" rtlCol="0">
            <a:spAutoFit/>
          </a:bodyPr>
          <a:lstStyle/>
          <a:p>
            <a:r>
              <a:rPr lang="en-US" u="sng"/>
              <a:t>Địa chỉ IPv4 lớp C</a:t>
            </a:r>
          </a:p>
        </p:txBody>
      </p:sp>
      <p:sp>
        <p:nvSpPr>
          <p:cNvPr id="2" name="Rectangle 1"/>
          <p:cNvSpPr/>
          <p:nvPr/>
        </p:nvSpPr>
        <p:spPr>
          <a:xfrm>
            <a:off x="60959" y="1363221"/>
            <a:ext cx="6443073" cy="3385542"/>
          </a:xfrm>
          <a:prstGeom prst="rect">
            <a:avLst/>
          </a:prstGeom>
          <a:solidFill>
            <a:schemeClr val="tx1">
              <a:lumMod val="20000"/>
              <a:lumOff val="80000"/>
            </a:schemeClr>
          </a:solidFill>
        </p:spPr>
        <p:txBody>
          <a:bodyPr wrap="square">
            <a:spAutoFit/>
          </a:bodyPr>
          <a:lstStyle/>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Ba bit </a:t>
            </a:r>
            <a:r>
              <a:rPr lang="en-US" altLang="en-US" dirty="0" err="1">
                <a:solidFill>
                  <a:srgbClr val="666666">
                    <a:lumMod val="50000"/>
                  </a:srgbClr>
                </a:solidFill>
              </a:rPr>
              <a:t>đầu</a:t>
            </a:r>
            <a:r>
              <a:rPr lang="en-US" altLang="en-US" dirty="0">
                <a:solidFill>
                  <a:srgbClr val="666666">
                    <a:lumMod val="50000"/>
                  </a:srgbClr>
                </a:solidFill>
              </a:rPr>
              <a:t> </a:t>
            </a:r>
            <a:r>
              <a:rPr lang="en-US" altLang="en-US" dirty="0" err="1">
                <a:solidFill>
                  <a:srgbClr val="666666">
                    <a:lumMod val="50000"/>
                  </a:srgbClr>
                </a:solidFill>
              </a:rPr>
              <a:t>tiên</a:t>
            </a:r>
            <a:r>
              <a:rPr lang="en-US" altLang="en-US" dirty="0">
                <a:solidFill>
                  <a:srgbClr val="666666">
                    <a:lumMod val="50000"/>
                  </a:srgbClr>
                </a:solidFill>
              </a:rPr>
              <a:t> </a:t>
            </a:r>
            <a:r>
              <a:rPr lang="en-US" altLang="en-US" dirty="0" err="1">
                <a:solidFill>
                  <a:srgbClr val="666666">
                    <a:lumMod val="50000"/>
                  </a:srgbClr>
                </a:solidFill>
              </a:rPr>
              <a:t>của</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C </a:t>
            </a:r>
            <a:r>
              <a:rPr lang="en-US" altLang="en-US" dirty="0" err="1">
                <a:solidFill>
                  <a:srgbClr val="666666">
                    <a:lumMod val="50000"/>
                  </a:srgbClr>
                </a:solidFill>
              </a:rPr>
              <a:t>luôn</a:t>
            </a:r>
            <a:r>
              <a:rPr lang="en-US" altLang="en-US" dirty="0">
                <a:solidFill>
                  <a:srgbClr val="666666">
                    <a:lumMod val="50000"/>
                  </a:srgbClr>
                </a:solidFill>
              </a:rPr>
              <a:t> </a:t>
            </a:r>
            <a:r>
              <a:rPr lang="en-US" altLang="en-US" dirty="0" err="1">
                <a:solidFill>
                  <a:srgbClr val="666666">
                    <a:lumMod val="50000"/>
                  </a:srgbClr>
                </a:solidFill>
              </a:rPr>
              <a:t>là</a:t>
            </a:r>
            <a:r>
              <a:rPr lang="en-US" altLang="en-US" dirty="0">
                <a:solidFill>
                  <a:srgbClr val="666666">
                    <a:lumMod val="50000"/>
                  </a:srgbClr>
                </a:solidFill>
              </a:rPr>
              <a:t> </a:t>
            </a:r>
            <a:r>
              <a:rPr lang="en-US" altLang="en-US" b="1" dirty="0">
                <a:solidFill>
                  <a:srgbClr val="666666">
                    <a:lumMod val="50000"/>
                  </a:srgbClr>
                </a:solidFill>
              </a:rPr>
              <a:t>110</a:t>
            </a:r>
            <a:r>
              <a:rPr lang="en-US" altLang="en-US" dirty="0">
                <a:solidFill>
                  <a:srgbClr val="666666">
                    <a:lumMod val="50000"/>
                  </a:srgbClr>
                </a:solidFill>
              </a:rPr>
              <a: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sym typeface="Wingdings" panose="05000000000000000000" pitchFamily="2" charset="2"/>
              </a:rPr>
              <a:t>21 bit </a:t>
            </a:r>
            <a:r>
              <a:rPr lang="en-US" altLang="en-US" dirty="0" err="1">
                <a:solidFill>
                  <a:srgbClr val="666666">
                    <a:lumMod val="50000"/>
                  </a:srgbClr>
                </a:solidFill>
                <a:sym typeface="Wingdings" panose="05000000000000000000" pitchFamily="2" charset="2"/>
              </a:rPr>
              <a:t>còn</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lại</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trong</a:t>
            </a:r>
            <a:r>
              <a:rPr lang="en-US" altLang="en-US" dirty="0">
                <a:solidFill>
                  <a:srgbClr val="666666">
                    <a:lumMod val="50000"/>
                  </a:srgbClr>
                </a:solidFill>
                <a:sym typeface="Wingdings" panose="05000000000000000000" pitchFamily="2" charset="2"/>
              </a:rPr>
              <a:t> 3 octet </a:t>
            </a:r>
            <a:r>
              <a:rPr lang="en-US" altLang="en-US" dirty="0" err="1">
                <a:solidFill>
                  <a:srgbClr val="666666">
                    <a:lumMod val="50000"/>
                  </a:srgbClr>
                </a:solidFill>
                <a:sym typeface="Wingdings" panose="05000000000000000000" pitchFamily="2" charset="2"/>
              </a:rPr>
              <a:t>đầu</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được</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dùng</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để</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xác</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định</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địa</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chỉ</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mạng</a:t>
            </a:r>
            <a:r>
              <a:rPr lang="en-US" altLang="en-US" dirty="0">
                <a:solidFill>
                  <a:srgbClr val="666666">
                    <a:lumMod val="50000"/>
                  </a:srgbClr>
                </a:solidFill>
                <a:sym typeface="Wingdings" panose="05000000000000000000" pitchFamily="2" charset="2"/>
              </a:rPr>
              <a:t>  </a:t>
            </a:r>
            <a:r>
              <a:rPr lang="en-US" altLang="en-US" dirty="0" err="1">
                <a:solidFill>
                  <a:srgbClr val="666666">
                    <a:lumMod val="50000"/>
                  </a:srgbClr>
                </a:solidFill>
                <a:sym typeface="Wingdings" panose="05000000000000000000" pitchFamily="2" charset="2"/>
              </a:rPr>
              <a:t>có</a:t>
            </a:r>
            <a:r>
              <a:rPr lang="en-US" altLang="en-US" dirty="0">
                <a:solidFill>
                  <a:srgbClr val="666666">
                    <a:lumMod val="50000"/>
                  </a:srgbClr>
                </a:solidFill>
                <a:sym typeface="Wingdings" panose="05000000000000000000" pitchFamily="2" charset="2"/>
              </a:rPr>
              <a:t> </a:t>
            </a:r>
            <a:r>
              <a:rPr lang="en-US" altLang="en-US" b="1" dirty="0">
                <a:solidFill>
                  <a:srgbClr val="666666">
                    <a:lumMod val="50000"/>
                  </a:srgbClr>
                </a:solidFill>
                <a:sym typeface="Wingdings" panose="05000000000000000000" pitchFamily="2" charset="2"/>
              </a:rPr>
              <a:t>2</a:t>
            </a:r>
            <a:r>
              <a:rPr lang="en-US" altLang="en-US" b="1" baseline="30000" dirty="0">
                <a:solidFill>
                  <a:srgbClr val="666666">
                    <a:lumMod val="50000"/>
                  </a:srgbClr>
                </a:solidFill>
                <a:sym typeface="Wingdings" panose="05000000000000000000" pitchFamily="2" charset="2"/>
              </a:rPr>
              <a:t>21</a:t>
            </a:r>
            <a:r>
              <a:rPr lang="en-US" altLang="en-US" b="1" dirty="0">
                <a:solidFill>
                  <a:srgbClr val="666666">
                    <a:lumMod val="50000"/>
                  </a:srgbClr>
                </a:solidFill>
                <a:sym typeface="Wingdings" panose="05000000000000000000" pitchFamily="2" charset="2"/>
              </a:rPr>
              <a:t> = 2,097,152 </a:t>
            </a:r>
            <a:r>
              <a:rPr lang="en-US" altLang="en-US" dirty="0" err="1">
                <a:solidFill>
                  <a:srgbClr val="666666">
                    <a:lumMod val="50000"/>
                  </a:srgbClr>
                </a:solidFill>
                <a:sym typeface="Wingdings" panose="05000000000000000000" pitchFamily="2" charset="2"/>
              </a:rPr>
              <a:t>mạng</a:t>
            </a:r>
            <a:r>
              <a:rPr lang="en-US" altLang="en-US" dirty="0">
                <a:solidFill>
                  <a:srgbClr val="666666">
                    <a:lumMod val="50000"/>
                  </a:srgbClr>
                </a:solidFill>
                <a:sym typeface="Wingdings" panose="05000000000000000000" pitchFamily="2" charset="2"/>
              </a:rPr>
              <a:t> </a:t>
            </a:r>
            <a:r>
              <a:rPr lang="en-US" altLang="en-US" dirty="0" err="1">
                <a:solidFill>
                  <a:srgbClr val="666666">
                    <a:lumMod val="50000"/>
                  </a:srgbClr>
                </a:solidFill>
                <a:sym typeface="Wingdings" panose="05000000000000000000" pitchFamily="2" charset="2"/>
              </a:rPr>
              <a:t>lớp</a:t>
            </a:r>
            <a:r>
              <a:rPr lang="en-US" altLang="en-US" dirty="0">
                <a:solidFill>
                  <a:srgbClr val="666666">
                    <a:lumMod val="50000"/>
                  </a:srgbClr>
                </a:solidFill>
                <a:sym typeface="Wingdings" panose="05000000000000000000" pitchFamily="2" charset="2"/>
              </a:rPr>
              <a:t> C</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err="1">
                <a:solidFill>
                  <a:srgbClr val="666666">
                    <a:lumMod val="50000"/>
                  </a:srgbClr>
                </a:solidFill>
              </a:rPr>
              <a:t>Dải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C: </a:t>
            </a:r>
            <a:r>
              <a:rPr lang="en-US" altLang="en-US" dirty="0">
                <a:solidFill>
                  <a:srgbClr val="FF0000"/>
                </a:solidFill>
              </a:rPr>
              <a:t>192.0.0.0 </a:t>
            </a:r>
            <a:r>
              <a:rPr lang="en-US" altLang="en-US" dirty="0" err="1">
                <a:solidFill>
                  <a:srgbClr val="666666">
                    <a:lumMod val="50000"/>
                  </a:srgbClr>
                </a:solidFill>
              </a:rPr>
              <a:t>đến</a:t>
            </a:r>
            <a:r>
              <a:rPr lang="en-US" altLang="en-US" dirty="0">
                <a:solidFill>
                  <a:srgbClr val="FF0000"/>
                </a:solidFill>
              </a:rPr>
              <a:t> 223.255.255.0</a:t>
            </a:r>
            <a:r>
              <a:rPr lang="en-US" altLang="en-US" dirty="0">
                <a:solidFill>
                  <a:srgbClr val="666666">
                    <a:lumMod val="50000"/>
                  </a:srgbClr>
                </a:solidFill>
              </a:rPr>
              <a: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a:solidFill>
                  <a:srgbClr val="666666">
                    <a:lumMod val="50000"/>
                  </a:srgbClr>
                </a:solidFill>
              </a:rPr>
              <a:t>Octet </a:t>
            </a:r>
            <a:r>
              <a:rPr lang="en-US" altLang="en-US" dirty="0" err="1">
                <a:solidFill>
                  <a:srgbClr val="666666">
                    <a:lumMod val="50000"/>
                  </a:srgbClr>
                </a:solidFill>
              </a:rPr>
              <a:t>sau</a:t>
            </a:r>
            <a:r>
              <a:rPr lang="en-US" altLang="en-US" dirty="0">
                <a:solidFill>
                  <a:srgbClr val="666666">
                    <a:lumMod val="50000"/>
                  </a:srgbClr>
                </a:solidFill>
              </a:rPr>
              <a:t> </a:t>
            </a:r>
            <a:r>
              <a:rPr lang="en-US" altLang="en-US" dirty="0" err="1">
                <a:solidFill>
                  <a:srgbClr val="666666">
                    <a:lumMod val="50000"/>
                  </a:srgbClr>
                </a:solidFill>
              </a:rPr>
              <a:t>cùng</a:t>
            </a:r>
            <a:r>
              <a:rPr lang="en-US" altLang="en-US" dirty="0">
                <a:solidFill>
                  <a:srgbClr val="666666">
                    <a:lumMod val="50000"/>
                  </a:srgbClr>
                </a:solidFill>
              </a:rPr>
              <a:t>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dùng</a:t>
            </a:r>
            <a:r>
              <a:rPr lang="en-US" altLang="en-US" dirty="0">
                <a:solidFill>
                  <a:srgbClr val="666666">
                    <a:lumMod val="50000"/>
                  </a:srgbClr>
                </a:solidFill>
              </a:rPr>
              <a:t> </a:t>
            </a:r>
            <a:r>
              <a:rPr lang="en-US" altLang="en-US" dirty="0" err="1">
                <a:solidFill>
                  <a:srgbClr val="666666">
                    <a:lumMod val="50000"/>
                  </a:srgbClr>
                </a:solidFill>
              </a:rPr>
              <a:t>để</a:t>
            </a:r>
            <a:r>
              <a:rPr lang="en-US" altLang="en-US" dirty="0">
                <a:solidFill>
                  <a:srgbClr val="666666">
                    <a:lumMod val="50000"/>
                  </a:srgbClr>
                </a:solidFill>
              </a:rPr>
              <a:t> </a:t>
            </a:r>
            <a:r>
              <a:rPr lang="en-US" altLang="en-US" dirty="0" err="1">
                <a:solidFill>
                  <a:srgbClr val="666666">
                    <a:lumMod val="50000"/>
                  </a:srgbClr>
                </a:solidFill>
              </a:rPr>
              <a:t>đánh</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host.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err="1">
                <a:solidFill>
                  <a:srgbClr val="666666">
                    <a:lumMod val="50000"/>
                  </a:srgbClr>
                </a:solidFill>
              </a:rPr>
              <a:t>Mỗi</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a:t>
            </a:r>
            <a:r>
              <a:rPr lang="en-US" altLang="en-US" dirty="0" err="1">
                <a:solidFill>
                  <a:srgbClr val="666666">
                    <a:lumMod val="50000"/>
                  </a:srgbClr>
                </a:solidFill>
              </a:rPr>
              <a:t>lớp</a:t>
            </a:r>
            <a:r>
              <a:rPr lang="en-US" altLang="en-US" dirty="0">
                <a:solidFill>
                  <a:srgbClr val="666666">
                    <a:lumMod val="50000"/>
                  </a:srgbClr>
                </a:solidFill>
              </a:rPr>
              <a:t> C </a:t>
            </a:r>
            <a:r>
              <a:rPr lang="en-US" altLang="en-US" dirty="0" err="1">
                <a:solidFill>
                  <a:srgbClr val="666666">
                    <a:lumMod val="50000"/>
                  </a:srgbClr>
                </a:solidFill>
              </a:rPr>
              <a:t>có</a:t>
            </a:r>
            <a:r>
              <a:rPr lang="en-US" altLang="en-US" dirty="0">
                <a:solidFill>
                  <a:srgbClr val="666666">
                    <a:lumMod val="50000"/>
                  </a:srgbClr>
                </a:solidFill>
              </a:rPr>
              <a:t> </a:t>
            </a:r>
            <a:r>
              <a:rPr lang="en-US" altLang="en-US" b="1" dirty="0">
                <a:solidFill>
                  <a:srgbClr val="666666">
                    <a:lumMod val="50000"/>
                  </a:srgbClr>
                </a:solidFill>
              </a:rPr>
              <a:t>2</a:t>
            </a:r>
            <a:r>
              <a:rPr lang="en-US" altLang="en-US" b="1" baseline="30000" dirty="0">
                <a:solidFill>
                  <a:srgbClr val="666666">
                    <a:lumMod val="50000"/>
                  </a:srgbClr>
                </a:solidFill>
              </a:rPr>
              <a:t>8</a:t>
            </a:r>
            <a:r>
              <a:rPr lang="en-US" altLang="en-US" b="1" dirty="0">
                <a:solidFill>
                  <a:srgbClr val="666666">
                    <a:lumMod val="50000"/>
                  </a:srgbClr>
                </a:solidFill>
              </a:rPr>
              <a:t> – 2 = 254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khả</a:t>
            </a:r>
            <a:r>
              <a:rPr lang="en-US" altLang="en-US" dirty="0">
                <a:solidFill>
                  <a:srgbClr val="666666">
                    <a:lumMod val="50000"/>
                  </a:srgbClr>
                </a:solidFill>
              </a:rPr>
              <a:t> </a:t>
            </a:r>
            <a:r>
              <a:rPr lang="en-US" altLang="en-US" dirty="0" err="1">
                <a:solidFill>
                  <a:srgbClr val="666666">
                    <a:lumMod val="50000"/>
                  </a:srgbClr>
                </a:solidFill>
              </a:rPr>
              <a:t>dụng</a:t>
            </a:r>
            <a:r>
              <a:rPr lang="en-US" altLang="en-US" dirty="0">
                <a:solidFill>
                  <a:srgbClr val="666666">
                    <a:lumMod val="50000"/>
                  </a:srgbClr>
                </a:solidFill>
              </a:rPr>
              <a:t>.</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dirty="0" err="1">
                <a:solidFill>
                  <a:srgbClr val="666666">
                    <a:lumMod val="50000"/>
                  </a:srgbClr>
                </a:solidFill>
              </a:rPr>
              <a:t>Dải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hợp</a:t>
            </a:r>
            <a:r>
              <a:rPr lang="en-US" altLang="en-US" dirty="0">
                <a:solidFill>
                  <a:srgbClr val="666666">
                    <a:lumMod val="50000"/>
                  </a:srgbClr>
                </a:solidFill>
              </a:rPr>
              <a:t> </a:t>
            </a:r>
            <a:r>
              <a:rPr lang="en-US" altLang="en-US" dirty="0" err="1">
                <a:solidFill>
                  <a:srgbClr val="666666">
                    <a:lumMod val="50000"/>
                  </a:srgbClr>
                </a:solidFill>
              </a:rPr>
              <a:t>lệ</a:t>
            </a:r>
            <a:r>
              <a:rPr lang="en-US" altLang="en-US" dirty="0">
                <a:solidFill>
                  <a:srgbClr val="666666">
                    <a:lumMod val="50000"/>
                  </a:srgbClr>
                </a:solidFill>
              </a:rPr>
              <a:t>: 192.0.0.0 – 223.255.255.255</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4033" y="1729559"/>
            <a:ext cx="5465972" cy="1131627"/>
          </a:xfrm>
          <a:prstGeom prst="rect">
            <a:avLst/>
          </a:prstGeom>
        </p:spPr>
      </p:pic>
    </p:spTree>
    <p:extLst>
      <p:ext uri="{BB962C8B-B14F-4D97-AF65-F5344CB8AC3E}">
        <p14:creationId xmlns:p14="http://schemas.microsoft.com/office/powerpoint/2010/main" val="520487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8" y="951041"/>
            <a:ext cx="4515838"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FFC000"/>
                </a:solidFill>
                <a:cs typeface="Helvetica World" panose="020B0500040000020004" pitchFamily="34" charset="0"/>
              </a:rPr>
              <a:t>ĐỊA CHỈ LỚP D</a:t>
            </a:r>
            <a:endParaRPr kumimoji="0" lang="en-US" sz="1800" b="1" i="0" u="none" strike="noStrike" kern="1200" cap="none" spc="0" normalizeH="0" baseline="0" noProof="0">
              <a:ln>
                <a:noFill/>
              </a:ln>
              <a:solidFill>
                <a:srgbClr val="FFC000"/>
              </a:solidFill>
              <a:effectLst/>
              <a:uLnTx/>
              <a:uFillTx/>
              <a:cs typeface="Helvetica World" panose="020B0500040000020004" pitchFamily="34" charset="0"/>
            </a:endParaRPr>
          </a:p>
        </p:txBody>
      </p:sp>
      <p:sp>
        <p:nvSpPr>
          <p:cNvPr id="168" name="Rectangle 3"/>
          <p:cNvSpPr txBox="1">
            <a:spLocks noChangeArrowheads="1"/>
          </p:cNvSpPr>
          <p:nvPr/>
        </p:nvSpPr>
        <p:spPr>
          <a:xfrm>
            <a:off x="149783" y="1371547"/>
            <a:ext cx="5988712" cy="5061683"/>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sp>
        <p:nvSpPr>
          <p:cNvPr id="4" name="TextBox 3"/>
          <p:cNvSpPr txBox="1"/>
          <p:nvPr/>
        </p:nvSpPr>
        <p:spPr>
          <a:xfrm>
            <a:off x="754036" y="5917834"/>
            <a:ext cx="4254691" cy="369332"/>
          </a:xfrm>
          <a:prstGeom prst="rect">
            <a:avLst/>
          </a:prstGeom>
          <a:solidFill>
            <a:schemeClr val="accent5">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rPr>
              <a:t>Octet đầu:  224 </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239  </a:t>
            </a:r>
            <a:r>
              <a:rPr lang="en-US" b="1" noProof="0">
                <a:solidFill>
                  <a:srgbClr val="FF0000"/>
                </a:solidFill>
                <a:latin typeface="Arial" panose="020B0604020202020204"/>
                <a:sym typeface="Wingdings" panose="05000000000000000000" pitchFamily="2" charset="2"/>
              </a:rPr>
              <a:t>Địa chỉ lớp</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D</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sp>
        <p:nvSpPr>
          <p:cNvPr id="6" name="Rectangle 3"/>
          <p:cNvSpPr txBox="1">
            <a:spLocks noChangeArrowheads="1"/>
          </p:cNvSpPr>
          <p:nvPr/>
        </p:nvSpPr>
        <p:spPr>
          <a:xfrm>
            <a:off x="5847581" y="1405964"/>
            <a:ext cx="5538174" cy="3564244"/>
          </a:xfrm>
          <a:prstGeom prst="rect">
            <a:avLst/>
          </a:prstGeom>
          <a:solidFill>
            <a:schemeClr val="tx1">
              <a:lumMod val="20000"/>
              <a:lumOff val="80000"/>
            </a:schemeClr>
          </a:solidFill>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kumimoji="0" lang="en-US" altLang="en-US" sz="1800" b="0" u="none" strike="noStrike" kern="1200" cap="none" spc="0" normalizeH="0" baseline="0" noProof="0">
                <a:ln>
                  <a:noFill/>
                </a:ln>
                <a:solidFill>
                  <a:srgbClr val="666666">
                    <a:lumMod val="50000"/>
                  </a:srgbClr>
                </a:solidFill>
                <a:effectLst/>
                <a:uLnTx/>
                <a:uFillTx/>
                <a:latin typeface="Arial" panose="020B0604020202020204"/>
                <a:ea typeface="+mn-ea"/>
                <a:cs typeface="+mn-cs"/>
              </a:rPr>
              <a:t>Bốn</a:t>
            </a:r>
            <a:r>
              <a:rPr kumimoji="0" lang="en-US" altLang="en-US" sz="1800" b="0" u="none" strike="noStrike" kern="1200" cap="none" spc="0" normalizeH="0" noProof="0">
                <a:ln>
                  <a:noFill/>
                </a:ln>
                <a:solidFill>
                  <a:srgbClr val="666666">
                    <a:lumMod val="50000"/>
                  </a:srgbClr>
                </a:solidFill>
                <a:effectLst/>
                <a:uLnTx/>
                <a:uFillTx/>
                <a:latin typeface="Arial" panose="020B0604020202020204"/>
                <a:ea typeface="+mn-ea"/>
                <a:cs typeface="+mn-cs"/>
              </a:rPr>
              <a:t> bit đầu tiên của địa chỉ lớp E luôn là </a:t>
            </a:r>
            <a:r>
              <a:rPr kumimoji="0" lang="en-US" altLang="en-US" sz="1800" b="1" u="none" strike="noStrike" kern="1200" cap="none" spc="0" normalizeH="0" noProof="0">
                <a:ln>
                  <a:noFill/>
                </a:ln>
                <a:solidFill>
                  <a:srgbClr val="666666">
                    <a:lumMod val="50000"/>
                  </a:srgbClr>
                </a:solidFill>
                <a:effectLst/>
                <a:uLnTx/>
                <a:uFillTx/>
                <a:latin typeface="Arial" panose="020B0604020202020204"/>
                <a:ea typeface="+mn-ea"/>
                <a:cs typeface="+mn-cs"/>
              </a:rPr>
              <a:t>1111</a:t>
            </a:r>
            <a:r>
              <a:rPr kumimoji="0" lang="en-US" altLang="en-US" sz="1800" b="0" u="none" strike="noStrike" kern="1200" cap="none" spc="0" normalizeH="0" noProof="0">
                <a:ln>
                  <a:noFill/>
                </a:ln>
                <a:solidFill>
                  <a:srgbClr val="666666">
                    <a:lumMod val="50000"/>
                  </a:srgbClr>
                </a:solidFill>
                <a:effectLst/>
                <a:uLnTx/>
                <a:uFillTx/>
                <a:latin typeface="Arial" panose="020B0604020202020204"/>
                <a:ea typeface="+mn-ea"/>
                <a:cs typeface="+mn-cs"/>
              </a:rPr>
              <a:t>.</a:t>
            </a:r>
          </a:p>
          <a:p>
            <a:pPr algn="just">
              <a:buClr>
                <a:srgbClr val="005BBB"/>
              </a:buClr>
              <a:defRPr/>
            </a:pPr>
            <a:r>
              <a:rPr lang="en-US" altLang="en-US">
                <a:solidFill>
                  <a:srgbClr val="666666">
                    <a:lumMod val="50000"/>
                  </a:srgbClr>
                </a:solidFill>
              </a:rPr>
              <a:t>Dải địa chỉ lớp E chạy từ 240.0.0.0 đến 255.255.255.255</a:t>
            </a:r>
            <a:endParaRPr kumimoji="0" lang="en-US" altLang="en-US" sz="1800" b="0" u="none" strike="noStrike" kern="1200" cap="none" spc="0" normalizeH="0" noProof="0">
              <a:ln>
                <a:noFill/>
              </a:ln>
              <a:solidFill>
                <a:srgbClr val="666666">
                  <a:lumMod val="50000"/>
                </a:srgbClr>
              </a:solidFill>
              <a:effectLst/>
              <a:uLnTx/>
              <a:uFillTx/>
              <a:latin typeface="Arial" panose="020B0604020202020204"/>
              <a:ea typeface="+mn-ea"/>
              <a:cs typeface="+mn-cs"/>
            </a:endParaRP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baseline="0">
                <a:solidFill>
                  <a:srgbClr val="666666">
                    <a:lumMod val="50000"/>
                  </a:srgbClr>
                </a:solidFill>
                <a:latin typeface="Arial" panose="020B0604020202020204"/>
              </a:rPr>
              <a:t>Các</a:t>
            </a:r>
            <a:r>
              <a:rPr lang="en-US" altLang="en-US">
                <a:solidFill>
                  <a:srgbClr val="666666">
                    <a:lumMod val="50000"/>
                  </a:srgbClr>
                </a:solidFill>
                <a:latin typeface="Arial" panose="020B0604020202020204"/>
              </a:rPr>
              <a:t> địa chỉ lớp E được để dành cho mục đích thí nghiệm. </a:t>
            </a:r>
            <a:endParaRPr kumimoji="0" lang="en-US" altLang="en-US" sz="1800" b="0"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p:sp>
        <p:nvSpPr>
          <p:cNvPr id="7" name="Slide Title">
            <a:extLst>
              <a:ext uri="{FF2B5EF4-FFF2-40B4-BE49-F238E27FC236}">
                <a16:creationId xmlns:a16="http://schemas.microsoft.com/office/drawing/2014/main" id="{6EFFE0B3-6566-3F48-9291-A6A8E30E2D62}"/>
              </a:ext>
            </a:extLst>
          </p:cNvPr>
          <p:cNvSpPr txBox="1">
            <a:spLocks/>
          </p:cNvSpPr>
          <p:nvPr/>
        </p:nvSpPr>
        <p:spPr>
          <a:xfrm>
            <a:off x="5901441" y="985457"/>
            <a:ext cx="4515838"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FFC000"/>
                </a:solidFill>
                <a:cs typeface="Helvetica World" panose="020B0500040000020004" pitchFamily="34" charset="0"/>
              </a:rPr>
              <a:t>ĐỊA CHỈ LỚP E</a:t>
            </a:r>
            <a:endParaRPr kumimoji="0" lang="en-US" sz="1800" b="1" i="0" u="none" strike="noStrike" kern="1200" cap="none" spc="0" normalizeH="0" baseline="0" noProof="0">
              <a:ln>
                <a:noFill/>
              </a:ln>
              <a:solidFill>
                <a:srgbClr val="FFC000"/>
              </a:solidFill>
              <a:effectLst/>
              <a:uLnTx/>
              <a:uFillTx/>
              <a:cs typeface="Helvetica World" panose="020B0500040000020004" pitchFamily="34" charset="0"/>
            </a:endParaRPr>
          </a:p>
        </p:txBody>
      </p:sp>
      <p:sp>
        <p:nvSpPr>
          <p:cNvPr id="8" name="TextBox 7"/>
          <p:cNvSpPr txBox="1"/>
          <p:nvPr/>
        </p:nvSpPr>
        <p:spPr>
          <a:xfrm>
            <a:off x="6938527" y="5908012"/>
            <a:ext cx="4241867" cy="369332"/>
          </a:xfrm>
          <a:prstGeom prst="rect">
            <a:avLst/>
          </a:prstGeom>
          <a:solidFill>
            <a:schemeClr val="accent5">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rPr>
              <a:t>Octet đầu:  240 </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255  </a:t>
            </a:r>
            <a:r>
              <a:rPr lang="en-US" b="1" noProof="0">
                <a:solidFill>
                  <a:srgbClr val="FF0000"/>
                </a:solidFill>
                <a:latin typeface="Arial" panose="020B0604020202020204"/>
                <a:sym typeface="Wingdings" panose="05000000000000000000" pitchFamily="2" charset="2"/>
              </a:rPr>
              <a:t>Địa chỉ lớp</a:t>
            </a: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sym typeface="Wingdings" panose="05000000000000000000" pitchFamily="2" charset="2"/>
              </a:rPr>
              <a:t> </a:t>
            </a:r>
            <a:r>
              <a:rPr lang="en-US" b="1">
                <a:solidFill>
                  <a:srgbClr val="FF0000"/>
                </a:solidFill>
                <a:latin typeface="Arial" panose="020B0604020202020204"/>
                <a:sym typeface="Wingdings" panose="05000000000000000000" pitchFamily="2" charset="2"/>
              </a:rPr>
              <a:t>E</a:t>
            </a:r>
            <a:endParaRPr kumimoji="0" lang="en-US" sz="1800" b="1" i="0" u="none" strike="noStrike" kern="1200" cap="none" spc="0" normalizeH="0" baseline="0" noProof="0">
              <a:ln>
                <a:noFill/>
              </a:ln>
              <a:solidFill>
                <a:srgbClr val="FF0000"/>
              </a:solidFill>
              <a:effectLst/>
              <a:uLnTx/>
              <a:uFillTx/>
              <a:latin typeface="Arial" panose="020B0604020202020204"/>
              <a:ea typeface="+mn-ea"/>
              <a:cs typeface="+mn-cs"/>
            </a:endParaRPr>
          </a:p>
        </p:txBody>
      </p:sp>
      <p:cxnSp>
        <p:nvCxnSpPr>
          <p:cNvPr id="3" name="Straight Connector 2"/>
          <p:cNvCxnSpPr/>
          <p:nvPr/>
        </p:nvCxnSpPr>
        <p:spPr>
          <a:xfrm>
            <a:off x="5662953" y="1789416"/>
            <a:ext cx="0" cy="4508141"/>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49" y="5027205"/>
            <a:ext cx="4876800" cy="81315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1803" y="5114176"/>
            <a:ext cx="5549354" cy="726185"/>
          </a:xfrm>
          <a:prstGeom prst="rect">
            <a:avLst/>
          </a:prstGeom>
        </p:spPr>
      </p:pic>
      <p:sp>
        <p:nvSpPr>
          <p:cNvPr id="9" name="TextBox 8"/>
          <p:cNvSpPr txBox="1"/>
          <p:nvPr/>
        </p:nvSpPr>
        <p:spPr>
          <a:xfrm>
            <a:off x="132740" y="1356855"/>
            <a:ext cx="5345586" cy="3570208"/>
          </a:xfrm>
          <a:prstGeom prst="rect">
            <a:avLst/>
          </a:prstGeom>
          <a:solidFill>
            <a:schemeClr val="tx1">
              <a:lumMod val="20000"/>
              <a:lumOff val="80000"/>
            </a:schemeClr>
          </a:solidFill>
        </p:spPr>
        <p:txBody>
          <a:bodyPr wrap="square" rtlCol="0">
            <a:spAutoFit/>
          </a:bodyPr>
          <a:lstStyle/>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a:solidFill>
                  <a:srgbClr val="666666">
                    <a:lumMod val="50000"/>
                  </a:srgbClr>
                </a:solidFill>
              </a:rPr>
              <a:t>Bốn bit đầu tiên của địa chỉ lớp D luôn là </a:t>
            </a:r>
            <a:r>
              <a:rPr lang="en-US" altLang="en-US" b="1">
                <a:solidFill>
                  <a:srgbClr val="666666">
                    <a:lumMod val="50000"/>
                  </a:srgbClr>
                </a:solidFill>
              </a:rPr>
              <a:t>1110</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a:solidFill>
                  <a:srgbClr val="666666">
                    <a:lumMod val="50000"/>
                  </a:srgbClr>
                </a:solidFill>
              </a:rPr>
              <a:t>Dải địa chỉ lớp D chạy từ 224.0.0.0 đến 239.255.255.255</a:t>
            </a:r>
          </a:p>
          <a:p>
            <a:pPr marL="228600" lvl="0" indent="-228600" algn="just">
              <a:lnSpc>
                <a:spcPct val="150000"/>
              </a:lnSpc>
              <a:spcBef>
                <a:spcPts val="600"/>
              </a:spcBef>
              <a:buClr>
                <a:srgbClr val="005BBB"/>
              </a:buClr>
              <a:buSzPct val="120000"/>
              <a:buFont typeface="Arial" panose="020B0604020202020204" pitchFamily="34" charset="0"/>
              <a:buChar char="•"/>
              <a:defRPr/>
            </a:pPr>
            <a:r>
              <a:rPr lang="en-US" altLang="en-US">
                <a:solidFill>
                  <a:srgbClr val="666666">
                    <a:lumMod val="50000"/>
                  </a:srgbClr>
                </a:solidFill>
              </a:rPr>
              <a:t>Các địa chỉ lớp D được sử dụng trong truyền thông multicast nhằm hỗ trợ cập nhật thông tin giữa các bộ định tuyến. VD: </a:t>
            </a:r>
            <a:r>
              <a:rPr lang="en-US" altLang="en-US" b="1">
                <a:solidFill>
                  <a:srgbClr val="666666">
                    <a:lumMod val="50000"/>
                  </a:srgbClr>
                </a:solidFill>
              </a:rPr>
              <a:t>224.0.0.5</a:t>
            </a:r>
            <a:r>
              <a:rPr lang="en-US" altLang="en-US">
                <a:solidFill>
                  <a:srgbClr val="666666">
                    <a:lumMod val="50000"/>
                  </a:srgbClr>
                </a:solidFill>
              </a:rPr>
              <a:t>: được sử dụng cho giao thức OSPF, </a:t>
            </a:r>
            <a:r>
              <a:rPr lang="en-US" altLang="en-US" b="1">
                <a:solidFill>
                  <a:srgbClr val="666666">
                    <a:lumMod val="50000"/>
                  </a:srgbClr>
                </a:solidFill>
              </a:rPr>
              <a:t>239.255.255.255</a:t>
            </a:r>
            <a:r>
              <a:rPr lang="en-US" altLang="en-US">
                <a:solidFill>
                  <a:srgbClr val="666666">
                    <a:lumMod val="50000"/>
                  </a:srgbClr>
                </a:solidFill>
              </a:rPr>
              <a:t>: được sử dụng cho giao thức RIPv2.</a:t>
            </a:r>
          </a:p>
        </p:txBody>
      </p:sp>
    </p:spTree>
    <p:extLst>
      <p:ext uri="{BB962C8B-B14F-4D97-AF65-F5344CB8AC3E}">
        <p14:creationId xmlns:p14="http://schemas.microsoft.com/office/powerpoint/2010/main" val="3768189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978101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cs typeface="Helvetica World" panose="020B0500040000020004" pitchFamily="34" charset="0"/>
              </a:rPr>
              <a:t>TỔNG KẾT PHÂN LỚP ĐỊA CHỈ IPv4 THEO CÁC PHÂN LỚP CHUẨN A, B, C</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168" name="Rectangle 3"/>
          <p:cNvSpPr txBox="1">
            <a:spLocks noChangeArrowheads="1"/>
          </p:cNvSpPr>
          <p:nvPr/>
        </p:nvSpPr>
        <p:spPr>
          <a:xfrm>
            <a:off x="149783" y="1371547"/>
            <a:ext cx="5988712" cy="5061683"/>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75315779"/>
                  </p:ext>
                </p:extLst>
              </p:nvPr>
            </p:nvGraphicFramePr>
            <p:xfrm>
              <a:off x="634180" y="1761705"/>
              <a:ext cx="11194028" cy="4497515"/>
            </p:xfrm>
            <a:graphic>
              <a:graphicData uri="http://schemas.openxmlformats.org/drawingml/2006/table">
                <a:tbl>
                  <a:tblPr firstRow="1" bandRow="1">
                    <a:tableStyleId>{5C22544A-7EE6-4342-B048-85BDC9FD1C3A}</a:tableStyleId>
                  </a:tblPr>
                  <a:tblGrid>
                    <a:gridCol w="2566220">
                      <a:extLst>
                        <a:ext uri="{9D8B030D-6E8A-4147-A177-3AD203B41FA5}">
                          <a16:colId xmlns:a16="http://schemas.microsoft.com/office/drawing/2014/main" val="546700688"/>
                        </a:ext>
                      </a:extLst>
                    </a:gridCol>
                    <a:gridCol w="2462981">
                      <a:extLst>
                        <a:ext uri="{9D8B030D-6E8A-4147-A177-3AD203B41FA5}">
                          <a16:colId xmlns:a16="http://schemas.microsoft.com/office/drawing/2014/main" val="1062714613"/>
                        </a:ext>
                      </a:extLst>
                    </a:gridCol>
                    <a:gridCol w="2979174">
                      <a:extLst>
                        <a:ext uri="{9D8B030D-6E8A-4147-A177-3AD203B41FA5}">
                          <a16:colId xmlns:a16="http://schemas.microsoft.com/office/drawing/2014/main" val="2091287118"/>
                        </a:ext>
                      </a:extLst>
                    </a:gridCol>
                    <a:gridCol w="3185653">
                      <a:extLst>
                        <a:ext uri="{9D8B030D-6E8A-4147-A177-3AD203B41FA5}">
                          <a16:colId xmlns:a16="http://schemas.microsoft.com/office/drawing/2014/main" val="1925177199"/>
                        </a:ext>
                      </a:extLst>
                    </a:gridCol>
                  </a:tblGrid>
                  <a:tr h="515455">
                    <a:tc>
                      <a:txBody>
                        <a:bodyPr/>
                        <a:lstStyle/>
                        <a:p>
                          <a:endParaRPr lang="en-US"/>
                        </a:p>
                      </a:txBody>
                      <a:tcPr/>
                    </a:tc>
                    <a:tc>
                      <a:txBody>
                        <a:bodyPr/>
                        <a:lstStyle/>
                        <a:p>
                          <a:r>
                            <a:rPr lang="en-US"/>
                            <a:t>Lớp</a:t>
                          </a:r>
                          <a:r>
                            <a:rPr lang="en-US" baseline="0"/>
                            <a:t> A</a:t>
                          </a:r>
                          <a:endParaRPr lang="en-US"/>
                        </a:p>
                      </a:txBody>
                      <a:tcPr/>
                    </a:tc>
                    <a:tc>
                      <a:txBody>
                        <a:bodyPr/>
                        <a:lstStyle/>
                        <a:p>
                          <a:pPr algn="ctr"/>
                          <a:r>
                            <a:rPr lang="en-US"/>
                            <a:t>Lớp</a:t>
                          </a:r>
                          <a:r>
                            <a:rPr lang="en-US" baseline="0"/>
                            <a:t> B</a:t>
                          </a:r>
                          <a:endParaRPr lang="en-US"/>
                        </a:p>
                      </a:txBody>
                      <a:tcPr/>
                    </a:tc>
                    <a:tc>
                      <a:txBody>
                        <a:bodyPr/>
                        <a:lstStyle/>
                        <a:p>
                          <a:pPr algn="ctr"/>
                          <a:r>
                            <a:rPr lang="en-US"/>
                            <a:t>Lớp</a:t>
                          </a:r>
                          <a:r>
                            <a:rPr lang="en-US" baseline="0"/>
                            <a:t> C</a:t>
                          </a:r>
                          <a:endParaRPr lang="en-US"/>
                        </a:p>
                      </a:txBody>
                      <a:tcPr/>
                    </a:tc>
                    <a:extLst>
                      <a:ext uri="{0D108BD9-81ED-4DB2-BD59-A6C34878D82A}">
                        <a16:rowId xmlns:a16="http://schemas.microsoft.com/office/drawing/2014/main" val="3262772974"/>
                      </a:ext>
                    </a:extLst>
                  </a:tr>
                  <a:tr h="515455">
                    <a:tc>
                      <a:txBody>
                        <a:bodyPr/>
                        <a:lstStyle/>
                        <a:p>
                          <a:r>
                            <a:rPr lang="en-US"/>
                            <a:t>Octet đầu</a:t>
                          </a:r>
                        </a:p>
                      </a:txBody>
                      <a:tcPr/>
                    </a:tc>
                    <a:tc>
                      <a:txBody>
                        <a:bodyPr/>
                        <a:lstStyle/>
                        <a:p>
                          <a:pPr algn="ctr"/>
                          <a:r>
                            <a:rPr lang="en-US"/>
                            <a:t>1 – 126</a:t>
                          </a:r>
                        </a:p>
                      </a:txBody>
                      <a:tcPr/>
                    </a:tc>
                    <a:tc>
                      <a:txBody>
                        <a:bodyPr/>
                        <a:lstStyle/>
                        <a:p>
                          <a:pPr algn="ctr"/>
                          <a:r>
                            <a:rPr lang="en-US"/>
                            <a:t>126 – 191</a:t>
                          </a:r>
                        </a:p>
                      </a:txBody>
                      <a:tcPr/>
                    </a:tc>
                    <a:tc>
                      <a:txBody>
                        <a:bodyPr/>
                        <a:lstStyle/>
                        <a:p>
                          <a:pPr algn="ctr"/>
                          <a:r>
                            <a:rPr lang="en-US"/>
                            <a:t>192 – 223</a:t>
                          </a:r>
                        </a:p>
                      </a:txBody>
                      <a:tcPr/>
                    </a:tc>
                    <a:extLst>
                      <a:ext uri="{0D108BD9-81ED-4DB2-BD59-A6C34878D82A}">
                        <a16:rowId xmlns:a16="http://schemas.microsoft.com/office/drawing/2014/main" val="3440269230"/>
                      </a:ext>
                    </a:extLst>
                  </a:tr>
                  <a:tr h="515455">
                    <a:tc>
                      <a:txBody>
                        <a:bodyPr/>
                        <a:lstStyle/>
                        <a:p>
                          <a:r>
                            <a:rPr lang="en-US"/>
                            <a:t>Dải</a:t>
                          </a:r>
                          <a:r>
                            <a:rPr lang="en-US" baseline="0"/>
                            <a:t> địa chỉ mạng </a:t>
                          </a:r>
                          <a:endParaRPr lang="en-US"/>
                        </a:p>
                      </a:txBody>
                      <a:tcPr/>
                    </a:tc>
                    <a:tc>
                      <a:txBody>
                        <a:bodyPr/>
                        <a:lstStyle/>
                        <a:p>
                          <a:pPr algn="ctr"/>
                          <a:r>
                            <a:rPr lang="en-US"/>
                            <a:t>1.0.0.0</a:t>
                          </a:r>
                          <a:r>
                            <a:rPr lang="en-US" baseline="0"/>
                            <a:t> – 126.0.0.0</a:t>
                          </a:r>
                          <a:endParaRPr lang="en-US"/>
                        </a:p>
                      </a:txBody>
                      <a:tcPr/>
                    </a:tc>
                    <a:tc>
                      <a:txBody>
                        <a:bodyPr/>
                        <a:lstStyle/>
                        <a:p>
                          <a:pPr algn="ctr"/>
                          <a:r>
                            <a:rPr lang="en-US"/>
                            <a:t>128.0.0.0</a:t>
                          </a:r>
                          <a:r>
                            <a:rPr lang="en-US" baseline="0"/>
                            <a:t> – 191.255.0.0</a:t>
                          </a:r>
                          <a:endParaRPr lang="en-US"/>
                        </a:p>
                      </a:txBody>
                      <a:tcPr/>
                    </a:tc>
                    <a:tc>
                      <a:txBody>
                        <a:bodyPr/>
                        <a:lstStyle/>
                        <a:p>
                          <a:pPr algn="ctr"/>
                          <a:r>
                            <a:rPr lang="en-US"/>
                            <a:t>192.0.0.0 – 223.255.255.0</a:t>
                          </a:r>
                        </a:p>
                      </a:txBody>
                      <a:tcPr/>
                    </a:tc>
                    <a:extLst>
                      <a:ext uri="{0D108BD9-81ED-4DB2-BD59-A6C34878D82A}">
                        <a16:rowId xmlns:a16="http://schemas.microsoft.com/office/drawing/2014/main" val="4073547898"/>
                      </a:ext>
                    </a:extLst>
                  </a:tr>
                  <a:tr h="515455">
                    <a:tc>
                      <a:txBody>
                        <a:bodyPr/>
                        <a:lstStyle/>
                        <a:p>
                          <a:r>
                            <a:rPr lang="en-US"/>
                            <a:t>Tổng</a:t>
                          </a:r>
                          <a:r>
                            <a:rPr lang="en-US" baseline="0"/>
                            <a:t> số mạng</a:t>
                          </a:r>
                          <a:endParaRPr lang="en-US"/>
                        </a:p>
                      </a:txBody>
                      <a:tcPr/>
                    </a:tc>
                    <a:tc>
                      <a:txBody>
                        <a:bodyPr/>
                        <a:lstStyle/>
                        <a:p>
                          <a:pPr algn="ct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7</m:t>
                                  </m:r>
                                </m:sup>
                              </m:sSup>
                              <m:r>
                                <a:rPr lang="en-US" b="0" i="1" smtClean="0">
                                  <a:latin typeface="Cambria Math" panose="02040503050406030204" pitchFamily="18" charset="0"/>
                                </a:rPr>
                                <m:t>−2=</m:t>
                              </m:r>
                            </m:oMath>
                          </a14:m>
                          <a:r>
                            <a:rPr lang="en-US"/>
                            <a:t> 126</a:t>
                          </a:r>
                        </a:p>
                      </a:txBody>
                      <a:tcPr/>
                    </a:tc>
                    <a:tc>
                      <a:txBody>
                        <a:bodyPr/>
                        <a:lstStyle/>
                        <a:p>
                          <a:pPr algn="ct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14</m:t>
                                  </m:r>
                                </m:sup>
                              </m:sSup>
                            </m:oMath>
                          </a14:m>
                          <a:r>
                            <a:rPr lang="en-US"/>
                            <a:t> = 16384</a:t>
                          </a:r>
                        </a:p>
                      </a:txBody>
                      <a:tcPr/>
                    </a:tc>
                    <a:tc>
                      <a:txBody>
                        <a:bodyPr/>
                        <a:lstStyle/>
                        <a:p>
                          <a:pPr algn="ct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21</m:t>
                                  </m:r>
                                </m:sup>
                              </m:sSup>
                            </m:oMath>
                          </a14:m>
                          <a:r>
                            <a:rPr lang="en-US"/>
                            <a:t> = 2097152</a:t>
                          </a:r>
                        </a:p>
                      </a:txBody>
                      <a:tcPr/>
                    </a:tc>
                    <a:extLst>
                      <a:ext uri="{0D108BD9-81ED-4DB2-BD59-A6C34878D82A}">
                        <a16:rowId xmlns:a16="http://schemas.microsoft.com/office/drawing/2014/main" val="30148904"/>
                      </a:ext>
                    </a:extLst>
                  </a:tr>
                  <a:tr h="515455">
                    <a:tc>
                      <a:txBody>
                        <a:bodyPr/>
                        <a:lstStyle/>
                        <a:p>
                          <a:r>
                            <a:rPr lang="en-US"/>
                            <a:t>Tổng</a:t>
                          </a:r>
                          <a:r>
                            <a:rPr lang="en-US" baseline="0"/>
                            <a:t> số host trong một mạng</a:t>
                          </a:r>
                          <a:endParaRPr lang="en-US"/>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24</m:t>
                                    </m:r>
                                  </m:sup>
                                </m:sSup>
                                <m:r>
                                  <a:rPr lang="en-US" b="0" i="1" smtClean="0">
                                    <a:latin typeface="Cambria Math" panose="02040503050406030204" pitchFamily="18" charset="0"/>
                                  </a:rPr>
                                  <m:t>−2</m:t>
                                </m:r>
                              </m:oMath>
                            </m:oMathPara>
                          </a14:m>
                          <a:endParaRPr lang="en-US"/>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16</m:t>
                                    </m:r>
                                  </m:sup>
                                </m:sSup>
                                <m:r>
                                  <a:rPr lang="en-US" b="0" i="1" smtClean="0">
                                    <a:latin typeface="Cambria Math" panose="02040503050406030204" pitchFamily="18" charset="0"/>
                                  </a:rPr>
                                  <m:t>−2</m:t>
                                </m:r>
                              </m:oMath>
                            </m:oMathPara>
                          </a14:m>
                          <a:endParaRPr lang="en-US"/>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8</m:t>
                                    </m:r>
                                  </m:sup>
                                </m:sSup>
                                <m:r>
                                  <a:rPr lang="en-US" b="0" i="1" smtClean="0">
                                    <a:latin typeface="Cambria Math" panose="02040503050406030204" pitchFamily="18" charset="0"/>
                                  </a:rPr>
                                  <m:t>−2</m:t>
                                </m:r>
                              </m:oMath>
                            </m:oMathPara>
                          </a14:m>
                          <a:endParaRPr lang="en-US"/>
                        </a:p>
                      </a:txBody>
                      <a:tcPr/>
                    </a:tc>
                    <a:extLst>
                      <a:ext uri="{0D108BD9-81ED-4DB2-BD59-A6C34878D82A}">
                        <a16:rowId xmlns:a16="http://schemas.microsoft.com/office/drawing/2014/main" val="3031996299"/>
                      </a:ext>
                    </a:extLst>
                  </a:tr>
                  <a:tr h="515455">
                    <a:tc>
                      <a:txBody>
                        <a:bodyPr/>
                        <a:lstStyle/>
                        <a:p>
                          <a:r>
                            <a:rPr lang="en-US"/>
                            <a:t>Số</a:t>
                          </a:r>
                          <a:r>
                            <a:rPr lang="en-US" baseline="0"/>
                            <a:t> octet (Số bit) trong phần mạng </a:t>
                          </a:r>
                          <a:endParaRPr lang="en-US"/>
                        </a:p>
                      </a:txBody>
                      <a:tcPr/>
                    </a:tc>
                    <a:tc>
                      <a:txBody>
                        <a:bodyPr/>
                        <a:lstStyle/>
                        <a:p>
                          <a:pPr algn="ctr"/>
                          <a:r>
                            <a:rPr lang="en-US"/>
                            <a:t>1 (8)</a:t>
                          </a:r>
                        </a:p>
                      </a:txBody>
                      <a:tcPr/>
                    </a:tc>
                    <a:tc>
                      <a:txBody>
                        <a:bodyPr/>
                        <a:lstStyle/>
                        <a:p>
                          <a:pPr algn="ctr"/>
                          <a:r>
                            <a:rPr lang="en-US"/>
                            <a:t>2 (16)</a:t>
                          </a:r>
                        </a:p>
                      </a:txBody>
                      <a:tcPr/>
                    </a:tc>
                    <a:tc>
                      <a:txBody>
                        <a:bodyPr/>
                        <a:lstStyle/>
                        <a:p>
                          <a:pPr algn="ctr"/>
                          <a:r>
                            <a:rPr lang="en-US"/>
                            <a:t>3 (24)</a:t>
                          </a:r>
                        </a:p>
                      </a:txBody>
                      <a:tcPr/>
                    </a:tc>
                    <a:extLst>
                      <a:ext uri="{0D108BD9-81ED-4DB2-BD59-A6C34878D82A}">
                        <a16:rowId xmlns:a16="http://schemas.microsoft.com/office/drawing/2014/main" val="2309543338"/>
                      </a:ext>
                    </a:extLst>
                  </a:tr>
                  <a:tr h="515455">
                    <a:tc>
                      <a:txBody>
                        <a:bodyPr/>
                        <a:lstStyle/>
                        <a:p>
                          <a:r>
                            <a:rPr lang="en-US"/>
                            <a:t>Số</a:t>
                          </a:r>
                          <a:r>
                            <a:rPr lang="en-US" baseline="0"/>
                            <a:t> octet (Số bit) trong phần host</a:t>
                          </a:r>
                          <a:endParaRPr lang="en-US"/>
                        </a:p>
                      </a:txBody>
                      <a:tcPr/>
                    </a:tc>
                    <a:tc>
                      <a:txBody>
                        <a:bodyPr/>
                        <a:lstStyle/>
                        <a:p>
                          <a:pPr algn="ctr"/>
                          <a:r>
                            <a:rPr lang="en-US"/>
                            <a:t>3 (24)</a:t>
                          </a:r>
                        </a:p>
                      </a:txBody>
                      <a:tcPr/>
                    </a:tc>
                    <a:tc>
                      <a:txBody>
                        <a:bodyPr/>
                        <a:lstStyle/>
                        <a:p>
                          <a:pPr algn="ctr"/>
                          <a:r>
                            <a:rPr lang="en-US"/>
                            <a:t>2 (16)</a:t>
                          </a:r>
                        </a:p>
                      </a:txBody>
                      <a:tcPr/>
                    </a:tc>
                    <a:tc>
                      <a:txBody>
                        <a:bodyPr/>
                        <a:lstStyle/>
                        <a:p>
                          <a:pPr algn="ctr"/>
                          <a:r>
                            <a:rPr lang="en-US"/>
                            <a:t>1 (8)</a:t>
                          </a:r>
                        </a:p>
                      </a:txBody>
                      <a:tcPr/>
                    </a:tc>
                    <a:extLst>
                      <a:ext uri="{0D108BD9-81ED-4DB2-BD59-A6C34878D82A}">
                        <a16:rowId xmlns:a16="http://schemas.microsoft.com/office/drawing/2014/main" val="2181296077"/>
                      </a:ext>
                    </a:extLst>
                  </a:tr>
                  <a:tr h="515455">
                    <a:tc>
                      <a:txBody>
                        <a:bodyPr/>
                        <a:lstStyle/>
                        <a:p>
                          <a:r>
                            <a:rPr lang="en-US"/>
                            <a:t>Mặt</a:t>
                          </a:r>
                          <a:r>
                            <a:rPr lang="en-US" baseline="0"/>
                            <a:t> nạ mặc định</a:t>
                          </a:r>
                          <a:endParaRPr lang="en-US"/>
                        </a:p>
                      </a:txBody>
                      <a:tcPr/>
                    </a:tc>
                    <a:tc>
                      <a:txBody>
                        <a:bodyPr/>
                        <a:lstStyle/>
                        <a:p>
                          <a:pPr algn="ctr"/>
                          <a:r>
                            <a:rPr lang="en-US"/>
                            <a:t>255.0.0.0</a:t>
                          </a:r>
                        </a:p>
                      </a:txBody>
                      <a:tcPr/>
                    </a:tc>
                    <a:tc>
                      <a:txBody>
                        <a:bodyPr/>
                        <a:lstStyle/>
                        <a:p>
                          <a:pPr algn="ctr"/>
                          <a:r>
                            <a:rPr lang="en-US"/>
                            <a:t>255.255.0.0</a:t>
                          </a:r>
                        </a:p>
                      </a:txBody>
                      <a:tcPr/>
                    </a:tc>
                    <a:tc>
                      <a:txBody>
                        <a:bodyPr/>
                        <a:lstStyle/>
                        <a:p>
                          <a:pPr algn="ctr"/>
                          <a:r>
                            <a:rPr lang="en-US"/>
                            <a:t>255.255.255.0</a:t>
                          </a:r>
                        </a:p>
                      </a:txBody>
                      <a:tcPr/>
                    </a:tc>
                    <a:extLst>
                      <a:ext uri="{0D108BD9-81ED-4DB2-BD59-A6C34878D82A}">
                        <a16:rowId xmlns:a16="http://schemas.microsoft.com/office/drawing/2014/main" val="27301465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75315779"/>
                  </p:ext>
                </p:extLst>
              </p:nvPr>
            </p:nvGraphicFramePr>
            <p:xfrm>
              <a:off x="634180" y="1761705"/>
              <a:ext cx="11194028" cy="4497515"/>
            </p:xfrm>
            <a:graphic>
              <a:graphicData uri="http://schemas.openxmlformats.org/drawingml/2006/table">
                <a:tbl>
                  <a:tblPr firstRow="1" bandRow="1">
                    <a:tableStyleId>{5C22544A-7EE6-4342-B048-85BDC9FD1C3A}</a:tableStyleId>
                  </a:tblPr>
                  <a:tblGrid>
                    <a:gridCol w="2566220">
                      <a:extLst>
                        <a:ext uri="{9D8B030D-6E8A-4147-A177-3AD203B41FA5}">
                          <a16:colId xmlns:a16="http://schemas.microsoft.com/office/drawing/2014/main" val="546700688"/>
                        </a:ext>
                      </a:extLst>
                    </a:gridCol>
                    <a:gridCol w="2462981">
                      <a:extLst>
                        <a:ext uri="{9D8B030D-6E8A-4147-A177-3AD203B41FA5}">
                          <a16:colId xmlns:a16="http://schemas.microsoft.com/office/drawing/2014/main" val="1062714613"/>
                        </a:ext>
                      </a:extLst>
                    </a:gridCol>
                    <a:gridCol w="2979174">
                      <a:extLst>
                        <a:ext uri="{9D8B030D-6E8A-4147-A177-3AD203B41FA5}">
                          <a16:colId xmlns:a16="http://schemas.microsoft.com/office/drawing/2014/main" val="2091287118"/>
                        </a:ext>
                      </a:extLst>
                    </a:gridCol>
                    <a:gridCol w="3185653">
                      <a:extLst>
                        <a:ext uri="{9D8B030D-6E8A-4147-A177-3AD203B41FA5}">
                          <a16:colId xmlns:a16="http://schemas.microsoft.com/office/drawing/2014/main" val="1925177199"/>
                        </a:ext>
                      </a:extLst>
                    </a:gridCol>
                  </a:tblGrid>
                  <a:tr h="515455">
                    <a:tc>
                      <a:txBody>
                        <a:bodyPr/>
                        <a:lstStyle/>
                        <a:p>
                          <a:endParaRPr lang="en-US"/>
                        </a:p>
                      </a:txBody>
                      <a:tcPr/>
                    </a:tc>
                    <a:tc>
                      <a:txBody>
                        <a:bodyPr/>
                        <a:lstStyle/>
                        <a:p>
                          <a:r>
                            <a:rPr lang="en-US" smtClean="0"/>
                            <a:t>Lớp</a:t>
                          </a:r>
                          <a:r>
                            <a:rPr lang="en-US" baseline="0" smtClean="0"/>
                            <a:t> A</a:t>
                          </a:r>
                          <a:endParaRPr lang="en-US"/>
                        </a:p>
                      </a:txBody>
                      <a:tcPr/>
                    </a:tc>
                    <a:tc>
                      <a:txBody>
                        <a:bodyPr/>
                        <a:lstStyle/>
                        <a:p>
                          <a:pPr algn="ctr"/>
                          <a:r>
                            <a:rPr lang="en-US" smtClean="0"/>
                            <a:t>Lớp</a:t>
                          </a:r>
                          <a:r>
                            <a:rPr lang="en-US" baseline="0" smtClean="0"/>
                            <a:t> B</a:t>
                          </a:r>
                          <a:endParaRPr lang="en-US"/>
                        </a:p>
                      </a:txBody>
                      <a:tcPr/>
                    </a:tc>
                    <a:tc>
                      <a:txBody>
                        <a:bodyPr/>
                        <a:lstStyle/>
                        <a:p>
                          <a:pPr algn="ctr"/>
                          <a:r>
                            <a:rPr lang="en-US" smtClean="0"/>
                            <a:t>Lớp</a:t>
                          </a:r>
                          <a:r>
                            <a:rPr lang="en-US" baseline="0" smtClean="0"/>
                            <a:t> C</a:t>
                          </a:r>
                          <a:endParaRPr lang="en-US"/>
                        </a:p>
                      </a:txBody>
                      <a:tcPr/>
                    </a:tc>
                    <a:extLst>
                      <a:ext uri="{0D108BD9-81ED-4DB2-BD59-A6C34878D82A}">
                        <a16:rowId xmlns:a16="http://schemas.microsoft.com/office/drawing/2014/main" val="3262772974"/>
                      </a:ext>
                    </a:extLst>
                  </a:tr>
                  <a:tr h="515455">
                    <a:tc>
                      <a:txBody>
                        <a:bodyPr/>
                        <a:lstStyle/>
                        <a:p>
                          <a:r>
                            <a:rPr lang="en-US" smtClean="0"/>
                            <a:t>Octet đầu</a:t>
                          </a:r>
                          <a:endParaRPr lang="en-US"/>
                        </a:p>
                      </a:txBody>
                      <a:tcPr/>
                    </a:tc>
                    <a:tc>
                      <a:txBody>
                        <a:bodyPr/>
                        <a:lstStyle/>
                        <a:p>
                          <a:pPr algn="ctr"/>
                          <a:r>
                            <a:rPr lang="en-US" smtClean="0"/>
                            <a:t>1 – 126</a:t>
                          </a:r>
                          <a:endParaRPr lang="en-US"/>
                        </a:p>
                      </a:txBody>
                      <a:tcPr/>
                    </a:tc>
                    <a:tc>
                      <a:txBody>
                        <a:bodyPr/>
                        <a:lstStyle/>
                        <a:p>
                          <a:pPr algn="ctr"/>
                          <a:r>
                            <a:rPr lang="en-US" smtClean="0"/>
                            <a:t>126 – 191</a:t>
                          </a:r>
                          <a:endParaRPr lang="en-US"/>
                        </a:p>
                      </a:txBody>
                      <a:tcPr/>
                    </a:tc>
                    <a:tc>
                      <a:txBody>
                        <a:bodyPr/>
                        <a:lstStyle/>
                        <a:p>
                          <a:pPr algn="ctr"/>
                          <a:r>
                            <a:rPr lang="en-US" smtClean="0"/>
                            <a:t>192 – 223</a:t>
                          </a:r>
                          <a:endParaRPr lang="en-US"/>
                        </a:p>
                      </a:txBody>
                      <a:tcPr/>
                    </a:tc>
                    <a:extLst>
                      <a:ext uri="{0D108BD9-81ED-4DB2-BD59-A6C34878D82A}">
                        <a16:rowId xmlns:a16="http://schemas.microsoft.com/office/drawing/2014/main" val="3440269230"/>
                      </a:ext>
                    </a:extLst>
                  </a:tr>
                  <a:tr h="515455">
                    <a:tc>
                      <a:txBody>
                        <a:bodyPr/>
                        <a:lstStyle/>
                        <a:p>
                          <a:r>
                            <a:rPr lang="en-US" smtClean="0"/>
                            <a:t>Dải</a:t>
                          </a:r>
                          <a:r>
                            <a:rPr lang="en-US" baseline="0" smtClean="0"/>
                            <a:t> địa chỉ mạng </a:t>
                          </a:r>
                          <a:endParaRPr lang="en-US"/>
                        </a:p>
                      </a:txBody>
                      <a:tcPr/>
                    </a:tc>
                    <a:tc>
                      <a:txBody>
                        <a:bodyPr/>
                        <a:lstStyle/>
                        <a:p>
                          <a:pPr algn="ctr"/>
                          <a:r>
                            <a:rPr lang="en-US" smtClean="0"/>
                            <a:t>1.0.0.0</a:t>
                          </a:r>
                          <a:r>
                            <a:rPr lang="en-US" baseline="0" smtClean="0"/>
                            <a:t> – 126.0.0.0</a:t>
                          </a:r>
                          <a:endParaRPr lang="en-US"/>
                        </a:p>
                      </a:txBody>
                      <a:tcPr/>
                    </a:tc>
                    <a:tc>
                      <a:txBody>
                        <a:bodyPr/>
                        <a:lstStyle/>
                        <a:p>
                          <a:pPr algn="ctr"/>
                          <a:r>
                            <a:rPr lang="en-US" smtClean="0"/>
                            <a:t>128.0.0.0</a:t>
                          </a:r>
                          <a:r>
                            <a:rPr lang="en-US" baseline="0" smtClean="0"/>
                            <a:t> – 191.255.0.0</a:t>
                          </a:r>
                          <a:endParaRPr lang="en-US"/>
                        </a:p>
                      </a:txBody>
                      <a:tcPr/>
                    </a:tc>
                    <a:tc>
                      <a:txBody>
                        <a:bodyPr/>
                        <a:lstStyle/>
                        <a:p>
                          <a:pPr algn="ctr"/>
                          <a:r>
                            <a:rPr lang="en-US" smtClean="0"/>
                            <a:t>192.0.0.0 – 223.255.255.0</a:t>
                          </a:r>
                          <a:endParaRPr lang="en-US"/>
                        </a:p>
                      </a:txBody>
                      <a:tcPr/>
                    </a:tc>
                    <a:extLst>
                      <a:ext uri="{0D108BD9-81ED-4DB2-BD59-A6C34878D82A}">
                        <a16:rowId xmlns:a16="http://schemas.microsoft.com/office/drawing/2014/main" val="4073547898"/>
                      </a:ext>
                    </a:extLst>
                  </a:tr>
                  <a:tr h="515455">
                    <a:tc>
                      <a:txBody>
                        <a:bodyPr/>
                        <a:lstStyle/>
                        <a:p>
                          <a:r>
                            <a:rPr lang="en-US" smtClean="0"/>
                            <a:t>Tổng</a:t>
                          </a:r>
                          <a:r>
                            <a:rPr lang="en-US" baseline="0" smtClean="0"/>
                            <a:t> số mạng</a:t>
                          </a:r>
                          <a:endParaRPr lang="en-US"/>
                        </a:p>
                      </a:txBody>
                      <a:tcPr/>
                    </a:tc>
                    <a:tc>
                      <a:txBody>
                        <a:bodyPr/>
                        <a:lstStyle/>
                        <a:p>
                          <a:endParaRPr lang="en-US"/>
                        </a:p>
                      </a:txBody>
                      <a:tcPr>
                        <a:blipFill>
                          <a:blip r:embed="rId3"/>
                          <a:stretch>
                            <a:fillRect l="-104703" t="-304706" r="-251485" b="-472941"/>
                          </a:stretch>
                        </a:blipFill>
                      </a:tcPr>
                    </a:tc>
                    <a:tc>
                      <a:txBody>
                        <a:bodyPr/>
                        <a:lstStyle/>
                        <a:p>
                          <a:endParaRPr lang="en-US"/>
                        </a:p>
                      </a:txBody>
                      <a:tcPr>
                        <a:blipFill>
                          <a:blip r:embed="rId3"/>
                          <a:stretch>
                            <a:fillRect l="-169121" t="-304706" r="-107771" b="-472941"/>
                          </a:stretch>
                        </a:blipFill>
                      </a:tcPr>
                    </a:tc>
                    <a:tc>
                      <a:txBody>
                        <a:bodyPr/>
                        <a:lstStyle/>
                        <a:p>
                          <a:endParaRPr lang="en-US"/>
                        </a:p>
                      </a:txBody>
                      <a:tcPr>
                        <a:blipFill>
                          <a:blip r:embed="rId3"/>
                          <a:stretch>
                            <a:fillRect l="-251625" t="-304706" r="-765" b="-472941"/>
                          </a:stretch>
                        </a:blipFill>
                      </a:tcPr>
                    </a:tc>
                    <a:extLst>
                      <a:ext uri="{0D108BD9-81ED-4DB2-BD59-A6C34878D82A}">
                        <a16:rowId xmlns:a16="http://schemas.microsoft.com/office/drawing/2014/main" val="30148904"/>
                      </a:ext>
                    </a:extLst>
                  </a:tr>
                  <a:tr h="640080">
                    <a:tc>
                      <a:txBody>
                        <a:bodyPr/>
                        <a:lstStyle/>
                        <a:p>
                          <a:r>
                            <a:rPr lang="en-US" smtClean="0"/>
                            <a:t>Tổng</a:t>
                          </a:r>
                          <a:r>
                            <a:rPr lang="en-US" baseline="0" smtClean="0"/>
                            <a:t> số host trong một mạng</a:t>
                          </a:r>
                          <a:endParaRPr lang="en-US"/>
                        </a:p>
                      </a:txBody>
                      <a:tcPr/>
                    </a:tc>
                    <a:tc>
                      <a:txBody>
                        <a:bodyPr/>
                        <a:lstStyle/>
                        <a:p>
                          <a:endParaRPr lang="en-US"/>
                        </a:p>
                      </a:txBody>
                      <a:tcPr>
                        <a:blipFill>
                          <a:blip r:embed="rId3"/>
                          <a:stretch>
                            <a:fillRect l="-104703" t="-327619" r="-251485" b="-282857"/>
                          </a:stretch>
                        </a:blipFill>
                      </a:tcPr>
                    </a:tc>
                    <a:tc>
                      <a:txBody>
                        <a:bodyPr/>
                        <a:lstStyle/>
                        <a:p>
                          <a:endParaRPr lang="en-US"/>
                        </a:p>
                      </a:txBody>
                      <a:tcPr>
                        <a:blipFill>
                          <a:blip r:embed="rId3"/>
                          <a:stretch>
                            <a:fillRect l="-169121" t="-327619" r="-107771" b="-282857"/>
                          </a:stretch>
                        </a:blipFill>
                      </a:tcPr>
                    </a:tc>
                    <a:tc>
                      <a:txBody>
                        <a:bodyPr/>
                        <a:lstStyle/>
                        <a:p>
                          <a:endParaRPr lang="en-US"/>
                        </a:p>
                      </a:txBody>
                      <a:tcPr>
                        <a:blipFill>
                          <a:blip r:embed="rId3"/>
                          <a:stretch>
                            <a:fillRect l="-251625" t="-327619" r="-765" b="-282857"/>
                          </a:stretch>
                        </a:blipFill>
                      </a:tcPr>
                    </a:tc>
                    <a:extLst>
                      <a:ext uri="{0D108BD9-81ED-4DB2-BD59-A6C34878D82A}">
                        <a16:rowId xmlns:a16="http://schemas.microsoft.com/office/drawing/2014/main" val="3031996299"/>
                      </a:ext>
                    </a:extLst>
                  </a:tr>
                  <a:tr h="640080">
                    <a:tc>
                      <a:txBody>
                        <a:bodyPr/>
                        <a:lstStyle/>
                        <a:p>
                          <a:r>
                            <a:rPr lang="en-US" smtClean="0"/>
                            <a:t>Số</a:t>
                          </a:r>
                          <a:r>
                            <a:rPr lang="en-US" baseline="0" smtClean="0"/>
                            <a:t> octet (Số bit) trong phần mạng </a:t>
                          </a:r>
                          <a:endParaRPr lang="en-US"/>
                        </a:p>
                      </a:txBody>
                      <a:tcPr/>
                    </a:tc>
                    <a:tc>
                      <a:txBody>
                        <a:bodyPr/>
                        <a:lstStyle/>
                        <a:p>
                          <a:pPr algn="ctr"/>
                          <a:r>
                            <a:rPr lang="en-US" smtClean="0"/>
                            <a:t>1 (8)</a:t>
                          </a:r>
                          <a:endParaRPr lang="en-US"/>
                        </a:p>
                      </a:txBody>
                      <a:tcPr/>
                    </a:tc>
                    <a:tc>
                      <a:txBody>
                        <a:bodyPr/>
                        <a:lstStyle/>
                        <a:p>
                          <a:pPr algn="ctr"/>
                          <a:r>
                            <a:rPr lang="en-US" smtClean="0"/>
                            <a:t>2 (16)</a:t>
                          </a:r>
                          <a:endParaRPr lang="en-US"/>
                        </a:p>
                      </a:txBody>
                      <a:tcPr/>
                    </a:tc>
                    <a:tc>
                      <a:txBody>
                        <a:bodyPr/>
                        <a:lstStyle/>
                        <a:p>
                          <a:pPr algn="ctr"/>
                          <a:r>
                            <a:rPr lang="en-US" smtClean="0"/>
                            <a:t>3 (24)</a:t>
                          </a:r>
                          <a:endParaRPr lang="en-US"/>
                        </a:p>
                      </a:txBody>
                      <a:tcPr/>
                    </a:tc>
                    <a:extLst>
                      <a:ext uri="{0D108BD9-81ED-4DB2-BD59-A6C34878D82A}">
                        <a16:rowId xmlns:a16="http://schemas.microsoft.com/office/drawing/2014/main" val="2309543338"/>
                      </a:ext>
                    </a:extLst>
                  </a:tr>
                  <a:tr h="640080">
                    <a:tc>
                      <a:txBody>
                        <a:bodyPr/>
                        <a:lstStyle/>
                        <a:p>
                          <a:r>
                            <a:rPr lang="en-US" smtClean="0"/>
                            <a:t>Số</a:t>
                          </a:r>
                          <a:r>
                            <a:rPr lang="en-US" baseline="0" smtClean="0"/>
                            <a:t> octet (Số bit) trong phần host</a:t>
                          </a:r>
                          <a:endParaRPr lang="en-US"/>
                        </a:p>
                      </a:txBody>
                      <a:tcPr/>
                    </a:tc>
                    <a:tc>
                      <a:txBody>
                        <a:bodyPr/>
                        <a:lstStyle/>
                        <a:p>
                          <a:pPr algn="ctr"/>
                          <a:r>
                            <a:rPr lang="en-US" smtClean="0"/>
                            <a:t>3 (24)</a:t>
                          </a:r>
                          <a:endParaRPr lang="en-US"/>
                        </a:p>
                      </a:txBody>
                      <a:tcPr/>
                    </a:tc>
                    <a:tc>
                      <a:txBody>
                        <a:bodyPr/>
                        <a:lstStyle/>
                        <a:p>
                          <a:pPr algn="ctr"/>
                          <a:r>
                            <a:rPr lang="en-US" smtClean="0"/>
                            <a:t>2 (16)</a:t>
                          </a:r>
                          <a:endParaRPr lang="en-US"/>
                        </a:p>
                      </a:txBody>
                      <a:tcPr/>
                    </a:tc>
                    <a:tc>
                      <a:txBody>
                        <a:bodyPr/>
                        <a:lstStyle/>
                        <a:p>
                          <a:pPr algn="ctr"/>
                          <a:r>
                            <a:rPr lang="en-US" smtClean="0"/>
                            <a:t>1 (8)</a:t>
                          </a:r>
                          <a:endParaRPr lang="en-US"/>
                        </a:p>
                      </a:txBody>
                      <a:tcPr/>
                    </a:tc>
                    <a:extLst>
                      <a:ext uri="{0D108BD9-81ED-4DB2-BD59-A6C34878D82A}">
                        <a16:rowId xmlns:a16="http://schemas.microsoft.com/office/drawing/2014/main" val="2181296077"/>
                      </a:ext>
                    </a:extLst>
                  </a:tr>
                  <a:tr h="515455">
                    <a:tc>
                      <a:txBody>
                        <a:bodyPr/>
                        <a:lstStyle/>
                        <a:p>
                          <a:r>
                            <a:rPr lang="en-US" smtClean="0"/>
                            <a:t>Mặt</a:t>
                          </a:r>
                          <a:r>
                            <a:rPr lang="en-US" baseline="0" smtClean="0"/>
                            <a:t> nạ mặc định</a:t>
                          </a:r>
                          <a:endParaRPr lang="en-US"/>
                        </a:p>
                      </a:txBody>
                      <a:tcPr/>
                    </a:tc>
                    <a:tc>
                      <a:txBody>
                        <a:bodyPr/>
                        <a:lstStyle/>
                        <a:p>
                          <a:pPr algn="ctr"/>
                          <a:r>
                            <a:rPr lang="en-US" smtClean="0"/>
                            <a:t>255.0.0.0</a:t>
                          </a:r>
                          <a:endParaRPr lang="en-US"/>
                        </a:p>
                      </a:txBody>
                      <a:tcPr/>
                    </a:tc>
                    <a:tc>
                      <a:txBody>
                        <a:bodyPr/>
                        <a:lstStyle/>
                        <a:p>
                          <a:pPr algn="ctr"/>
                          <a:r>
                            <a:rPr lang="en-US" smtClean="0"/>
                            <a:t>255.255.0.0</a:t>
                          </a:r>
                          <a:endParaRPr lang="en-US"/>
                        </a:p>
                      </a:txBody>
                      <a:tcPr/>
                    </a:tc>
                    <a:tc>
                      <a:txBody>
                        <a:bodyPr/>
                        <a:lstStyle/>
                        <a:p>
                          <a:pPr algn="ctr"/>
                          <a:r>
                            <a:rPr lang="en-US" smtClean="0"/>
                            <a:t>255.255.255.0</a:t>
                          </a:r>
                          <a:endParaRPr lang="en-US"/>
                        </a:p>
                      </a:txBody>
                      <a:tcPr/>
                    </a:tc>
                    <a:extLst>
                      <a:ext uri="{0D108BD9-81ED-4DB2-BD59-A6C34878D82A}">
                        <a16:rowId xmlns:a16="http://schemas.microsoft.com/office/drawing/2014/main" val="273014651"/>
                      </a:ext>
                    </a:extLst>
                  </a:tr>
                </a:tbl>
              </a:graphicData>
            </a:graphic>
          </p:graphicFrame>
        </mc:Fallback>
      </mc:AlternateContent>
    </p:spTree>
    <p:extLst>
      <p:ext uri="{BB962C8B-B14F-4D97-AF65-F5344CB8AC3E}">
        <p14:creationId xmlns:p14="http://schemas.microsoft.com/office/powerpoint/2010/main" val="1181004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776048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srgbClr val="005BBB"/>
                </a:solidFill>
                <a:latin typeface="Arial" panose="020B0604020202020204"/>
                <a:cs typeface="Helvetica World" panose="020B0500040000020004" pitchFamily="34" charset="0"/>
              </a:rPr>
              <a:t>TỔNG KẾT CÁC ĐỊA CHỈ IP ĐẶC BIỆT CẦN LƯU Ý</a:t>
            </a:r>
            <a:endParaRPr kumimoji="0" lang="en-US" sz="1800" b="1" i="0" u="none" strike="noStrike" kern="1200" cap="none" spc="0" normalizeH="0" baseline="0" noProof="0" dirty="0">
              <a:ln>
                <a:noFill/>
              </a:ln>
              <a:solidFill>
                <a:srgbClr val="005BBB"/>
              </a:solidFill>
              <a:effectLst/>
              <a:uLnTx/>
              <a:uFillTx/>
              <a:latin typeface="Arial" panose="020B0604020202020204"/>
              <a:ea typeface="+mj-ea"/>
              <a:cs typeface="Helvetica World" panose="020B0500040000020004" pitchFamily="34" charset="0"/>
            </a:endParaRPr>
          </a:p>
        </p:txBody>
      </p:sp>
      <p:sp>
        <p:nvSpPr>
          <p:cNvPr id="168" name="Rectangle 3"/>
          <p:cNvSpPr txBox="1">
            <a:spLocks noChangeArrowheads="1"/>
          </p:cNvSpPr>
          <p:nvPr/>
        </p:nvSpPr>
        <p:spPr>
          <a:xfrm>
            <a:off x="100407" y="1400380"/>
            <a:ext cx="11963774" cy="5413376"/>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buClr>
                <a:srgbClr val="708CA1"/>
              </a:buClr>
              <a:buSzTx/>
            </a:pPr>
            <a:r>
              <a:rPr lang="vi-VN" b="1" kern="0" dirty="0">
                <a:solidFill>
                  <a:srgbClr val="000000"/>
                </a:solidFill>
                <a:ea typeface="ＭＳ Ｐゴシック" charset="0"/>
              </a:rPr>
              <a:t>Địa chỉ 0.0.0.0</a:t>
            </a:r>
            <a:r>
              <a:rPr lang="en-US" b="1" kern="0" dirty="0">
                <a:solidFill>
                  <a:srgbClr val="000000"/>
                </a:solidFill>
                <a:ea typeface="ＭＳ Ｐゴシック" charset="0"/>
              </a:rPr>
              <a:t>/32</a:t>
            </a:r>
            <a:r>
              <a:rPr lang="vi-VN" kern="0" dirty="0">
                <a:solidFill>
                  <a:srgbClr val="000000"/>
                </a:solidFill>
                <a:ea typeface="ＭＳ Ｐゴシック" charset="0"/>
              </a:rPr>
              <a:t> </a:t>
            </a:r>
            <a:r>
              <a:rPr lang="en-US" kern="0" dirty="0" err="1">
                <a:solidFill>
                  <a:srgbClr val="000000"/>
                </a:solidFill>
                <a:ea typeface="ＭＳ Ｐゴシック" charset="0"/>
              </a:rPr>
              <a:t>được</a:t>
            </a:r>
            <a:r>
              <a:rPr lang="en-US" kern="0" dirty="0">
                <a:solidFill>
                  <a:srgbClr val="000000"/>
                </a:solidFill>
                <a:ea typeface="ＭＳ Ｐゴシック" charset="0"/>
              </a:rPr>
              <a:t> </a:t>
            </a:r>
            <a:r>
              <a:rPr lang="en-US" kern="0" dirty="0" err="1">
                <a:solidFill>
                  <a:srgbClr val="000000"/>
                </a:solidFill>
                <a:ea typeface="ＭＳ Ｐゴシック" charset="0"/>
              </a:rPr>
              <a:t>một</a:t>
            </a:r>
            <a:r>
              <a:rPr lang="en-US" kern="0" dirty="0">
                <a:solidFill>
                  <a:srgbClr val="000000"/>
                </a:solidFill>
                <a:ea typeface="ＭＳ Ｐゴシック" charset="0"/>
              </a:rPr>
              <a:t> host </a:t>
            </a:r>
            <a:r>
              <a:rPr lang="en-US" kern="0" dirty="0" err="1">
                <a:solidFill>
                  <a:srgbClr val="000000"/>
                </a:solidFill>
                <a:ea typeface="ＭＳ Ｐゴシック" charset="0"/>
              </a:rPr>
              <a:t>sử</a:t>
            </a:r>
            <a:r>
              <a:rPr lang="en-US" kern="0" dirty="0">
                <a:solidFill>
                  <a:srgbClr val="000000"/>
                </a:solidFill>
                <a:ea typeface="ＭＳ Ｐゴシック" charset="0"/>
              </a:rPr>
              <a:t> </a:t>
            </a:r>
            <a:r>
              <a:rPr lang="en-US" kern="0" dirty="0" err="1">
                <a:solidFill>
                  <a:srgbClr val="000000"/>
                </a:solidFill>
                <a:ea typeface="ＭＳ Ｐゴシック" charset="0"/>
              </a:rPr>
              <a:t>dụng</a:t>
            </a:r>
            <a:r>
              <a:rPr lang="en-US" kern="0" dirty="0">
                <a:solidFill>
                  <a:srgbClr val="000000"/>
                </a:solidFill>
                <a:ea typeface="ＭＳ Ｐゴシック" charset="0"/>
              </a:rPr>
              <a:t> </a:t>
            </a:r>
            <a:r>
              <a:rPr lang="en-US" kern="0" dirty="0" err="1">
                <a:solidFill>
                  <a:srgbClr val="000000"/>
                </a:solidFill>
                <a:ea typeface="ＭＳ Ｐゴシック" charset="0"/>
              </a:rPr>
              <a:t>làm</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kern="0" dirty="0" err="1">
                <a:solidFill>
                  <a:srgbClr val="000000"/>
                </a:solidFill>
                <a:ea typeface="ＭＳ Ｐゴシック" charset="0"/>
              </a:rPr>
              <a:t>nguồn</a:t>
            </a:r>
            <a:r>
              <a:rPr lang="en-US" kern="0" dirty="0">
                <a:solidFill>
                  <a:srgbClr val="000000"/>
                </a:solidFill>
                <a:ea typeface="ＭＳ Ｐゴシック" charset="0"/>
              </a:rPr>
              <a:t> </a:t>
            </a:r>
            <a:r>
              <a:rPr lang="en-US" kern="0" dirty="0" err="1">
                <a:solidFill>
                  <a:srgbClr val="000000"/>
                </a:solidFill>
                <a:ea typeface="ＭＳ Ｐゴシック" charset="0"/>
              </a:rPr>
              <a:t>khi</a:t>
            </a:r>
            <a:r>
              <a:rPr lang="en-US" kern="0" dirty="0">
                <a:solidFill>
                  <a:srgbClr val="000000"/>
                </a:solidFill>
                <a:ea typeface="ＭＳ Ｐゴシック" charset="0"/>
              </a:rPr>
              <a:t> host </a:t>
            </a:r>
            <a:r>
              <a:rPr lang="en-US" kern="0" dirty="0" err="1">
                <a:solidFill>
                  <a:srgbClr val="000000"/>
                </a:solidFill>
                <a:ea typeface="ＭＳ Ｐゴシック" charset="0"/>
              </a:rPr>
              <a:t>đó</a:t>
            </a:r>
            <a:r>
              <a:rPr lang="en-US" kern="0" dirty="0">
                <a:solidFill>
                  <a:srgbClr val="000000"/>
                </a:solidFill>
                <a:ea typeface="ＭＳ Ｐゴシック" charset="0"/>
              </a:rPr>
              <a:t> </a:t>
            </a:r>
            <a:r>
              <a:rPr lang="en-US" kern="0" dirty="0" err="1">
                <a:solidFill>
                  <a:srgbClr val="000000"/>
                </a:solidFill>
                <a:ea typeface="ＭＳ Ｐゴシック" charset="0"/>
              </a:rPr>
              <a:t>không</a:t>
            </a:r>
            <a:r>
              <a:rPr lang="en-US" kern="0" dirty="0">
                <a:solidFill>
                  <a:srgbClr val="000000"/>
                </a:solidFill>
                <a:ea typeface="ＭＳ Ｐゴシック" charset="0"/>
              </a:rPr>
              <a:t> </a:t>
            </a:r>
            <a:r>
              <a:rPr lang="en-US" kern="0" dirty="0" err="1">
                <a:solidFill>
                  <a:srgbClr val="000000"/>
                </a:solidFill>
                <a:ea typeface="ＭＳ Ｐゴシック" charset="0"/>
              </a:rPr>
              <a:t>biết</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IP </a:t>
            </a:r>
            <a:r>
              <a:rPr lang="en-US" kern="0" dirty="0" err="1">
                <a:solidFill>
                  <a:srgbClr val="000000"/>
                </a:solidFill>
                <a:ea typeface="ＭＳ Ｐゴシック" charset="0"/>
              </a:rPr>
              <a:t>của</a:t>
            </a:r>
            <a:r>
              <a:rPr lang="en-US" kern="0" dirty="0">
                <a:solidFill>
                  <a:srgbClr val="000000"/>
                </a:solidFill>
                <a:ea typeface="ＭＳ Ｐゴシック" charset="0"/>
              </a:rPr>
              <a:t> </a:t>
            </a:r>
            <a:r>
              <a:rPr lang="en-US" kern="0" dirty="0" err="1">
                <a:solidFill>
                  <a:srgbClr val="000000"/>
                </a:solidFill>
                <a:ea typeface="ＭＳ Ｐゴシック" charset="0"/>
              </a:rPr>
              <a:t>chính</a:t>
            </a:r>
            <a:r>
              <a:rPr lang="en-US" kern="0" dirty="0">
                <a:solidFill>
                  <a:srgbClr val="000000"/>
                </a:solidFill>
                <a:ea typeface="ＭＳ Ｐゴシック" charset="0"/>
              </a:rPr>
              <a:t> </a:t>
            </a:r>
            <a:r>
              <a:rPr lang="en-US" kern="0" dirty="0" err="1">
                <a:solidFill>
                  <a:srgbClr val="000000"/>
                </a:solidFill>
                <a:ea typeface="ＭＳ Ｐゴシック" charset="0"/>
              </a:rPr>
              <a:t>nó</a:t>
            </a:r>
            <a:r>
              <a:rPr lang="vi-VN" kern="0" dirty="0">
                <a:solidFill>
                  <a:srgbClr val="000000"/>
                </a:solidFill>
                <a:ea typeface="ＭＳ Ｐゴシック" charset="0"/>
              </a:rPr>
              <a:t>.</a:t>
            </a:r>
            <a:endParaRPr lang="en-US" kern="0" dirty="0">
              <a:solidFill>
                <a:srgbClr val="000000"/>
              </a:solidFill>
              <a:ea typeface="ＭＳ Ｐゴシック" charset="0"/>
            </a:endParaRPr>
          </a:p>
          <a:p>
            <a:pPr algn="just">
              <a:spcBef>
                <a:spcPts val="0"/>
              </a:spcBef>
              <a:buClr>
                <a:srgbClr val="708CA1"/>
              </a:buClr>
              <a:buSzTx/>
            </a:pPr>
            <a:r>
              <a:rPr lang="en-US" b="1" kern="0" dirty="0" err="1">
                <a:solidFill>
                  <a:srgbClr val="000000"/>
                </a:solidFill>
                <a:ea typeface="ＭＳ Ｐゴシック" charset="0"/>
              </a:rPr>
              <a:t>Địa</a:t>
            </a:r>
            <a:r>
              <a:rPr lang="en-US" b="1" kern="0" dirty="0">
                <a:solidFill>
                  <a:srgbClr val="000000"/>
                </a:solidFill>
                <a:ea typeface="ＭＳ Ｐゴシック" charset="0"/>
              </a:rPr>
              <a:t> </a:t>
            </a:r>
            <a:r>
              <a:rPr lang="en-US" b="1" kern="0" dirty="0" err="1">
                <a:solidFill>
                  <a:srgbClr val="000000"/>
                </a:solidFill>
                <a:ea typeface="ＭＳ Ｐゴシック" charset="0"/>
              </a:rPr>
              <a:t>chỉ</a:t>
            </a:r>
            <a:r>
              <a:rPr lang="en-US" b="1" kern="0" dirty="0">
                <a:solidFill>
                  <a:srgbClr val="000000"/>
                </a:solidFill>
                <a:ea typeface="ＭＳ Ｐゴシック" charset="0"/>
              </a:rPr>
              <a:t> </a:t>
            </a:r>
            <a:r>
              <a:rPr lang="en-US" b="1" kern="0" dirty="0" err="1">
                <a:solidFill>
                  <a:srgbClr val="000000"/>
                </a:solidFill>
                <a:ea typeface="ＭＳ Ｐゴシック" charset="0"/>
              </a:rPr>
              <a:t>mạng</a:t>
            </a:r>
            <a:r>
              <a:rPr lang="en-US" b="1" kern="0" dirty="0">
                <a:solidFill>
                  <a:srgbClr val="000000"/>
                </a:solidFill>
                <a:ea typeface="ＭＳ Ｐゴシック" charset="0"/>
              </a:rPr>
              <a:t> </a:t>
            </a:r>
            <a:r>
              <a:rPr lang="en-US" kern="0" dirty="0">
                <a:solidFill>
                  <a:srgbClr val="000000"/>
                </a:solidFill>
                <a:ea typeface="ＭＳ Ｐゴシック" charset="0"/>
              </a:rPr>
              <a:t>– </a:t>
            </a:r>
            <a:r>
              <a:rPr lang="en-US" kern="0" dirty="0" err="1">
                <a:solidFill>
                  <a:srgbClr val="000000"/>
                </a:solidFill>
                <a:ea typeface="ＭＳ Ｐゴシック" charset="0"/>
              </a:rPr>
              <a:t>là</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kern="0" dirty="0" err="1">
                <a:solidFill>
                  <a:srgbClr val="000000"/>
                </a:solidFill>
                <a:ea typeface="ＭＳ Ｐゴシック" charset="0"/>
              </a:rPr>
              <a:t>có</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bit </a:t>
            </a:r>
            <a:r>
              <a:rPr lang="en-US" kern="0" dirty="0" err="1">
                <a:solidFill>
                  <a:srgbClr val="000000"/>
                </a:solidFill>
                <a:ea typeface="ＭＳ Ｐゴシック" charset="0"/>
              </a:rPr>
              <a:t>phần</a:t>
            </a:r>
            <a:r>
              <a:rPr lang="en-US" kern="0" dirty="0">
                <a:solidFill>
                  <a:srgbClr val="000000"/>
                </a:solidFill>
                <a:ea typeface="ＭＳ Ｐゴシック" charset="0"/>
              </a:rPr>
              <a:t> host </a:t>
            </a:r>
            <a:r>
              <a:rPr lang="en-US" kern="0" dirty="0" err="1">
                <a:solidFill>
                  <a:srgbClr val="000000"/>
                </a:solidFill>
                <a:ea typeface="ＭＳ Ｐゴシック" charset="0"/>
              </a:rPr>
              <a:t>đều</a:t>
            </a:r>
            <a:r>
              <a:rPr lang="en-US" kern="0" dirty="0">
                <a:solidFill>
                  <a:srgbClr val="000000"/>
                </a:solidFill>
                <a:ea typeface="ＭＳ Ｐゴシック" charset="0"/>
              </a:rPr>
              <a:t> </a:t>
            </a:r>
            <a:r>
              <a:rPr lang="en-US" kern="0" dirty="0" err="1">
                <a:solidFill>
                  <a:srgbClr val="000000"/>
                </a:solidFill>
                <a:ea typeface="ＭＳ Ｐゴシック" charset="0"/>
              </a:rPr>
              <a:t>bằng</a:t>
            </a:r>
            <a:r>
              <a:rPr lang="en-US" kern="0" dirty="0">
                <a:solidFill>
                  <a:srgbClr val="000000"/>
                </a:solidFill>
                <a:ea typeface="ＭＳ Ｐゴシック" charset="0"/>
              </a:rPr>
              <a:t> 0,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kern="0" dirty="0" err="1">
                <a:solidFill>
                  <a:srgbClr val="000000"/>
                </a:solidFill>
                <a:ea typeface="ＭＳ Ｐゴシック" charset="0"/>
              </a:rPr>
              <a:t>được</a:t>
            </a:r>
            <a:r>
              <a:rPr lang="en-US" kern="0" dirty="0">
                <a:solidFill>
                  <a:srgbClr val="000000"/>
                </a:solidFill>
                <a:ea typeface="ＭＳ Ｐゴシック" charset="0"/>
              </a:rPr>
              <a:t> </a:t>
            </a:r>
            <a:r>
              <a:rPr lang="en-US" kern="0" dirty="0" err="1">
                <a:solidFill>
                  <a:srgbClr val="000000"/>
                </a:solidFill>
                <a:ea typeface="ＭＳ Ｐゴシック" charset="0"/>
              </a:rPr>
              <a:t>sử</a:t>
            </a:r>
            <a:r>
              <a:rPr lang="en-US" kern="0" dirty="0">
                <a:solidFill>
                  <a:srgbClr val="000000"/>
                </a:solidFill>
                <a:ea typeface="ＭＳ Ｐゴシック" charset="0"/>
              </a:rPr>
              <a:t> </a:t>
            </a:r>
            <a:r>
              <a:rPr lang="en-US" kern="0" dirty="0" err="1">
                <a:solidFill>
                  <a:srgbClr val="000000"/>
                </a:solidFill>
                <a:ea typeface="ＭＳ Ｐゴシック" charset="0"/>
              </a:rPr>
              <a:t>dụng</a:t>
            </a:r>
            <a:r>
              <a:rPr lang="en-US" kern="0" dirty="0">
                <a:solidFill>
                  <a:srgbClr val="000000"/>
                </a:solidFill>
                <a:ea typeface="ＭＳ Ｐゴシック" charset="0"/>
              </a:rPr>
              <a:t> </a:t>
            </a:r>
            <a:r>
              <a:rPr lang="en-US" kern="0" dirty="0" err="1">
                <a:solidFill>
                  <a:srgbClr val="000000"/>
                </a:solidFill>
                <a:ea typeface="ＭＳ Ｐゴシック" charset="0"/>
              </a:rPr>
              <a:t>làm</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kern="0" dirty="0" err="1">
                <a:solidFill>
                  <a:srgbClr val="000000"/>
                </a:solidFill>
                <a:ea typeface="ＭＳ Ｐゴシック" charset="0"/>
              </a:rPr>
              <a:t>mạng</a:t>
            </a:r>
            <a:r>
              <a:rPr lang="en-US" kern="0" dirty="0">
                <a:solidFill>
                  <a:srgbClr val="000000"/>
                </a:solidFill>
                <a:ea typeface="ＭＳ Ｐゴシック" charset="0"/>
              </a:rPr>
              <a:t>, </a:t>
            </a:r>
            <a:r>
              <a:rPr lang="en-US" kern="0" dirty="0" err="1">
                <a:solidFill>
                  <a:srgbClr val="000000"/>
                </a:solidFill>
                <a:ea typeface="ＭＳ Ｐゴシック" charset="0"/>
              </a:rPr>
              <a:t>không</a:t>
            </a:r>
            <a:r>
              <a:rPr lang="en-US" kern="0" dirty="0">
                <a:solidFill>
                  <a:srgbClr val="000000"/>
                </a:solidFill>
                <a:ea typeface="ＭＳ Ｐゴシック" charset="0"/>
              </a:rPr>
              <a:t> </a:t>
            </a:r>
            <a:r>
              <a:rPr lang="en-US" kern="0" dirty="0" err="1">
                <a:solidFill>
                  <a:srgbClr val="000000"/>
                </a:solidFill>
                <a:ea typeface="ＭＳ Ｐゴシック" charset="0"/>
              </a:rPr>
              <a:t>thể</a:t>
            </a:r>
            <a:r>
              <a:rPr lang="en-US" kern="0" dirty="0">
                <a:solidFill>
                  <a:srgbClr val="000000"/>
                </a:solidFill>
                <a:ea typeface="ＭＳ Ｐゴシック" charset="0"/>
              </a:rPr>
              <a:t> </a:t>
            </a:r>
            <a:r>
              <a:rPr lang="en-US" kern="0" dirty="0" err="1">
                <a:solidFill>
                  <a:srgbClr val="000000"/>
                </a:solidFill>
                <a:ea typeface="ＭＳ Ｐゴシック" charset="0"/>
              </a:rPr>
              <a:t>được</a:t>
            </a:r>
            <a:r>
              <a:rPr lang="en-US" kern="0" dirty="0">
                <a:solidFill>
                  <a:srgbClr val="000000"/>
                </a:solidFill>
                <a:ea typeface="ＭＳ Ｐゴシック" charset="0"/>
              </a:rPr>
              <a:t> </a:t>
            </a:r>
            <a:r>
              <a:rPr lang="en-US" kern="0" dirty="0" err="1">
                <a:solidFill>
                  <a:srgbClr val="000000"/>
                </a:solidFill>
                <a:ea typeface="ＭＳ Ｐゴシック" charset="0"/>
              </a:rPr>
              <a:t>gán</a:t>
            </a:r>
            <a:r>
              <a:rPr lang="en-US" kern="0" dirty="0">
                <a:solidFill>
                  <a:srgbClr val="000000"/>
                </a:solidFill>
                <a:ea typeface="ＭＳ Ｐゴシック" charset="0"/>
              </a:rPr>
              <a:t> </a:t>
            </a:r>
            <a:r>
              <a:rPr lang="en-US" kern="0" dirty="0" err="1">
                <a:solidFill>
                  <a:srgbClr val="000000"/>
                </a:solidFill>
                <a:ea typeface="ＭＳ Ｐゴシック" charset="0"/>
              </a:rPr>
              <a:t>làm</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kern="0" dirty="0" err="1">
                <a:solidFill>
                  <a:srgbClr val="000000"/>
                </a:solidFill>
                <a:ea typeface="ＭＳ Ｐゴシック" charset="0"/>
              </a:rPr>
              <a:t>cho</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a:t>
            </a:r>
            <a:r>
              <a:rPr lang="en-US" kern="0" dirty="0" err="1">
                <a:solidFill>
                  <a:srgbClr val="000000"/>
                </a:solidFill>
                <a:ea typeface="ＭＳ Ｐゴシック" charset="0"/>
              </a:rPr>
              <a:t>thiết</a:t>
            </a:r>
            <a:r>
              <a:rPr lang="en-US" kern="0" dirty="0">
                <a:solidFill>
                  <a:srgbClr val="000000"/>
                </a:solidFill>
                <a:ea typeface="ＭＳ Ｐゴシック" charset="0"/>
              </a:rPr>
              <a:t> </a:t>
            </a:r>
            <a:r>
              <a:rPr lang="en-US" kern="0" dirty="0" err="1">
                <a:solidFill>
                  <a:srgbClr val="000000"/>
                </a:solidFill>
                <a:ea typeface="ＭＳ Ｐゴシック" charset="0"/>
              </a:rPr>
              <a:t>bị</a:t>
            </a:r>
            <a:r>
              <a:rPr lang="en-US" kern="0" dirty="0">
                <a:solidFill>
                  <a:srgbClr val="000000"/>
                </a:solidFill>
                <a:ea typeface="ＭＳ Ｐゴシック" charset="0"/>
              </a:rPr>
              <a:t> </a:t>
            </a:r>
            <a:r>
              <a:rPr lang="en-US" kern="0" dirty="0" err="1">
                <a:solidFill>
                  <a:srgbClr val="000000"/>
                </a:solidFill>
                <a:ea typeface="ＭＳ Ｐゴシック" charset="0"/>
              </a:rPr>
              <a:t>đầu</a:t>
            </a:r>
            <a:r>
              <a:rPr lang="en-US" kern="0" dirty="0">
                <a:solidFill>
                  <a:srgbClr val="000000"/>
                </a:solidFill>
                <a:ea typeface="ＭＳ Ｐゴシック" charset="0"/>
              </a:rPr>
              <a:t> </a:t>
            </a:r>
            <a:r>
              <a:rPr lang="en-US" kern="0" dirty="0" err="1">
                <a:solidFill>
                  <a:srgbClr val="000000"/>
                </a:solidFill>
                <a:ea typeface="ＭＳ Ｐゴシック" charset="0"/>
              </a:rPr>
              <a:t>cuối</a:t>
            </a:r>
            <a:r>
              <a:rPr lang="en-US" kern="0" dirty="0">
                <a:solidFill>
                  <a:srgbClr val="000000"/>
                </a:solidFill>
                <a:ea typeface="ＭＳ Ｐゴシック" charset="0"/>
              </a:rPr>
              <a:t>.</a:t>
            </a:r>
          </a:p>
          <a:p>
            <a:pPr algn="just">
              <a:spcBef>
                <a:spcPts val="0"/>
              </a:spcBef>
              <a:buClr>
                <a:srgbClr val="708CA1"/>
              </a:buClr>
              <a:buSzTx/>
            </a:pPr>
            <a:r>
              <a:rPr lang="en-US" b="1" kern="0" dirty="0" err="1">
                <a:solidFill>
                  <a:srgbClr val="000000"/>
                </a:solidFill>
                <a:ea typeface="ＭＳ Ｐゴシック" charset="0"/>
              </a:rPr>
              <a:t>Địa</a:t>
            </a:r>
            <a:r>
              <a:rPr lang="en-US" b="1" kern="0" dirty="0">
                <a:solidFill>
                  <a:srgbClr val="000000"/>
                </a:solidFill>
                <a:ea typeface="ＭＳ Ｐゴシック" charset="0"/>
              </a:rPr>
              <a:t> </a:t>
            </a:r>
            <a:r>
              <a:rPr lang="en-US" b="1" kern="0" dirty="0" err="1">
                <a:solidFill>
                  <a:srgbClr val="000000"/>
                </a:solidFill>
                <a:ea typeface="ＭＳ Ｐゴシック" charset="0"/>
              </a:rPr>
              <a:t>chỉ</a:t>
            </a:r>
            <a:r>
              <a:rPr lang="en-US" b="1" kern="0" dirty="0">
                <a:solidFill>
                  <a:srgbClr val="000000"/>
                </a:solidFill>
                <a:ea typeface="ＭＳ Ｐゴシック" charset="0"/>
              </a:rPr>
              <a:t> broadcast </a:t>
            </a:r>
            <a:r>
              <a:rPr lang="en-US" kern="0" dirty="0">
                <a:solidFill>
                  <a:srgbClr val="000000"/>
                </a:solidFill>
                <a:ea typeface="ＭＳ Ｐゴシック" charset="0"/>
              </a:rPr>
              <a:t>- </a:t>
            </a:r>
            <a:r>
              <a:rPr lang="en-US" kern="0" dirty="0" err="1">
                <a:solidFill>
                  <a:srgbClr val="000000"/>
                </a:solidFill>
                <a:ea typeface="ＭＳ Ｐゴシック" charset="0"/>
              </a:rPr>
              <a:t>là</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kern="0" dirty="0" err="1">
                <a:solidFill>
                  <a:srgbClr val="000000"/>
                </a:solidFill>
                <a:ea typeface="ＭＳ Ｐゴシック" charset="0"/>
              </a:rPr>
              <a:t>có</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bit </a:t>
            </a:r>
            <a:r>
              <a:rPr lang="en-US" kern="0" dirty="0" err="1">
                <a:solidFill>
                  <a:srgbClr val="000000"/>
                </a:solidFill>
                <a:ea typeface="ＭＳ Ｐゴシック" charset="0"/>
              </a:rPr>
              <a:t>phần</a:t>
            </a:r>
            <a:r>
              <a:rPr lang="en-US" kern="0" dirty="0">
                <a:solidFill>
                  <a:srgbClr val="000000"/>
                </a:solidFill>
                <a:ea typeface="ＭＳ Ｐゴシック" charset="0"/>
              </a:rPr>
              <a:t> host </a:t>
            </a:r>
            <a:r>
              <a:rPr lang="en-US" kern="0" dirty="0" err="1">
                <a:solidFill>
                  <a:srgbClr val="000000"/>
                </a:solidFill>
                <a:ea typeface="ＭＳ Ｐゴシック" charset="0"/>
              </a:rPr>
              <a:t>đều</a:t>
            </a:r>
            <a:r>
              <a:rPr lang="en-US" kern="0" dirty="0">
                <a:solidFill>
                  <a:srgbClr val="000000"/>
                </a:solidFill>
                <a:ea typeface="ＭＳ Ｐゴシック" charset="0"/>
              </a:rPr>
              <a:t> </a:t>
            </a:r>
            <a:r>
              <a:rPr lang="en-US" kern="0" dirty="0" err="1">
                <a:solidFill>
                  <a:srgbClr val="000000"/>
                </a:solidFill>
                <a:ea typeface="ＭＳ Ｐゴシック" charset="0"/>
              </a:rPr>
              <a:t>bằng</a:t>
            </a:r>
            <a:r>
              <a:rPr lang="en-US" kern="0" dirty="0">
                <a:solidFill>
                  <a:srgbClr val="000000"/>
                </a:solidFill>
                <a:ea typeface="ＭＳ Ｐゴシック" charset="0"/>
              </a:rPr>
              <a:t> 1. Bao </a:t>
            </a:r>
            <a:r>
              <a:rPr lang="en-US" kern="0" dirty="0" err="1">
                <a:solidFill>
                  <a:srgbClr val="000000"/>
                </a:solidFill>
                <a:ea typeface="ＭＳ Ｐゴシック" charset="0"/>
              </a:rPr>
              <a:t>gồm</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b="1" kern="0" dirty="0">
                <a:solidFill>
                  <a:srgbClr val="000000"/>
                </a:solidFill>
                <a:ea typeface="ＭＳ Ｐゴシック" charset="0"/>
              </a:rPr>
              <a:t>Directed broadcast </a:t>
            </a:r>
            <a:r>
              <a:rPr lang="en-US" kern="0" dirty="0">
                <a:solidFill>
                  <a:srgbClr val="000000"/>
                </a:solidFill>
                <a:ea typeface="ＭＳ Ｐゴシック" charset="0"/>
              </a:rPr>
              <a:t>(VD: 10.255.255.255/8, 192.168.2.255/24, …) </a:t>
            </a:r>
            <a:r>
              <a:rPr lang="en-US" kern="0" dirty="0" err="1">
                <a:solidFill>
                  <a:srgbClr val="000000"/>
                </a:solidFill>
                <a:ea typeface="ＭＳ Ｐゴシック" charset="0"/>
              </a:rPr>
              <a:t>và</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a:t>
            </a:r>
            <a:r>
              <a:rPr lang="en-US" b="1" kern="0" dirty="0">
                <a:solidFill>
                  <a:srgbClr val="000000"/>
                </a:solidFill>
                <a:ea typeface="ＭＳ Ｐゴシック" charset="0"/>
              </a:rPr>
              <a:t>Limited broadcast</a:t>
            </a:r>
            <a:r>
              <a:rPr lang="en-US" kern="0" dirty="0">
                <a:solidFill>
                  <a:srgbClr val="000000"/>
                </a:solidFill>
                <a:ea typeface="ＭＳ Ｐゴシック" charset="0"/>
              </a:rPr>
              <a:t> – </a:t>
            </a:r>
            <a:r>
              <a:rPr lang="en-US" kern="0" dirty="0" err="1">
                <a:solidFill>
                  <a:srgbClr val="000000"/>
                </a:solidFill>
                <a:ea typeface="ＭＳ Ｐゴシック" charset="0"/>
              </a:rPr>
              <a:t>khi</a:t>
            </a:r>
            <a:r>
              <a:rPr lang="en-US" kern="0" dirty="0">
                <a:solidFill>
                  <a:srgbClr val="000000"/>
                </a:solidFill>
                <a:ea typeface="ＭＳ Ｐゴシック" charset="0"/>
              </a:rPr>
              <a:t> </a:t>
            </a:r>
            <a:r>
              <a:rPr lang="en-US" kern="0" dirty="0" err="1">
                <a:solidFill>
                  <a:srgbClr val="000000"/>
                </a:solidFill>
                <a:ea typeface="ＭＳ Ｐゴシック" charset="0"/>
              </a:rPr>
              <a:t>tất</a:t>
            </a:r>
            <a:r>
              <a:rPr lang="en-US" kern="0" dirty="0">
                <a:solidFill>
                  <a:srgbClr val="000000"/>
                </a:solidFill>
                <a:ea typeface="ＭＳ Ｐゴシック" charset="0"/>
              </a:rPr>
              <a:t> </a:t>
            </a:r>
            <a:r>
              <a:rPr lang="en-US" kern="0" dirty="0" err="1">
                <a:solidFill>
                  <a:srgbClr val="000000"/>
                </a:solidFill>
                <a:ea typeface="ＭＳ Ｐゴシック" charset="0"/>
              </a:rPr>
              <a:t>cả</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bit </a:t>
            </a:r>
            <a:r>
              <a:rPr lang="en-US" kern="0" dirty="0" err="1">
                <a:solidFill>
                  <a:srgbClr val="000000"/>
                </a:solidFill>
                <a:ea typeface="ＭＳ Ｐゴシック" charset="0"/>
              </a:rPr>
              <a:t>đều</a:t>
            </a:r>
            <a:r>
              <a:rPr lang="en-US" kern="0" dirty="0">
                <a:solidFill>
                  <a:srgbClr val="000000"/>
                </a:solidFill>
                <a:ea typeface="ＭＳ Ｐゴシック" charset="0"/>
              </a:rPr>
              <a:t> </a:t>
            </a:r>
            <a:r>
              <a:rPr lang="en-US" kern="0" dirty="0" err="1">
                <a:solidFill>
                  <a:srgbClr val="000000"/>
                </a:solidFill>
                <a:ea typeface="ＭＳ Ｐゴシック" charset="0"/>
              </a:rPr>
              <a:t>bằng</a:t>
            </a:r>
            <a:r>
              <a:rPr lang="en-US" kern="0" dirty="0">
                <a:solidFill>
                  <a:srgbClr val="000000"/>
                </a:solidFill>
                <a:ea typeface="ＭＳ Ｐゴシック" charset="0"/>
              </a:rPr>
              <a:t> 1 (255.255.255.255/32).</a:t>
            </a:r>
          </a:p>
          <a:p>
            <a:pPr algn="just">
              <a:spcBef>
                <a:spcPts val="0"/>
              </a:spcBef>
              <a:buClr>
                <a:srgbClr val="708CA1"/>
              </a:buClr>
              <a:buSzTx/>
            </a:pPr>
            <a:r>
              <a:rPr lang="en-US" b="1" kern="0" dirty="0" err="1">
                <a:solidFill>
                  <a:srgbClr val="000000"/>
                </a:solidFill>
                <a:ea typeface="ＭＳ Ｐゴシック" charset="0"/>
              </a:rPr>
              <a:t>Địa</a:t>
            </a:r>
            <a:r>
              <a:rPr lang="en-US" b="1" kern="0" dirty="0">
                <a:solidFill>
                  <a:srgbClr val="000000"/>
                </a:solidFill>
                <a:ea typeface="ＭＳ Ｐゴシック" charset="0"/>
              </a:rPr>
              <a:t> </a:t>
            </a:r>
            <a:r>
              <a:rPr lang="en-US" b="1" kern="0" dirty="0" err="1">
                <a:solidFill>
                  <a:srgbClr val="000000"/>
                </a:solidFill>
                <a:ea typeface="ＭＳ Ｐゴシック" charset="0"/>
              </a:rPr>
              <a:t>chỉ</a:t>
            </a:r>
            <a:r>
              <a:rPr lang="en-US" b="1" kern="0" dirty="0">
                <a:solidFill>
                  <a:srgbClr val="000000"/>
                </a:solidFill>
                <a:ea typeface="ＭＳ Ｐゴシック" charset="0"/>
              </a:rPr>
              <a:t> loopback </a:t>
            </a:r>
            <a:r>
              <a:rPr lang="en-US" kern="0" dirty="0">
                <a:solidFill>
                  <a:srgbClr val="000000"/>
                </a:solidFill>
                <a:ea typeface="ＭＳ Ｐゴシック" charset="0"/>
              </a:rPr>
              <a:t>- </a:t>
            </a:r>
            <a:r>
              <a:rPr lang="en-US" kern="0" dirty="0">
                <a:solidFill>
                  <a:schemeClr val="tx1">
                    <a:lumMod val="50000"/>
                  </a:schemeClr>
                </a:solidFill>
                <a:ea typeface="ＭＳ Ｐゴシック" charset="0"/>
              </a:rPr>
              <a:t>127.0.0.0/8, </a:t>
            </a:r>
            <a:r>
              <a:rPr lang="en-US" kern="0" dirty="0" err="1">
                <a:solidFill>
                  <a:srgbClr val="000000"/>
                </a:solidFill>
                <a:ea typeface="ＭＳ Ｐゴシック" charset="0"/>
              </a:rPr>
              <a:t>dùng</a:t>
            </a:r>
            <a:r>
              <a:rPr lang="en-US" kern="0" dirty="0">
                <a:solidFill>
                  <a:srgbClr val="000000"/>
                </a:solidFill>
                <a:ea typeface="ＭＳ Ｐゴシック" charset="0"/>
              </a:rPr>
              <a:t> </a:t>
            </a:r>
            <a:r>
              <a:rPr lang="en-US" kern="0" dirty="0" err="1">
                <a:solidFill>
                  <a:srgbClr val="000000"/>
                </a:solidFill>
                <a:ea typeface="ＭＳ Ｐゴシック" charset="0"/>
              </a:rPr>
              <a:t>để</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a:t>
            </a:r>
            <a:r>
              <a:rPr lang="en-US" kern="0" dirty="0" err="1">
                <a:solidFill>
                  <a:srgbClr val="000000"/>
                </a:solidFill>
                <a:ea typeface="ＭＳ Ｐゴシック" charset="0"/>
              </a:rPr>
              <a:t>thiết</a:t>
            </a:r>
            <a:r>
              <a:rPr lang="en-US" kern="0" dirty="0">
                <a:solidFill>
                  <a:srgbClr val="000000"/>
                </a:solidFill>
                <a:ea typeface="ＭＳ Ｐゴシック" charset="0"/>
              </a:rPr>
              <a:t> </a:t>
            </a:r>
            <a:r>
              <a:rPr lang="en-US" kern="0" dirty="0" err="1">
                <a:solidFill>
                  <a:srgbClr val="000000"/>
                </a:solidFill>
                <a:ea typeface="ＭＳ Ｐゴシック" charset="0"/>
              </a:rPr>
              <a:t>bị</a:t>
            </a:r>
            <a:r>
              <a:rPr lang="en-US" kern="0" dirty="0">
                <a:solidFill>
                  <a:srgbClr val="000000"/>
                </a:solidFill>
                <a:ea typeface="ＭＳ Ｐゴシック" charset="0"/>
              </a:rPr>
              <a:t> </a:t>
            </a:r>
            <a:r>
              <a:rPr lang="en-US" kern="0" dirty="0" err="1">
                <a:solidFill>
                  <a:srgbClr val="000000"/>
                </a:solidFill>
                <a:ea typeface="ＭＳ Ｐゴシック" charset="0"/>
              </a:rPr>
              <a:t>đầu</a:t>
            </a:r>
            <a:r>
              <a:rPr lang="en-US" kern="0" dirty="0">
                <a:solidFill>
                  <a:srgbClr val="000000"/>
                </a:solidFill>
                <a:ea typeface="ＭＳ Ｐゴシック" charset="0"/>
              </a:rPr>
              <a:t> </a:t>
            </a:r>
            <a:r>
              <a:rPr lang="en-US" kern="0" dirty="0" err="1">
                <a:solidFill>
                  <a:srgbClr val="000000"/>
                </a:solidFill>
                <a:ea typeface="ＭＳ Ｐゴシック" charset="0"/>
              </a:rPr>
              <a:t>cuối</a:t>
            </a:r>
            <a:r>
              <a:rPr lang="en-US" kern="0" dirty="0">
                <a:solidFill>
                  <a:srgbClr val="000000"/>
                </a:solidFill>
                <a:ea typeface="ＭＳ Ｐゴシック" charset="0"/>
              </a:rPr>
              <a:t> </a:t>
            </a:r>
            <a:r>
              <a:rPr lang="en-US" kern="0" dirty="0" err="1">
                <a:solidFill>
                  <a:srgbClr val="000000"/>
                </a:solidFill>
                <a:ea typeface="ＭＳ Ｐゴシック" charset="0"/>
              </a:rPr>
              <a:t>của</a:t>
            </a:r>
            <a:r>
              <a:rPr lang="en-US" kern="0" dirty="0">
                <a:solidFill>
                  <a:srgbClr val="000000"/>
                </a:solidFill>
                <a:ea typeface="ＭＳ Ｐゴシック" charset="0"/>
              </a:rPr>
              <a:t> </a:t>
            </a:r>
            <a:r>
              <a:rPr lang="en-US" kern="0" dirty="0" err="1">
                <a:solidFill>
                  <a:srgbClr val="000000"/>
                </a:solidFill>
                <a:ea typeface="ＭＳ Ｐゴシック" charset="0"/>
              </a:rPr>
              <a:t>người</a:t>
            </a:r>
            <a:r>
              <a:rPr lang="en-US" kern="0" dirty="0">
                <a:solidFill>
                  <a:srgbClr val="000000"/>
                </a:solidFill>
                <a:ea typeface="ＭＳ Ｐゴシック" charset="0"/>
              </a:rPr>
              <a:t> </a:t>
            </a:r>
            <a:r>
              <a:rPr lang="en-US" kern="0" dirty="0" err="1">
                <a:solidFill>
                  <a:srgbClr val="000000"/>
                </a:solidFill>
                <a:ea typeface="ＭＳ Ｐゴシック" charset="0"/>
              </a:rPr>
              <a:t>dùng</a:t>
            </a:r>
            <a:r>
              <a:rPr lang="en-US" kern="0" dirty="0">
                <a:solidFill>
                  <a:srgbClr val="000000"/>
                </a:solidFill>
                <a:ea typeface="ＭＳ Ｐゴシック" charset="0"/>
              </a:rPr>
              <a:t> </a:t>
            </a:r>
            <a:r>
              <a:rPr lang="en-US" kern="0" dirty="0" err="1">
                <a:solidFill>
                  <a:srgbClr val="000000"/>
                </a:solidFill>
                <a:ea typeface="ＭＳ Ｐゴシック" charset="0"/>
              </a:rPr>
              <a:t>tự</a:t>
            </a:r>
            <a:r>
              <a:rPr lang="en-US" kern="0" dirty="0">
                <a:solidFill>
                  <a:srgbClr val="000000"/>
                </a:solidFill>
                <a:ea typeface="ＭＳ Ｐゴシック" charset="0"/>
              </a:rPr>
              <a:t> </a:t>
            </a:r>
            <a:r>
              <a:rPr lang="en-US" kern="0" dirty="0" err="1">
                <a:solidFill>
                  <a:srgbClr val="000000"/>
                </a:solidFill>
                <a:ea typeface="ＭＳ Ｐゴシック" charset="0"/>
              </a:rPr>
              <a:t>gởi</a:t>
            </a:r>
            <a:r>
              <a:rPr lang="en-US" kern="0" dirty="0">
                <a:solidFill>
                  <a:srgbClr val="000000"/>
                </a:solidFill>
                <a:ea typeface="ＭＳ Ｐゴシック" charset="0"/>
              </a:rPr>
              <a:t> </a:t>
            </a:r>
            <a:r>
              <a:rPr lang="en-US" kern="0" dirty="0" err="1">
                <a:solidFill>
                  <a:srgbClr val="000000"/>
                </a:solidFill>
                <a:ea typeface="ＭＳ Ｐゴシック" charset="0"/>
              </a:rPr>
              <a:t>thông</a:t>
            </a:r>
            <a:r>
              <a:rPr lang="en-US" kern="0" dirty="0">
                <a:solidFill>
                  <a:srgbClr val="000000"/>
                </a:solidFill>
                <a:ea typeface="ＭＳ Ｐゴシック" charset="0"/>
              </a:rPr>
              <a:t> tin </a:t>
            </a:r>
            <a:r>
              <a:rPr lang="en-US" kern="0" dirty="0" err="1">
                <a:solidFill>
                  <a:srgbClr val="000000"/>
                </a:solidFill>
                <a:ea typeface="ＭＳ Ｐゴシック" charset="0"/>
              </a:rPr>
              <a:t>kiểm</a:t>
            </a:r>
            <a:r>
              <a:rPr lang="en-US" kern="0" dirty="0">
                <a:solidFill>
                  <a:srgbClr val="000000"/>
                </a:solidFill>
                <a:ea typeface="ＭＳ Ｐゴシック" charset="0"/>
              </a:rPr>
              <a:t> </a:t>
            </a:r>
            <a:r>
              <a:rPr lang="en-US" kern="0" dirty="0" err="1">
                <a:solidFill>
                  <a:srgbClr val="000000"/>
                </a:solidFill>
                <a:ea typeface="ＭＳ Ｐゴシック" charset="0"/>
              </a:rPr>
              <a:t>tra</a:t>
            </a:r>
            <a:r>
              <a:rPr lang="en-US" kern="0" dirty="0">
                <a:solidFill>
                  <a:srgbClr val="000000"/>
                </a:solidFill>
                <a:ea typeface="ＭＳ Ｐゴシック" charset="0"/>
              </a:rPr>
              <a:t> </a:t>
            </a:r>
            <a:r>
              <a:rPr lang="en-US" kern="0" dirty="0" err="1">
                <a:solidFill>
                  <a:srgbClr val="000000"/>
                </a:solidFill>
                <a:ea typeface="ＭＳ Ｐゴシック" charset="0"/>
              </a:rPr>
              <a:t>cho</a:t>
            </a:r>
            <a:r>
              <a:rPr lang="en-US" kern="0" dirty="0">
                <a:solidFill>
                  <a:srgbClr val="000000"/>
                </a:solidFill>
                <a:ea typeface="ＭＳ Ｐゴシック" charset="0"/>
              </a:rPr>
              <a:t> </a:t>
            </a:r>
            <a:r>
              <a:rPr lang="en-US" kern="0" dirty="0" err="1">
                <a:solidFill>
                  <a:srgbClr val="000000"/>
                </a:solidFill>
                <a:ea typeface="ＭＳ Ｐゴシック" charset="0"/>
              </a:rPr>
              <a:t>chính</a:t>
            </a:r>
            <a:r>
              <a:rPr lang="en-US" kern="0" dirty="0">
                <a:solidFill>
                  <a:srgbClr val="000000"/>
                </a:solidFill>
                <a:ea typeface="ＭＳ Ｐゴシック" charset="0"/>
              </a:rPr>
              <a:t> </a:t>
            </a:r>
            <a:r>
              <a:rPr lang="en-US" kern="0" dirty="0" err="1">
                <a:solidFill>
                  <a:srgbClr val="000000"/>
                </a:solidFill>
                <a:ea typeface="ＭＳ Ｐゴシック" charset="0"/>
              </a:rPr>
              <a:t>bản</a:t>
            </a:r>
            <a:r>
              <a:rPr lang="en-US" kern="0" dirty="0">
                <a:solidFill>
                  <a:srgbClr val="000000"/>
                </a:solidFill>
                <a:ea typeface="ＭＳ Ｐゴシック" charset="0"/>
              </a:rPr>
              <a:t> </a:t>
            </a:r>
            <a:r>
              <a:rPr lang="en-US" kern="0" dirty="0" err="1">
                <a:solidFill>
                  <a:srgbClr val="000000"/>
                </a:solidFill>
                <a:ea typeface="ＭＳ Ｐゴシック" charset="0"/>
              </a:rPr>
              <a:t>thân</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a:t>
            </a:r>
            <a:r>
              <a:rPr lang="en-US" kern="0" dirty="0" err="1">
                <a:solidFill>
                  <a:srgbClr val="000000"/>
                </a:solidFill>
                <a:ea typeface="ＭＳ Ｐゴシック" charset="0"/>
              </a:rPr>
              <a:t>thiết</a:t>
            </a:r>
            <a:r>
              <a:rPr lang="en-US" kern="0" dirty="0">
                <a:solidFill>
                  <a:srgbClr val="000000"/>
                </a:solidFill>
                <a:ea typeface="ＭＳ Ｐゴシック" charset="0"/>
              </a:rPr>
              <a:t> </a:t>
            </a:r>
            <a:r>
              <a:rPr lang="en-US" kern="0" dirty="0" err="1">
                <a:solidFill>
                  <a:srgbClr val="000000"/>
                </a:solidFill>
                <a:ea typeface="ＭＳ Ｐゴシック" charset="0"/>
              </a:rPr>
              <a:t>bị</a:t>
            </a:r>
            <a:r>
              <a:rPr lang="en-US" kern="0" dirty="0">
                <a:solidFill>
                  <a:srgbClr val="000000"/>
                </a:solidFill>
                <a:ea typeface="ＭＳ Ｐゴシック" charset="0"/>
              </a:rPr>
              <a:t> </a:t>
            </a:r>
            <a:r>
              <a:rPr lang="en-US" kern="0" dirty="0" err="1">
                <a:solidFill>
                  <a:srgbClr val="000000"/>
                </a:solidFill>
                <a:ea typeface="ＭＳ Ｐゴシック" charset="0"/>
              </a:rPr>
              <a:t>đó</a:t>
            </a:r>
            <a:r>
              <a:rPr lang="en-US" kern="0" dirty="0">
                <a:solidFill>
                  <a:srgbClr val="000000"/>
                </a:solidFill>
                <a:ea typeface="ＭＳ Ｐゴシック" charset="0"/>
              </a:rPr>
              <a:t>.</a:t>
            </a:r>
          </a:p>
          <a:p>
            <a:pPr algn="just">
              <a:spcBef>
                <a:spcPts val="0"/>
              </a:spcBef>
              <a:buClr>
                <a:srgbClr val="708CA1"/>
              </a:buClr>
              <a:buSzTx/>
            </a:pPr>
            <a:r>
              <a:rPr lang="en-US" b="1" kern="0" dirty="0" err="1">
                <a:solidFill>
                  <a:srgbClr val="000000"/>
                </a:solidFill>
                <a:ea typeface="ＭＳ Ｐゴシック" charset="0"/>
              </a:rPr>
              <a:t>Địa</a:t>
            </a:r>
            <a:r>
              <a:rPr lang="en-US" b="1" kern="0" dirty="0">
                <a:solidFill>
                  <a:srgbClr val="000000"/>
                </a:solidFill>
                <a:ea typeface="ＭＳ Ｐゴシック" charset="0"/>
              </a:rPr>
              <a:t> </a:t>
            </a:r>
            <a:r>
              <a:rPr lang="en-US" b="1" kern="0" dirty="0" err="1">
                <a:solidFill>
                  <a:srgbClr val="000000"/>
                </a:solidFill>
                <a:ea typeface="ＭＳ Ｐゴシック" charset="0"/>
              </a:rPr>
              <a:t>chỉ</a:t>
            </a:r>
            <a:r>
              <a:rPr lang="en-US" b="1" kern="0" dirty="0">
                <a:solidFill>
                  <a:srgbClr val="000000"/>
                </a:solidFill>
                <a:ea typeface="ＭＳ Ｐゴシック" charset="0"/>
              </a:rPr>
              <a:t> </a:t>
            </a:r>
            <a:r>
              <a:rPr lang="en-US" b="1" kern="0" dirty="0" err="1">
                <a:solidFill>
                  <a:srgbClr val="000000"/>
                </a:solidFill>
                <a:ea typeface="ＭＳ Ｐゴシック" charset="0"/>
              </a:rPr>
              <a:t>liên</a:t>
            </a:r>
            <a:r>
              <a:rPr lang="en-US" b="1" kern="0" dirty="0">
                <a:solidFill>
                  <a:srgbClr val="000000"/>
                </a:solidFill>
                <a:ea typeface="ＭＳ Ｐゴシック" charset="0"/>
              </a:rPr>
              <a:t> </a:t>
            </a:r>
            <a:r>
              <a:rPr lang="en-US" b="1" kern="0" dirty="0" err="1">
                <a:solidFill>
                  <a:srgbClr val="000000"/>
                </a:solidFill>
                <a:ea typeface="ＭＳ Ｐゴシック" charset="0"/>
              </a:rPr>
              <a:t>kết</a:t>
            </a:r>
            <a:r>
              <a:rPr lang="en-US" b="1" kern="0" dirty="0">
                <a:solidFill>
                  <a:srgbClr val="000000"/>
                </a:solidFill>
                <a:ea typeface="ＭＳ Ｐゴシック" charset="0"/>
              </a:rPr>
              <a:t> </a:t>
            </a:r>
            <a:r>
              <a:rPr lang="en-US" b="1" kern="0" dirty="0" err="1">
                <a:solidFill>
                  <a:srgbClr val="000000"/>
                </a:solidFill>
                <a:ea typeface="ＭＳ Ｐゴシック" charset="0"/>
              </a:rPr>
              <a:t>nội</a:t>
            </a:r>
            <a:r>
              <a:rPr lang="en-US" b="1" kern="0" dirty="0">
                <a:solidFill>
                  <a:srgbClr val="000000"/>
                </a:solidFill>
                <a:ea typeface="ＭＳ Ｐゴシック" charset="0"/>
              </a:rPr>
              <a:t> </a:t>
            </a:r>
            <a:r>
              <a:rPr lang="en-US" b="1" kern="0" dirty="0" err="1">
                <a:solidFill>
                  <a:srgbClr val="000000"/>
                </a:solidFill>
                <a:ea typeface="ＭＳ Ｐゴシック" charset="0"/>
              </a:rPr>
              <a:t>bộ</a:t>
            </a:r>
            <a:r>
              <a:rPr lang="en-US" kern="0" dirty="0">
                <a:solidFill>
                  <a:srgbClr val="000000"/>
                </a:solidFill>
                <a:ea typeface="ＭＳ Ｐゴシック" charset="0"/>
              </a:rPr>
              <a:t>: 169.254.0.0/16</a:t>
            </a:r>
          </a:p>
          <a:p>
            <a:pPr algn="just">
              <a:spcBef>
                <a:spcPts val="0"/>
              </a:spcBef>
              <a:buClr>
                <a:srgbClr val="708CA1"/>
              </a:buClr>
              <a:buSzTx/>
            </a:pPr>
            <a:r>
              <a:rPr lang="en-US" b="1" kern="0" dirty="0" err="1">
                <a:solidFill>
                  <a:srgbClr val="000000"/>
                </a:solidFill>
                <a:ea typeface="ＭＳ Ｐゴシック" charset="0"/>
              </a:rPr>
              <a:t>Địa</a:t>
            </a:r>
            <a:r>
              <a:rPr lang="en-US" b="1" kern="0" dirty="0">
                <a:solidFill>
                  <a:srgbClr val="000000"/>
                </a:solidFill>
                <a:ea typeface="ＭＳ Ｐゴシック" charset="0"/>
              </a:rPr>
              <a:t> </a:t>
            </a:r>
            <a:r>
              <a:rPr lang="en-US" b="1" kern="0" dirty="0" err="1">
                <a:solidFill>
                  <a:srgbClr val="000000"/>
                </a:solidFill>
                <a:ea typeface="ＭＳ Ｐゴシック" charset="0"/>
              </a:rPr>
              <a:t>chỉ</a:t>
            </a:r>
            <a:r>
              <a:rPr lang="en-US" b="1" kern="0" dirty="0">
                <a:solidFill>
                  <a:srgbClr val="000000"/>
                </a:solidFill>
                <a:ea typeface="ＭＳ Ｐゴシック" charset="0"/>
              </a:rPr>
              <a:t> TEST-NET</a:t>
            </a:r>
            <a:r>
              <a:rPr lang="en-US" kern="0" dirty="0">
                <a:solidFill>
                  <a:srgbClr val="000000"/>
                </a:solidFill>
                <a:ea typeface="ＭＳ Ｐゴシック" charset="0"/>
              </a:rPr>
              <a:t>: 192.0.2.0/24, 198.51.100.0/24, 203.0.113.0/24</a:t>
            </a:r>
          </a:p>
          <a:p>
            <a:pPr algn="just">
              <a:spcBef>
                <a:spcPts val="0"/>
              </a:spcBef>
              <a:buClr>
                <a:srgbClr val="708CA1"/>
              </a:buClr>
              <a:buSzTx/>
            </a:pPr>
            <a:r>
              <a:rPr lang="vi-VN" b="1" kern="0" dirty="0">
                <a:solidFill>
                  <a:srgbClr val="000000"/>
                </a:solidFill>
                <a:ea typeface="ＭＳ Ｐゴシック" charset="0"/>
              </a:rPr>
              <a:t>Địa chỉ lớp D </a:t>
            </a:r>
            <a:r>
              <a:rPr lang="vi-VN" kern="0" dirty="0">
                <a:solidFill>
                  <a:srgbClr val="000000"/>
                </a:solidFill>
                <a:ea typeface="ＭＳ Ｐゴシック" charset="0"/>
              </a:rPr>
              <a:t>(224.0.0.0 - 239.255.255.255) được sử dụng cho truyền thông multicast.</a:t>
            </a:r>
          </a:p>
          <a:p>
            <a:pPr algn="just">
              <a:spcBef>
                <a:spcPts val="0"/>
              </a:spcBef>
              <a:buClr>
                <a:srgbClr val="708CA1"/>
              </a:buClr>
              <a:buSzTx/>
            </a:pPr>
            <a:r>
              <a:rPr lang="vi-VN" b="1" kern="0" dirty="0">
                <a:solidFill>
                  <a:srgbClr val="000000"/>
                </a:solidFill>
                <a:ea typeface="ＭＳ Ｐゴシック" charset="0"/>
              </a:rPr>
              <a:t>Địa chỉ lớp E </a:t>
            </a:r>
            <a:r>
              <a:rPr lang="vi-VN" kern="0" dirty="0">
                <a:solidFill>
                  <a:srgbClr val="000000"/>
                </a:solidFill>
                <a:ea typeface="ＭＳ Ｐゴシック" charset="0"/>
              </a:rPr>
              <a:t>(240.0.0.0 - 255.255.255.255) được để dành cho mục đích thử nghiệm.</a:t>
            </a:r>
          </a:p>
          <a:p>
            <a:pPr algn="just">
              <a:spcBef>
                <a:spcPts val="0"/>
              </a:spcBef>
              <a:buClr>
                <a:srgbClr val="708CA1"/>
              </a:buClr>
              <a:buSzTx/>
              <a:buFont typeface="Wingdings" panose="05000000000000000000" pitchFamily="2" charset="2"/>
              <a:buChar char="Ø"/>
            </a:pPr>
            <a:r>
              <a:rPr lang="en-US" kern="0" dirty="0" err="1">
                <a:solidFill>
                  <a:srgbClr val="000000"/>
                </a:solidFill>
                <a:ea typeface="ＭＳ Ｐゴシック" charset="0"/>
              </a:rPr>
              <a:t>Để</a:t>
            </a:r>
            <a:r>
              <a:rPr lang="en-US" kern="0" dirty="0">
                <a:solidFill>
                  <a:srgbClr val="000000"/>
                </a:solidFill>
                <a:ea typeface="ＭＳ Ｐゴシック" charset="0"/>
              </a:rPr>
              <a:t> </a:t>
            </a:r>
            <a:r>
              <a:rPr lang="en-US" kern="0" dirty="0" err="1">
                <a:solidFill>
                  <a:srgbClr val="000000"/>
                </a:solidFill>
                <a:ea typeface="ＭＳ Ｐゴシック" charset="0"/>
              </a:rPr>
              <a:t>nắm</a:t>
            </a:r>
            <a:r>
              <a:rPr lang="en-US" kern="0" dirty="0">
                <a:solidFill>
                  <a:srgbClr val="000000"/>
                </a:solidFill>
                <a:ea typeface="ＭＳ Ｐゴシック" charset="0"/>
              </a:rPr>
              <a:t> </a:t>
            </a:r>
            <a:r>
              <a:rPr lang="en-US" kern="0" dirty="0" err="1">
                <a:solidFill>
                  <a:srgbClr val="000000"/>
                </a:solidFill>
                <a:ea typeface="ＭＳ Ｐゴシック" charset="0"/>
              </a:rPr>
              <a:t>danh</a:t>
            </a:r>
            <a:r>
              <a:rPr lang="en-US" kern="0" dirty="0">
                <a:solidFill>
                  <a:srgbClr val="000000"/>
                </a:solidFill>
                <a:ea typeface="ＭＳ Ｐゴシック" charset="0"/>
              </a:rPr>
              <a:t> </a:t>
            </a:r>
            <a:r>
              <a:rPr lang="en-US" kern="0" dirty="0" err="1">
                <a:solidFill>
                  <a:srgbClr val="000000"/>
                </a:solidFill>
                <a:ea typeface="ＭＳ Ｐゴシック" charset="0"/>
              </a:rPr>
              <a:t>sách</a:t>
            </a:r>
            <a:r>
              <a:rPr lang="en-US" kern="0" dirty="0">
                <a:solidFill>
                  <a:srgbClr val="000000"/>
                </a:solidFill>
                <a:ea typeface="ＭＳ Ｐゴシック" charset="0"/>
              </a:rPr>
              <a:t> </a:t>
            </a:r>
            <a:r>
              <a:rPr lang="en-US" kern="0" dirty="0" err="1">
                <a:solidFill>
                  <a:srgbClr val="000000"/>
                </a:solidFill>
                <a:ea typeface="ＭＳ Ｐゴシック" charset="0"/>
              </a:rPr>
              <a:t>các</a:t>
            </a:r>
            <a:r>
              <a:rPr lang="en-US" kern="0" dirty="0">
                <a:solidFill>
                  <a:srgbClr val="000000"/>
                </a:solidFill>
                <a:ea typeface="ＭＳ Ｐゴシック" charset="0"/>
              </a:rPr>
              <a:t> </a:t>
            </a:r>
            <a:r>
              <a:rPr lang="en-US" kern="0" dirty="0" err="1">
                <a:solidFill>
                  <a:srgbClr val="000000"/>
                </a:solidFill>
                <a:ea typeface="ＭＳ Ｐゴシック" charset="0"/>
              </a:rPr>
              <a:t>địa</a:t>
            </a:r>
            <a:r>
              <a:rPr lang="en-US" kern="0" dirty="0">
                <a:solidFill>
                  <a:srgbClr val="000000"/>
                </a:solidFill>
                <a:ea typeface="ＭＳ Ｐゴシック" charset="0"/>
              </a:rPr>
              <a:t> </a:t>
            </a:r>
            <a:r>
              <a:rPr lang="en-US" kern="0" dirty="0" err="1">
                <a:solidFill>
                  <a:srgbClr val="000000"/>
                </a:solidFill>
                <a:ea typeface="ＭＳ Ｐゴシック" charset="0"/>
              </a:rPr>
              <a:t>chỉ</a:t>
            </a:r>
            <a:r>
              <a:rPr lang="en-US" kern="0" dirty="0">
                <a:solidFill>
                  <a:srgbClr val="000000"/>
                </a:solidFill>
                <a:ea typeface="ＭＳ Ｐゴシック" charset="0"/>
              </a:rPr>
              <a:t> IPv4 </a:t>
            </a:r>
            <a:r>
              <a:rPr lang="en-US" kern="0" dirty="0" err="1">
                <a:solidFill>
                  <a:srgbClr val="000000"/>
                </a:solidFill>
                <a:ea typeface="ＭＳ Ｐゴシック" charset="0"/>
              </a:rPr>
              <a:t>đặc</a:t>
            </a:r>
            <a:r>
              <a:rPr lang="en-US" kern="0" dirty="0">
                <a:solidFill>
                  <a:srgbClr val="000000"/>
                </a:solidFill>
                <a:ea typeface="ＭＳ Ｐゴシック" charset="0"/>
              </a:rPr>
              <a:t> </a:t>
            </a:r>
            <a:r>
              <a:rPr lang="en-US" kern="0" dirty="0" err="1">
                <a:solidFill>
                  <a:srgbClr val="000000"/>
                </a:solidFill>
                <a:ea typeface="ＭＳ Ｐゴシック" charset="0"/>
              </a:rPr>
              <a:t>biệt</a:t>
            </a:r>
            <a:r>
              <a:rPr lang="en-US" kern="0" dirty="0">
                <a:solidFill>
                  <a:srgbClr val="000000"/>
                </a:solidFill>
                <a:ea typeface="ＭＳ Ｐゴシック" charset="0"/>
              </a:rPr>
              <a:t> </a:t>
            </a:r>
            <a:r>
              <a:rPr lang="en-US" kern="0" dirty="0" err="1">
                <a:solidFill>
                  <a:srgbClr val="000000"/>
                </a:solidFill>
                <a:ea typeface="ＭＳ Ｐゴシック" charset="0"/>
              </a:rPr>
              <a:t>sinh</a:t>
            </a:r>
            <a:r>
              <a:rPr lang="en-US" kern="0" dirty="0">
                <a:solidFill>
                  <a:srgbClr val="000000"/>
                </a:solidFill>
                <a:ea typeface="ＭＳ Ｐゴシック" charset="0"/>
              </a:rPr>
              <a:t> </a:t>
            </a:r>
            <a:r>
              <a:rPr lang="en-US" kern="0" dirty="0" err="1">
                <a:solidFill>
                  <a:srgbClr val="000000"/>
                </a:solidFill>
                <a:ea typeface="ＭＳ Ｐゴシック" charset="0"/>
              </a:rPr>
              <a:t>viên</a:t>
            </a:r>
            <a:r>
              <a:rPr lang="en-US" kern="0" dirty="0">
                <a:solidFill>
                  <a:srgbClr val="000000"/>
                </a:solidFill>
                <a:ea typeface="ＭＳ Ｐゴシック" charset="0"/>
              </a:rPr>
              <a:t> </a:t>
            </a:r>
            <a:r>
              <a:rPr lang="en-US" kern="0" dirty="0" err="1">
                <a:solidFill>
                  <a:srgbClr val="000000"/>
                </a:solidFill>
                <a:ea typeface="ＭＳ Ｐゴシック" charset="0"/>
              </a:rPr>
              <a:t>có</a:t>
            </a:r>
            <a:r>
              <a:rPr lang="en-US" kern="0" dirty="0">
                <a:solidFill>
                  <a:srgbClr val="000000"/>
                </a:solidFill>
                <a:ea typeface="ＭＳ Ｐゴシック" charset="0"/>
              </a:rPr>
              <a:t> </a:t>
            </a:r>
            <a:r>
              <a:rPr lang="en-US" kern="0" dirty="0" err="1">
                <a:solidFill>
                  <a:srgbClr val="000000"/>
                </a:solidFill>
                <a:ea typeface="ＭＳ Ｐゴシック" charset="0"/>
              </a:rPr>
              <a:t>thể</a:t>
            </a:r>
            <a:r>
              <a:rPr lang="en-US" kern="0" dirty="0">
                <a:solidFill>
                  <a:srgbClr val="000000"/>
                </a:solidFill>
                <a:ea typeface="ＭＳ Ｐゴシック" charset="0"/>
              </a:rPr>
              <a:t> </a:t>
            </a:r>
            <a:r>
              <a:rPr lang="en-US" kern="0" dirty="0" err="1">
                <a:solidFill>
                  <a:srgbClr val="000000"/>
                </a:solidFill>
                <a:ea typeface="ＭＳ Ｐゴシック" charset="0"/>
              </a:rPr>
              <a:t>tra</a:t>
            </a:r>
            <a:r>
              <a:rPr lang="en-US" kern="0" dirty="0">
                <a:solidFill>
                  <a:srgbClr val="000000"/>
                </a:solidFill>
                <a:ea typeface="ＭＳ Ｐゴシック" charset="0"/>
              </a:rPr>
              <a:t> </a:t>
            </a:r>
            <a:r>
              <a:rPr lang="en-US" kern="0" dirty="0" err="1">
                <a:solidFill>
                  <a:srgbClr val="000000"/>
                </a:solidFill>
                <a:ea typeface="ＭＳ Ｐゴシック" charset="0"/>
              </a:rPr>
              <a:t>cứu</a:t>
            </a:r>
            <a:r>
              <a:rPr lang="en-US" kern="0" dirty="0">
                <a:solidFill>
                  <a:srgbClr val="000000"/>
                </a:solidFill>
                <a:ea typeface="ＭＳ Ｐゴシック" charset="0"/>
              </a:rPr>
              <a:t> </a:t>
            </a:r>
            <a:r>
              <a:rPr lang="en-US" kern="0" dirty="0" err="1">
                <a:solidFill>
                  <a:srgbClr val="000000"/>
                </a:solidFill>
                <a:ea typeface="ＭＳ Ｐゴシック" charset="0"/>
              </a:rPr>
              <a:t>tài</a:t>
            </a:r>
            <a:r>
              <a:rPr lang="en-US" kern="0" dirty="0">
                <a:solidFill>
                  <a:srgbClr val="000000"/>
                </a:solidFill>
                <a:ea typeface="ＭＳ Ｐゴシック" charset="0"/>
              </a:rPr>
              <a:t> </a:t>
            </a:r>
            <a:r>
              <a:rPr lang="en-US" kern="0" dirty="0" err="1">
                <a:solidFill>
                  <a:srgbClr val="000000"/>
                </a:solidFill>
                <a:ea typeface="ＭＳ Ｐゴシック" charset="0"/>
              </a:rPr>
              <a:t>liệu</a:t>
            </a:r>
            <a:r>
              <a:rPr lang="en-US" kern="0" dirty="0">
                <a:solidFill>
                  <a:srgbClr val="000000"/>
                </a:solidFill>
                <a:ea typeface="ＭＳ Ｐゴシック" charset="0"/>
              </a:rPr>
              <a:t> “</a:t>
            </a:r>
            <a:r>
              <a:rPr lang="en-US" dirty="0">
                <a:solidFill>
                  <a:srgbClr val="0070C0"/>
                </a:solidFill>
              </a:rPr>
              <a:t>IANA IPv4 Special-Purpose Address Registry</a:t>
            </a:r>
            <a:r>
              <a:rPr lang="en-US" kern="0" dirty="0">
                <a:solidFill>
                  <a:srgbClr val="000000"/>
                </a:solidFill>
                <a:ea typeface="ＭＳ Ｐゴシック" charset="0"/>
              </a:rPr>
              <a:t>”.</a:t>
            </a:r>
          </a:p>
          <a:p>
            <a:pPr marL="0" marR="0" lvl="0" indent="0" algn="l" defTabSz="914400" rtl="0" eaLnBrk="1" fontAlgn="auto" latinLnBrk="0" hangingPunct="1">
              <a:lnSpc>
                <a:spcPct val="130000"/>
              </a:lnSpc>
              <a:spcBef>
                <a:spcPts val="0"/>
              </a:spcBef>
              <a:spcAft>
                <a:spcPts val="0"/>
              </a:spcAft>
              <a:buClr>
                <a:srgbClr val="005BBB"/>
              </a:buClr>
              <a:buSzPct val="120000"/>
              <a:buNone/>
              <a:tabLst/>
              <a:defRPr/>
            </a:pPr>
            <a:endParaRPr kumimoji="0" lang="en-US" alt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87126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776048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005BBB"/>
                </a:solidFill>
                <a:latin typeface="Arial" panose="020B0604020202020204"/>
                <a:cs typeface="Helvetica World" panose="020B0500040000020004" pitchFamily="34" charset="0"/>
              </a:rPr>
              <a:t>SỰ THIẾU HỤT KHÔNG GIAN</a:t>
            </a:r>
            <a:r>
              <a:rPr kumimoji="0" lang="en-US" sz="1800" b="1" i="0" u="none" strike="noStrike" kern="1200" cap="none" spc="0" normalizeH="0" noProof="0">
                <a:ln>
                  <a:noFill/>
                </a:ln>
                <a:solidFill>
                  <a:srgbClr val="005BBB"/>
                </a:solidFill>
                <a:effectLst/>
                <a:uLnTx/>
                <a:uFillTx/>
                <a:latin typeface="Arial" panose="020B0604020202020204"/>
                <a:ea typeface="+mj-ea"/>
                <a:cs typeface="Helvetica World" panose="020B0500040000020004" pitchFamily="34" charset="0"/>
              </a:rPr>
              <a:t> ĐỊA CHỈ IP CÔNG CỘNG</a:t>
            </a:r>
            <a:endParaRPr kumimoji="0" lang="en-US" sz="1800" b="1" i="0" u="none" strike="noStrike" kern="1200" cap="none" spc="0" normalizeH="0" baseline="0" noProof="0">
              <a:ln>
                <a:noFill/>
              </a:ln>
              <a:solidFill>
                <a:srgbClr val="005BBB"/>
              </a:solidFill>
              <a:effectLst/>
              <a:uLnTx/>
              <a:uFillTx/>
              <a:latin typeface="Arial" panose="020B0604020202020204"/>
              <a:ea typeface="+mj-ea"/>
              <a:cs typeface="Helvetica World" panose="020B0500040000020004" pitchFamily="34" charset="0"/>
            </a:endParaRPr>
          </a:p>
        </p:txBody>
      </p:sp>
      <p:sp>
        <p:nvSpPr>
          <p:cNvPr id="168" name="Rectangle 3"/>
          <p:cNvSpPr txBox="1">
            <a:spLocks noChangeArrowheads="1"/>
          </p:cNvSpPr>
          <p:nvPr/>
        </p:nvSpPr>
        <p:spPr>
          <a:xfrm>
            <a:off x="100407" y="1444624"/>
            <a:ext cx="11963774" cy="5413376"/>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05BBB"/>
              </a:buClr>
              <a:defRPr/>
            </a:pPr>
            <a:r>
              <a:rPr lang="en-US" altLang="en-US" dirty="0" err="1">
                <a:solidFill>
                  <a:srgbClr val="666666">
                    <a:lumMod val="50000"/>
                  </a:srgbClr>
                </a:solidFill>
                <a:latin typeface="Arial" panose="020B0604020202020204"/>
              </a:rPr>
              <a:t>Ngay</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từ</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những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năm</a:t>
            </a:r>
            <a:r>
              <a:rPr lang="en-US" altLang="en-US" dirty="0">
                <a:solidFill>
                  <a:srgbClr val="666666">
                    <a:lumMod val="50000"/>
                  </a:srgbClr>
                </a:solidFill>
                <a:latin typeface="Arial" panose="020B0604020202020204"/>
              </a:rPr>
              <a:t> 90s </a:t>
            </a:r>
            <a:r>
              <a:rPr lang="en-US" altLang="en-US" dirty="0" err="1">
                <a:solidFill>
                  <a:srgbClr val="666666">
                    <a:lumMod val="50000"/>
                  </a:srgbClr>
                </a:solidFill>
                <a:latin typeface="Arial" panose="020B0604020202020204"/>
              </a:rPr>
              <a:t>thế</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kỷ</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trước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thì</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sự</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gia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tăng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nhanh</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chóng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của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các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thiết</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bị</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các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tổ</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chức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doanh</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nghiệp</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có</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nhu</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cầu</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kết</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nối</a:t>
            </a:r>
            <a:r>
              <a:rPr lang="en-US" altLang="en-US" dirty="0">
                <a:solidFill>
                  <a:srgbClr val="666666">
                    <a:lumMod val="50000"/>
                  </a:srgbClr>
                </a:solidFill>
                <a:latin typeface="Arial" panose="020B0604020202020204"/>
              </a:rPr>
              <a:t> internet </a:t>
            </a:r>
            <a:r>
              <a:rPr lang="en-US" altLang="en-US" dirty="0" err="1">
                <a:solidFill>
                  <a:srgbClr val="666666">
                    <a:lumMod val="50000"/>
                  </a:srgbClr>
                </a:solidFill>
                <a:latin typeface="Arial" panose="020B0604020202020204"/>
              </a:rPr>
              <a:t>đã</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nhanh</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chóng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đưa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đến</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sự</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thiếu</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hụt</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của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không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gian</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địa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chỉ</a:t>
            </a:r>
            <a:r>
              <a:rPr lang="en-US" altLang="en-US" dirty="0">
                <a:solidFill>
                  <a:srgbClr val="666666">
                    <a:lumMod val="50000"/>
                  </a:srgbClr>
                </a:solidFill>
                <a:latin typeface="Arial" panose="020B0604020202020204"/>
              </a:rPr>
              <a:t> IP.</a:t>
            </a:r>
          </a:p>
          <a:p>
            <a:pPr algn="just">
              <a:buClr>
                <a:srgbClr val="005BBB"/>
              </a:buClr>
              <a:defRPr/>
            </a:pPr>
            <a:r>
              <a:rPr lang="en-US" altLang="en-US" noProof="0" dirty="0" err="1">
                <a:solidFill>
                  <a:srgbClr val="666666">
                    <a:lumMod val="50000"/>
                  </a:srgbClr>
                </a:solidFill>
                <a:latin typeface="Arial" panose="020B0604020202020204"/>
              </a:rPr>
              <a:t>Đầu</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năm</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2011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Tổ</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chức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IANA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đã</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không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gian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(/8 block)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cuối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cùng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IPv4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để</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phát</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chính</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thức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cạn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kiệt</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vào</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2011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tại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châu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Á, 2015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tại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Bắc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Mỹ, 2019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tại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châu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Âu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Trung Đông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và</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Trung Á, ….</a:t>
            </a:r>
          </a:p>
          <a:p>
            <a:pPr algn="just">
              <a:buClr>
                <a:srgbClr val="005BBB"/>
              </a:buClr>
              <a:defRPr/>
            </a:pPr>
            <a:r>
              <a:rPr lang="en-US" altLang="en-US" baseline="0" dirty="0" err="1">
                <a:solidFill>
                  <a:srgbClr val="666666">
                    <a:lumMod val="50000"/>
                  </a:srgbClr>
                </a:solidFill>
                <a:latin typeface="Arial" panose="020B0604020202020204"/>
              </a:rPr>
              <a:t>Cộng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đồng</a:t>
            </a:r>
            <a:r>
              <a:rPr lang="en-US" altLang="en-US" dirty="0">
                <a:solidFill>
                  <a:srgbClr val="666666">
                    <a:lumMod val="50000"/>
                  </a:srgbClr>
                </a:solidFill>
                <a:latin typeface="Arial" panose="020B0604020202020204"/>
              </a:rPr>
              <a:t> Internet </a:t>
            </a:r>
            <a:r>
              <a:rPr lang="en-US" altLang="en-US" dirty="0" err="1">
                <a:solidFill>
                  <a:srgbClr val="666666">
                    <a:lumMod val="50000"/>
                  </a:srgbClr>
                </a:solidFill>
                <a:latin typeface="Arial" panose="020B0604020202020204"/>
              </a:rPr>
              <a:t>đã</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cố</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gắng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đưa</a:t>
            </a:r>
            <a:r>
              <a:rPr lang="en-US" altLang="en-US" dirty="0">
                <a:solidFill>
                  <a:srgbClr val="666666">
                    <a:lumMod val="50000"/>
                  </a:srgbClr>
                </a:solidFill>
                <a:latin typeface="Arial" panose="020B0604020202020204"/>
              </a:rPr>
              <a:t> ra </a:t>
            </a:r>
            <a:r>
              <a:rPr lang="en-US" altLang="en-US" dirty="0" err="1">
                <a:solidFill>
                  <a:srgbClr val="666666">
                    <a:lumMod val="50000"/>
                  </a:srgbClr>
                </a:solidFill>
                <a:latin typeface="Arial" panose="020B0604020202020204"/>
              </a:rPr>
              <a:t>những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giải</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pháp</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đối</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phó</a:t>
            </a:r>
            <a:r>
              <a:rPr lang="en-US" altLang="en-US" dirty="0">
                <a:solidFill>
                  <a:srgbClr val="666666">
                    <a:lumMod val="50000"/>
                  </a:srgbClr>
                </a:solidFill>
                <a:latin typeface="Arial" panose="020B0604020202020204"/>
              </a:rPr>
              <a:t>, bao </a:t>
            </a:r>
            <a:r>
              <a:rPr lang="en-US" altLang="en-US" dirty="0" err="1">
                <a:solidFill>
                  <a:srgbClr val="666666">
                    <a:lumMod val="50000"/>
                  </a:srgbClr>
                </a:solidFill>
                <a:latin typeface="Arial" panose="020B0604020202020204"/>
              </a:rPr>
              <a:t>gồm</a:t>
            </a:r>
            <a:r>
              <a:rPr lang="en-US" altLang="en-US" dirty="0">
                <a:solidFill>
                  <a:srgbClr val="666666">
                    <a:lumMod val="50000"/>
                  </a:srgbClr>
                </a:solidFill>
                <a:latin typeface="Arial" panose="020B0604020202020204"/>
              </a:rPr>
              <a:t>:</a:t>
            </a:r>
          </a:p>
          <a:p>
            <a:pPr lvl="1" algn="just">
              <a:buClr>
                <a:srgbClr val="005BBB"/>
              </a:buClr>
              <a:buFont typeface="Courier New" panose="02070309020205020404" pitchFamily="49" charset="0"/>
              <a:buChar char="o"/>
              <a:defRPr/>
            </a:pPr>
            <a:r>
              <a:rPr kumimoji="0" lang="en-US" altLang="en-US"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Phát</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triển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và</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thực</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hiện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chuyển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đổi</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từ</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IPv4 sang IPv6</a:t>
            </a:r>
          </a:p>
          <a:p>
            <a:pPr lvl="1" algn="just">
              <a:buClr>
                <a:srgbClr val="005BBB"/>
              </a:buClr>
              <a:buFont typeface="Courier New" panose="02070309020205020404" pitchFamily="49" charset="0"/>
              <a:buChar char="o"/>
              <a:defRPr/>
            </a:pPr>
            <a:r>
              <a:rPr kumimoji="0" lang="en-US" altLang="en-US"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Cấp</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phát</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các</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mạng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thay</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vì</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phát</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toàn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bộ</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một</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mạng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IP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công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cộng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thông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qua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việc</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sử</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dụng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kỹ</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thuật</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Định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tuyến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liên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miền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không</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phân</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lớp</a:t>
            </a:r>
            <a:r>
              <a:rPr kumimoji="0" lang="en-US" altLang="en-US" b="0" i="0" u="none" strike="noStrike" kern="1200" cap="none" spc="0" normalizeH="0" noProof="0" dirty="0">
                <a:ln>
                  <a:noFill/>
                </a:ln>
                <a:solidFill>
                  <a:srgbClr val="666666">
                    <a:lumMod val="50000"/>
                  </a:srgbClr>
                </a:solidFill>
                <a:effectLst/>
                <a:uLnTx/>
                <a:uFillTx/>
                <a:latin typeface="Arial" panose="020B0604020202020204"/>
                <a:ea typeface="+mn-ea"/>
                <a:cs typeface="+mn-cs"/>
              </a:rPr>
              <a:t> CIDR</a:t>
            </a:r>
          </a:p>
          <a:p>
            <a:pPr lvl="1" algn="just">
              <a:buClr>
                <a:srgbClr val="005BBB"/>
              </a:buClr>
              <a:buFont typeface="Courier New" panose="02070309020205020404" pitchFamily="49" charset="0"/>
              <a:buChar char="o"/>
              <a:defRPr/>
            </a:pPr>
            <a:r>
              <a:rPr lang="en-US" altLang="en-US" baseline="0" dirty="0">
                <a:solidFill>
                  <a:srgbClr val="666666">
                    <a:lumMod val="50000"/>
                  </a:srgbClr>
                </a:solidFill>
                <a:latin typeface="Arial" panose="020B0604020202020204"/>
              </a:rPr>
              <a:t> </a:t>
            </a:r>
            <a:r>
              <a:rPr lang="en-US" altLang="en-US" baseline="0" dirty="0" err="1">
                <a:solidFill>
                  <a:srgbClr val="666666">
                    <a:lumMod val="50000"/>
                  </a:srgbClr>
                </a:solidFill>
                <a:latin typeface="Arial" panose="020B0604020202020204"/>
              </a:rPr>
              <a:t>Sử</a:t>
            </a:r>
            <a:r>
              <a:rPr lang="en-US" altLang="en-US" dirty="0">
                <a:solidFill>
                  <a:srgbClr val="666666">
                    <a:lumMod val="50000"/>
                  </a:srgbClr>
                </a:solidFill>
              </a:rPr>
              <a:t> </a:t>
            </a:r>
            <a:r>
              <a:rPr lang="en-US" altLang="en-US" dirty="0" err="1">
                <a:solidFill>
                  <a:srgbClr val="666666">
                    <a:lumMod val="50000"/>
                  </a:srgbClr>
                </a:solidFill>
              </a:rPr>
              <a:t>dụng</a:t>
            </a:r>
            <a:r>
              <a:rPr lang="en-US" altLang="en-US" dirty="0">
                <a:solidFill>
                  <a:srgbClr val="666666">
                    <a:lumMod val="50000"/>
                  </a:srgbClr>
                </a:solidFill>
              </a:rPr>
              <a:t> </a:t>
            </a:r>
            <a:r>
              <a:rPr lang="en-US" altLang="en-US" dirty="0" err="1">
                <a:solidFill>
                  <a:srgbClr val="666666">
                    <a:lumMod val="50000"/>
                  </a:srgbClr>
                </a:solidFill>
              </a:rPr>
              <a:t>phương</a:t>
            </a:r>
            <a:r>
              <a:rPr lang="en-US" altLang="en-US" dirty="0">
                <a:solidFill>
                  <a:srgbClr val="666666">
                    <a:lumMod val="50000"/>
                  </a:srgbClr>
                </a:solidFill>
              </a:rPr>
              <a:t> </a:t>
            </a:r>
            <a:r>
              <a:rPr lang="en-US" altLang="en-US" dirty="0" err="1">
                <a:solidFill>
                  <a:srgbClr val="666666">
                    <a:lumMod val="50000"/>
                  </a:srgbClr>
                </a:solidFill>
              </a:rPr>
              <a:t>pháp</a:t>
            </a:r>
            <a:r>
              <a:rPr lang="en-US" altLang="en-US" dirty="0">
                <a:solidFill>
                  <a:srgbClr val="666666">
                    <a:lumMod val="50000"/>
                  </a:srgbClr>
                </a:solidFill>
              </a:rPr>
              <a:t> </a:t>
            </a:r>
            <a:r>
              <a:rPr lang="en-US" altLang="en-US" dirty="0" err="1">
                <a:solidFill>
                  <a:srgbClr val="666666">
                    <a:lumMod val="50000"/>
                  </a:srgbClr>
                </a:solidFill>
              </a:rPr>
              <a:t>Biên</a:t>
            </a:r>
            <a:r>
              <a:rPr lang="en-US" altLang="en-US" dirty="0">
                <a:solidFill>
                  <a:srgbClr val="666666">
                    <a:lumMod val="50000"/>
                  </a:srgbClr>
                </a:solidFill>
              </a:rPr>
              <a:t> </a:t>
            </a:r>
            <a:r>
              <a:rPr lang="en-US" altLang="en-US" dirty="0" err="1">
                <a:solidFill>
                  <a:srgbClr val="666666">
                    <a:lumMod val="50000"/>
                  </a:srgbClr>
                </a:solidFill>
              </a:rPr>
              <a:t>dịch</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mạng</a:t>
            </a:r>
            <a:r>
              <a:rPr lang="en-US" altLang="en-US" dirty="0">
                <a:solidFill>
                  <a:srgbClr val="666666">
                    <a:lumMod val="50000"/>
                  </a:srgbClr>
                </a:solidFill>
              </a:rPr>
              <a:t> NAT </a:t>
            </a:r>
            <a:r>
              <a:rPr lang="en-US" altLang="en-US" dirty="0" err="1">
                <a:solidFill>
                  <a:srgbClr val="666666">
                    <a:lumMod val="50000"/>
                  </a:srgbClr>
                </a:solidFill>
              </a:rPr>
              <a:t>cho</a:t>
            </a:r>
            <a:r>
              <a:rPr lang="en-US" altLang="en-US" dirty="0">
                <a:solidFill>
                  <a:srgbClr val="666666">
                    <a:lumMod val="50000"/>
                  </a:srgbClr>
                </a:solidFill>
              </a:rPr>
              <a:t> </a:t>
            </a:r>
            <a:r>
              <a:rPr lang="en-US" altLang="en-US" dirty="0" err="1">
                <a:solidFill>
                  <a:srgbClr val="666666">
                    <a:lumMod val="50000"/>
                  </a:srgbClr>
                </a:solidFill>
              </a:rPr>
              <a:t>phép</a:t>
            </a:r>
            <a:r>
              <a:rPr lang="en-US" altLang="en-US" dirty="0">
                <a:solidFill>
                  <a:srgbClr val="666666">
                    <a:lumMod val="50000"/>
                  </a:srgbClr>
                </a:solidFill>
              </a:rPr>
              <a:t> </a:t>
            </a:r>
            <a:r>
              <a:rPr lang="en-US" altLang="en-US" dirty="0" err="1">
                <a:solidFill>
                  <a:srgbClr val="666666">
                    <a:lumMod val="50000"/>
                  </a:srgbClr>
                </a:solidFill>
              </a:rPr>
              <a:t>sử</a:t>
            </a:r>
            <a:r>
              <a:rPr lang="en-US" altLang="en-US" dirty="0">
                <a:solidFill>
                  <a:srgbClr val="666666">
                    <a:lumMod val="50000"/>
                  </a:srgbClr>
                </a:solidFill>
              </a:rPr>
              <a:t> </a:t>
            </a:r>
            <a:r>
              <a:rPr lang="en-US" altLang="en-US" dirty="0" err="1">
                <a:solidFill>
                  <a:srgbClr val="666666">
                    <a:lumMod val="50000"/>
                  </a:srgbClr>
                </a:solidFill>
              </a:rPr>
              <a:t>dụng</a:t>
            </a:r>
            <a:r>
              <a:rPr lang="en-US" altLang="en-US" dirty="0">
                <a:solidFill>
                  <a:srgbClr val="666666">
                    <a:lumMod val="50000"/>
                  </a:srgbClr>
                </a:solidFill>
              </a:rPr>
              <a:t> </a:t>
            </a:r>
            <a:r>
              <a:rPr lang="en-US" altLang="en-US" dirty="0" err="1">
                <a:solidFill>
                  <a:srgbClr val="666666">
                    <a:lumMod val="50000"/>
                  </a:srgbClr>
                </a:solidFill>
              </a:rPr>
              <a:t>đến</a:t>
            </a:r>
            <a:r>
              <a:rPr lang="en-US" altLang="en-US" dirty="0">
                <a:solidFill>
                  <a:srgbClr val="666666">
                    <a:lumMod val="50000"/>
                  </a:srgbClr>
                </a:solidFill>
              </a:rPr>
              <a:t> </a:t>
            </a:r>
            <a:r>
              <a:rPr lang="en-US" altLang="en-US" dirty="0" err="1">
                <a:solidFill>
                  <a:srgbClr val="666666">
                    <a:lumMod val="50000"/>
                  </a:srgbClr>
                </a:solidFill>
              </a:rPr>
              <a:t>khái</a:t>
            </a:r>
            <a:r>
              <a:rPr lang="en-US" altLang="en-US" dirty="0">
                <a:solidFill>
                  <a:srgbClr val="666666">
                    <a:lumMod val="50000"/>
                  </a:srgbClr>
                </a:solidFill>
              </a:rPr>
              <a:t> </a:t>
            </a:r>
            <a:r>
              <a:rPr lang="en-US" altLang="en-US" dirty="0" err="1">
                <a:solidFill>
                  <a:srgbClr val="666666">
                    <a:lumMod val="50000"/>
                  </a:srgbClr>
                </a:solidFill>
              </a:rPr>
              <a:t>niệm</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IP </a:t>
            </a:r>
            <a:r>
              <a:rPr lang="en-US" altLang="en-US" dirty="0" err="1">
                <a:solidFill>
                  <a:srgbClr val="666666">
                    <a:lumMod val="50000"/>
                  </a:srgbClr>
                </a:solidFill>
              </a:rPr>
              <a:t>riêng</a:t>
            </a:r>
            <a:r>
              <a:rPr lang="en-US" altLang="en-US" dirty="0">
                <a:solidFill>
                  <a:srgbClr val="666666">
                    <a:lumMod val="50000"/>
                  </a:srgbClr>
                </a:solidFill>
              </a:rPr>
              <a:t>.</a:t>
            </a:r>
            <a:endParaRPr kumimoji="0" lang="en-US" altLang="en-US"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68455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776048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latin typeface="Arial" panose="020B0604020202020204"/>
                <a:cs typeface="Helvetica World" panose="020B0500040000020004" pitchFamily="34" charset="0"/>
              </a:rPr>
              <a:t>TÌM HIỂU</a:t>
            </a:r>
            <a:r>
              <a:rPr kumimoji="0" lang="en-US" sz="1800" b="1" i="0" u="none" strike="noStrike" kern="1200" cap="none" spc="0" normalizeH="0" noProof="0">
                <a:ln>
                  <a:noFill/>
                </a:ln>
                <a:solidFill>
                  <a:srgbClr val="005BBB"/>
                </a:solidFill>
                <a:effectLst/>
                <a:uLnTx/>
                <a:uFillTx/>
                <a:latin typeface="Arial" panose="020B0604020202020204"/>
                <a:ea typeface="+mj-ea"/>
                <a:cs typeface="Helvetica World" panose="020B0500040000020004" pitchFamily="34" charset="0"/>
              </a:rPr>
              <a:t> VỀ </a:t>
            </a:r>
            <a:r>
              <a:rPr kumimoji="0" lang="en-US" sz="1800" b="1" i="0" u="none" strike="noStrike" kern="1200" cap="none" spc="0" normalizeH="0" baseline="0" noProof="0">
                <a:ln>
                  <a:noFill/>
                </a:ln>
                <a:solidFill>
                  <a:srgbClr val="005BBB"/>
                </a:solidFill>
                <a:effectLst/>
                <a:uLnTx/>
                <a:uFillTx/>
                <a:latin typeface="Arial" panose="020B0604020202020204"/>
                <a:ea typeface="+mj-ea"/>
                <a:cs typeface="Helvetica World" panose="020B0500040000020004" pitchFamily="34" charset="0"/>
              </a:rPr>
              <a:t>ĐỊA</a:t>
            </a:r>
            <a:r>
              <a:rPr kumimoji="0" lang="en-US" sz="1800" b="1" i="0" u="none" strike="noStrike" kern="1200" cap="none" spc="0" normalizeH="0" noProof="0">
                <a:ln>
                  <a:noFill/>
                </a:ln>
                <a:solidFill>
                  <a:srgbClr val="005BBB"/>
                </a:solidFill>
                <a:effectLst/>
                <a:uLnTx/>
                <a:uFillTx/>
                <a:latin typeface="Arial" panose="020B0604020202020204"/>
                <a:ea typeface="+mj-ea"/>
                <a:cs typeface="Helvetica World" panose="020B0500040000020004" pitchFamily="34" charset="0"/>
              </a:rPr>
              <a:t> CHỈ IP RIÊNG VÀ ĐỊA CHỈ IP CÔNG CỘNG</a:t>
            </a:r>
            <a:endParaRPr kumimoji="0" lang="en-US" sz="1800" b="1" i="0" u="none" strike="noStrike" kern="1200" cap="none" spc="0" normalizeH="0" baseline="0" noProof="0">
              <a:ln>
                <a:noFill/>
              </a:ln>
              <a:solidFill>
                <a:srgbClr val="005BBB"/>
              </a:solidFill>
              <a:effectLst/>
              <a:uLnTx/>
              <a:uFillTx/>
              <a:latin typeface="Arial" panose="020B0604020202020204"/>
              <a:ea typeface="+mj-ea"/>
              <a:cs typeface="Helvetica World" panose="020B0500040000020004" pitchFamily="34" charset="0"/>
            </a:endParaRPr>
          </a:p>
        </p:txBody>
      </p:sp>
      <p:sp>
        <p:nvSpPr>
          <p:cNvPr id="168" name="Rectangle 3"/>
          <p:cNvSpPr txBox="1">
            <a:spLocks noChangeArrowheads="1"/>
          </p:cNvSpPr>
          <p:nvPr/>
        </p:nvSpPr>
        <p:spPr>
          <a:xfrm>
            <a:off x="100407" y="1444624"/>
            <a:ext cx="11963774" cy="5413376"/>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dirty="0" err="1">
                <a:solidFill>
                  <a:srgbClr val="666666">
                    <a:lumMod val="50000"/>
                  </a:srgbClr>
                </a:solidFill>
                <a:latin typeface="Arial" panose="020B0604020202020204"/>
              </a:rPr>
              <a:t>Các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địa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chỉ</a:t>
            </a:r>
            <a:r>
              <a:rPr lang="en-US" altLang="en-US" dirty="0">
                <a:solidFill>
                  <a:srgbClr val="666666">
                    <a:lumMod val="50000"/>
                  </a:srgbClr>
                </a:solidFill>
                <a:latin typeface="Arial" panose="020B0604020202020204"/>
              </a:rPr>
              <a:t> IP </a:t>
            </a:r>
            <a:r>
              <a:rPr lang="en-US" altLang="en-US" dirty="0" err="1">
                <a:solidFill>
                  <a:srgbClr val="666666">
                    <a:lumMod val="50000"/>
                  </a:srgbClr>
                </a:solidFill>
                <a:latin typeface="Arial" panose="020B0604020202020204"/>
              </a:rPr>
              <a:t>riêng</a:t>
            </a:r>
            <a:r>
              <a:rPr lang="en-US" altLang="en-US" dirty="0">
                <a:solidFill>
                  <a:srgbClr val="666666">
                    <a:lumMod val="50000"/>
                  </a:srgbClr>
                </a:solidFill>
                <a:latin typeface="Arial" panose="020B0604020202020204"/>
              </a:rPr>
              <a:t> (private IP addresses) </a:t>
            </a:r>
            <a:r>
              <a:rPr lang="en-US" altLang="en-US" dirty="0" err="1">
                <a:solidFill>
                  <a:srgbClr val="666666">
                    <a:lumMod val="50000"/>
                  </a:srgbClr>
                </a:solidFill>
                <a:latin typeface="Arial" panose="020B0604020202020204"/>
              </a:rPr>
              <a:t>được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sử</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dụng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trong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mạng</a:t>
            </a:r>
            <a:r>
              <a:rPr lang="en-US" altLang="en-US" dirty="0">
                <a:solidFill>
                  <a:srgbClr val="666666">
                    <a:lumMod val="50000"/>
                  </a:srgbClr>
                </a:solidFill>
                <a:latin typeface="Arial" panose="020B0604020202020204"/>
              </a:rPr>
              <a:t> LAN.</a:t>
            </a: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kumimoji="0" lang="en-US" alt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Các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IP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công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cộng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(public IP addresses)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được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sử</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dụng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trên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internet.</a:t>
            </a: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noProof="0" dirty="0" err="1">
                <a:solidFill>
                  <a:srgbClr val="666666">
                    <a:lumMod val="50000"/>
                  </a:srgbClr>
                </a:solidFill>
                <a:latin typeface="Arial" panose="020B0604020202020204"/>
              </a:rPr>
              <a:t>Việc</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sử</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dụng</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địa</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chỉ</a:t>
            </a:r>
            <a:r>
              <a:rPr lang="en-US" altLang="en-US" noProof="0" dirty="0">
                <a:solidFill>
                  <a:srgbClr val="666666">
                    <a:lumMod val="50000"/>
                  </a:srgbClr>
                </a:solidFill>
                <a:latin typeface="Arial" panose="020B0604020202020204"/>
              </a:rPr>
              <a:t> IP </a:t>
            </a:r>
            <a:r>
              <a:rPr lang="en-US" altLang="en-US" noProof="0" dirty="0" err="1">
                <a:solidFill>
                  <a:srgbClr val="666666">
                    <a:lumMod val="50000"/>
                  </a:srgbClr>
                </a:solidFill>
                <a:latin typeface="Arial" panose="020B0604020202020204"/>
              </a:rPr>
              <a:t>riêng</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là</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để</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khắc</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phục</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sự</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thiếu</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hụt</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không</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gian</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địa</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chỉ</a:t>
            </a:r>
            <a:r>
              <a:rPr lang="en-US" altLang="en-US" noProof="0" dirty="0">
                <a:solidFill>
                  <a:srgbClr val="666666">
                    <a:lumMod val="50000"/>
                  </a:srgbClr>
                </a:solidFill>
                <a:latin typeface="Arial" panose="020B0604020202020204"/>
              </a:rPr>
              <a:t> IP </a:t>
            </a:r>
            <a:r>
              <a:rPr lang="en-US" altLang="en-US" noProof="0" dirty="0" err="1">
                <a:solidFill>
                  <a:srgbClr val="666666">
                    <a:lumMod val="50000"/>
                  </a:srgbClr>
                </a:solidFill>
                <a:latin typeface="Arial" panose="020B0604020202020204"/>
              </a:rPr>
              <a:t>công</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cộng</a:t>
            </a:r>
            <a:r>
              <a:rPr lang="en-US" altLang="en-US" noProof="0" dirty="0">
                <a:solidFill>
                  <a:srgbClr val="666666">
                    <a:lumMod val="50000"/>
                  </a:srgbClr>
                </a:solidFill>
                <a:latin typeface="Arial" panose="020B0604020202020204"/>
              </a:rPr>
              <a:t> </a:t>
            </a:r>
            <a:r>
              <a:rPr lang="en-US" altLang="en-US" noProof="0" dirty="0" err="1">
                <a:solidFill>
                  <a:srgbClr val="666666">
                    <a:lumMod val="50000"/>
                  </a:srgbClr>
                </a:solidFill>
                <a:latin typeface="Arial" panose="020B0604020202020204"/>
              </a:rPr>
              <a:t>trong</a:t>
            </a:r>
            <a:r>
              <a:rPr lang="en-US" altLang="en-US" noProof="0" dirty="0">
                <a:solidFill>
                  <a:srgbClr val="666666">
                    <a:lumMod val="50000"/>
                  </a:srgbClr>
                </a:solidFill>
                <a:latin typeface="Arial" panose="020B0604020202020204"/>
              </a:rPr>
              <a:t> IPv4.</a:t>
            </a: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kumimoji="0" lang="en-US" altLang="en-US" sz="1800" b="0" i="0" u="none" strike="noStrike" kern="1200" cap="none" spc="0" normalizeH="0" baseline="0" dirty="0" err="1">
                <a:ln>
                  <a:noFill/>
                </a:ln>
                <a:solidFill>
                  <a:srgbClr val="666666">
                    <a:lumMod val="50000"/>
                  </a:srgbClr>
                </a:solidFill>
                <a:effectLst/>
                <a:uLnTx/>
                <a:uFillTx/>
                <a:latin typeface="Arial" panose="020B0604020202020204"/>
                <a:ea typeface="+mn-ea"/>
                <a:cs typeface="+mn-cs"/>
              </a:rPr>
              <a:t>Dải</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IP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riêng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được</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quy</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định</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trong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1" i="0" u="none" strike="noStrike" kern="1200" cap="none" spc="0" normalizeH="0" dirty="0">
                <a:ln>
                  <a:noFill/>
                </a:ln>
                <a:solidFill>
                  <a:srgbClr val="666666">
                    <a:lumMod val="50000"/>
                  </a:srgbClr>
                </a:solidFill>
                <a:effectLst/>
                <a:uLnTx/>
                <a:uFillTx/>
                <a:latin typeface="Arial" panose="020B0604020202020204"/>
                <a:ea typeface="+mn-ea"/>
                <a:cs typeface="+mn-cs"/>
              </a:rPr>
              <a:t>RFC 1918</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a:t>
            </a: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lang="en-US" altLang="en-US" dirty="0">
              <a:solidFill>
                <a:srgbClr val="666666">
                  <a:lumMod val="50000"/>
                </a:srgbClr>
              </a:solidFill>
              <a:latin typeface="Arial" panose="020B0604020202020204"/>
            </a:endParaRP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endParaRP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lang="en-US" altLang="en-US" dirty="0">
              <a:solidFill>
                <a:srgbClr val="666666">
                  <a:lumMod val="50000"/>
                </a:srgbClr>
              </a:solidFill>
              <a:latin typeface="Arial" panose="020B0604020202020204"/>
            </a:endParaRP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endParaRP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lang="en-US" altLang="en-US" dirty="0" err="1">
                <a:solidFill>
                  <a:srgbClr val="666666">
                    <a:lumMod val="50000"/>
                  </a:srgbClr>
                </a:solidFill>
                <a:latin typeface="Arial" panose="020B0604020202020204"/>
              </a:rPr>
              <a:t>Dải</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địa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chỉ</a:t>
            </a:r>
            <a:r>
              <a:rPr lang="en-US" altLang="en-US" dirty="0">
                <a:solidFill>
                  <a:srgbClr val="666666">
                    <a:lumMod val="50000"/>
                  </a:srgbClr>
                </a:solidFill>
                <a:latin typeface="Arial" panose="020B0604020202020204"/>
              </a:rPr>
              <a:t> IP </a:t>
            </a:r>
            <a:r>
              <a:rPr lang="en-US" altLang="en-US" dirty="0" err="1">
                <a:solidFill>
                  <a:srgbClr val="666666">
                    <a:lumMod val="50000"/>
                  </a:srgbClr>
                </a:solidFill>
                <a:latin typeface="Arial" panose="020B0604020202020204"/>
              </a:rPr>
              <a:t>công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cộng</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các</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địa</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chỉ</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còn</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lại</a:t>
            </a:r>
            <a:r>
              <a:rPr lang="en-US" altLang="en-US" dirty="0">
                <a:solidFill>
                  <a:srgbClr val="666666">
                    <a:lumMod val="50000"/>
                  </a:srgbClr>
                </a:solidFill>
                <a:latin typeface="Arial" panose="020B0604020202020204"/>
              </a:rPr>
              <a:t>.</a:t>
            </a:r>
          </a:p>
          <a:p>
            <a:pPr marL="228600" marR="0" lvl="0" indent="-228600" algn="just"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Việc</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chuyển</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đổi</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qua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lại</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giữa</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IP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riêng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với</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IP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công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cộng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được</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thực</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hiên</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dựa</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trên</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phương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pháp</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Biên</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dịch</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mạng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NAT – (Network Address Translation). NAT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sẽ</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được</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trình</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bày</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trong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bài</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giảng</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dirty="0" err="1">
                <a:ln>
                  <a:noFill/>
                </a:ln>
                <a:solidFill>
                  <a:srgbClr val="666666">
                    <a:lumMod val="50000"/>
                  </a:srgbClr>
                </a:solidFill>
                <a:effectLst/>
                <a:uLnTx/>
                <a:uFillTx/>
                <a:latin typeface="Arial" panose="020B0604020202020204"/>
                <a:ea typeface="+mn-ea"/>
                <a:cs typeface="+mn-cs"/>
              </a:rPr>
              <a:t>khác</a:t>
            </a:r>
            <a:r>
              <a:rPr kumimoji="0" lang="en-US" altLang="en-US" sz="1800" b="0" i="0" u="none" strike="noStrike" kern="1200" cap="none" spc="0" normalizeH="0" dirty="0">
                <a:ln>
                  <a:noFill/>
                </a:ln>
                <a:solidFill>
                  <a:srgbClr val="666666">
                    <a:lumMod val="50000"/>
                  </a:srgbClr>
                </a:solidFill>
                <a:effectLst/>
                <a:uLnTx/>
                <a:uFillTx/>
                <a:latin typeface="Arial" panose="020B0604020202020204"/>
                <a:ea typeface="+mn-ea"/>
                <a:cs typeface="+mn-cs"/>
              </a:rPr>
              <a:t>.</a:t>
            </a:r>
          </a:p>
          <a:p>
            <a:pPr marL="0" marR="0" lvl="0" indent="0" algn="l" defTabSz="914400" rtl="0" eaLnBrk="1" fontAlgn="auto" latinLnBrk="0" hangingPunct="1">
              <a:lnSpc>
                <a:spcPct val="130000"/>
              </a:lnSpc>
              <a:spcBef>
                <a:spcPts val="600"/>
              </a:spcBef>
              <a:spcAft>
                <a:spcPts val="0"/>
              </a:spcAft>
              <a:buClr>
                <a:srgbClr val="005BBB"/>
              </a:buClr>
              <a:buSzPct val="120000"/>
              <a:buNone/>
              <a:tabLst/>
              <a:defRPr/>
            </a:pPr>
            <a:endParaRPr kumimoji="0" lang="en-US" alt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360549807"/>
              </p:ext>
            </p:extLst>
          </p:nvPr>
        </p:nvGraphicFramePr>
        <p:xfrm>
          <a:off x="748890" y="3241640"/>
          <a:ext cx="6389329" cy="1483360"/>
        </p:xfrm>
        <a:graphic>
          <a:graphicData uri="http://schemas.openxmlformats.org/drawingml/2006/table">
            <a:tbl>
              <a:tblPr firstRow="1" bandRow="1">
                <a:tableStyleId>{5C22544A-7EE6-4342-B048-85BDC9FD1C3A}</a:tableStyleId>
              </a:tblPr>
              <a:tblGrid>
                <a:gridCol w="1433871">
                  <a:extLst>
                    <a:ext uri="{9D8B030D-6E8A-4147-A177-3AD203B41FA5}">
                      <a16:colId xmlns:a16="http://schemas.microsoft.com/office/drawing/2014/main" val="855187933"/>
                    </a:ext>
                  </a:extLst>
                </a:gridCol>
                <a:gridCol w="4955458">
                  <a:extLst>
                    <a:ext uri="{9D8B030D-6E8A-4147-A177-3AD203B41FA5}">
                      <a16:colId xmlns:a16="http://schemas.microsoft.com/office/drawing/2014/main" val="385913772"/>
                    </a:ext>
                  </a:extLst>
                </a:gridCol>
              </a:tblGrid>
              <a:tr h="370840">
                <a:tc>
                  <a:txBody>
                    <a:bodyPr/>
                    <a:lstStyle/>
                    <a:p>
                      <a:pPr algn="ctr"/>
                      <a:r>
                        <a:rPr lang="en-US" b="1"/>
                        <a:t>LỚP</a:t>
                      </a:r>
                    </a:p>
                  </a:txBody>
                  <a:tcPr/>
                </a:tc>
                <a:tc>
                  <a:txBody>
                    <a:bodyPr/>
                    <a:lstStyle/>
                    <a:p>
                      <a:r>
                        <a:rPr lang="en-US" b="1"/>
                        <a:t>DẢI</a:t>
                      </a:r>
                      <a:r>
                        <a:rPr lang="en-US" b="1" baseline="0"/>
                        <a:t> ĐỊA CHỈ</a:t>
                      </a:r>
                      <a:endParaRPr lang="en-US" b="1"/>
                    </a:p>
                  </a:txBody>
                  <a:tcPr/>
                </a:tc>
                <a:extLst>
                  <a:ext uri="{0D108BD9-81ED-4DB2-BD59-A6C34878D82A}">
                    <a16:rowId xmlns:a16="http://schemas.microsoft.com/office/drawing/2014/main" val="475908773"/>
                  </a:ext>
                </a:extLst>
              </a:tr>
              <a:tr h="370840">
                <a:tc>
                  <a:txBody>
                    <a:bodyPr/>
                    <a:lstStyle/>
                    <a:p>
                      <a:pPr algn="ctr"/>
                      <a:r>
                        <a:rPr lang="en-US" b="1"/>
                        <a:t>A</a:t>
                      </a:r>
                    </a:p>
                  </a:txBody>
                  <a:tcPr/>
                </a:tc>
                <a:tc>
                  <a:txBody>
                    <a:bodyPr/>
                    <a:lstStyle/>
                    <a:p>
                      <a:r>
                        <a:rPr lang="en-US" b="1" dirty="0"/>
                        <a:t>10.0.0.0 </a:t>
                      </a:r>
                      <a:r>
                        <a:rPr lang="en-US" b="1" dirty="0" err="1"/>
                        <a:t>đến</a:t>
                      </a:r>
                      <a:r>
                        <a:rPr lang="en-US" b="1" baseline="0" dirty="0"/>
                        <a:t> 10.255.255.255</a:t>
                      </a:r>
                      <a:endParaRPr lang="en-US" b="1" dirty="0"/>
                    </a:p>
                  </a:txBody>
                  <a:tcPr/>
                </a:tc>
                <a:extLst>
                  <a:ext uri="{0D108BD9-81ED-4DB2-BD59-A6C34878D82A}">
                    <a16:rowId xmlns:a16="http://schemas.microsoft.com/office/drawing/2014/main" val="30339959"/>
                  </a:ext>
                </a:extLst>
              </a:tr>
              <a:tr h="370840">
                <a:tc>
                  <a:txBody>
                    <a:bodyPr/>
                    <a:lstStyle/>
                    <a:p>
                      <a:pPr algn="ctr"/>
                      <a:r>
                        <a:rPr lang="en-US" b="1"/>
                        <a:t>B</a:t>
                      </a:r>
                    </a:p>
                  </a:txBody>
                  <a:tcPr/>
                </a:tc>
                <a:tc>
                  <a:txBody>
                    <a:bodyPr/>
                    <a:lstStyle/>
                    <a:p>
                      <a:r>
                        <a:rPr lang="en-US" b="1" dirty="0"/>
                        <a:t>172.16.0.0 </a:t>
                      </a:r>
                      <a:r>
                        <a:rPr lang="en-US" b="1" dirty="0" err="1"/>
                        <a:t>đến</a:t>
                      </a:r>
                      <a:r>
                        <a:rPr lang="en-US" b="1" baseline="0" dirty="0"/>
                        <a:t> 172.31.255.255</a:t>
                      </a:r>
                      <a:endParaRPr lang="en-US" b="1" dirty="0"/>
                    </a:p>
                  </a:txBody>
                  <a:tcPr/>
                </a:tc>
                <a:extLst>
                  <a:ext uri="{0D108BD9-81ED-4DB2-BD59-A6C34878D82A}">
                    <a16:rowId xmlns:a16="http://schemas.microsoft.com/office/drawing/2014/main" val="2148462336"/>
                  </a:ext>
                </a:extLst>
              </a:tr>
              <a:tr h="370840">
                <a:tc>
                  <a:txBody>
                    <a:bodyPr/>
                    <a:lstStyle/>
                    <a:p>
                      <a:pPr algn="ctr"/>
                      <a:r>
                        <a:rPr lang="en-US" b="1"/>
                        <a:t>C</a:t>
                      </a:r>
                    </a:p>
                  </a:txBody>
                  <a:tcPr/>
                </a:tc>
                <a:tc>
                  <a:txBody>
                    <a:bodyPr/>
                    <a:lstStyle/>
                    <a:p>
                      <a:r>
                        <a:rPr lang="en-US" b="1" dirty="0"/>
                        <a:t>192.168.0.0 </a:t>
                      </a:r>
                      <a:r>
                        <a:rPr lang="en-US" b="1" dirty="0" err="1"/>
                        <a:t>đến</a:t>
                      </a:r>
                      <a:r>
                        <a:rPr lang="en-US" b="1" baseline="0" dirty="0"/>
                        <a:t> 192.168.255.255</a:t>
                      </a:r>
                      <a:endParaRPr lang="en-US" b="1" dirty="0"/>
                    </a:p>
                  </a:txBody>
                  <a:tcPr/>
                </a:tc>
                <a:extLst>
                  <a:ext uri="{0D108BD9-81ED-4DB2-BD59-A6C34878D82A}">
                    <a16:rowId xmlns:a16="http://schemas.microsoft.com/office/drawing/2014/main" val="1244841089"/>
                  </a:ext>
                </a:extLst>
              </a:tr>
            </a:tbl>
          </a:graphicData>
        </a:graphic>
      </p:graphicFrame>
    </p:spTree>
    <p:extLst>
      <p:ext uri="{BB962C8B-B14F-4D97-AF65-F5344CB8AC3E}">
        <p14:creationId xmlns:p14="http://schemas.microsoft.com/office/powerpoint/2010/main" val="490132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7760483"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5BBB"/>
                </a:solidFill>
                <a:cs typeface="Helvetica World" panose="020B0500040000020004" pitchFamily="34" charset="0"/>
              </a:rPr>
              <a:t>VẤN ĐỀ VỀ GÁN ĐỊA CHỈ IP</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168" name="Rectangle 3"/>
          <p:cNvSpPr txBox="1">
            <a:spLocks noChangeArrowheads="1"/>
          </p:cNvSpPr>
          <p:nvPr/>
        </p:nvSpPr>
        <p:spPr>
          <a:xfrm>
            <a:off x="100407" y="1444624"/>
            <a:ext cx="12091593" cy="3137315"/>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5BBB"/>
              </a:buClr>
              <a:defRPr/>
            </a:pPr>
            <a:r>
              <a:rPr lang="en-US" altLang="en-US" dirty="0" err="1">
                <a:solidFill>
                  <a:srgbClr val="666666">
                    <a:lumMod val="50000"/>
                  </a:srgbClr>
                </a:solidFill>
              </a:rPr>
              <a:t>Việc</a:t>
            </a:r>
            <a:r>
              <a:rPr lang="en-US" altLang="en-US" dirty="0">
                <a:solidFill>
                  <a:srgbClr val="666666">
                    <a:lumMod val="50000"/>
                  </a:srgbClr>
                </a:solidFill>
              </a:rPr>
              <a:t> </a:t>
            </a:r>
            <a:r>
              <a:rPr lang="en-US" altLang="en-US" dirty="0" err="1">
                <a:solidFill>
                  <a:srgbClr val="666666">
                    <a:lumMod val="50000"/>
                  </a:srgbClr>
                </a:solidFill>
              </a:rPr>
              <a:t>quản</a:t>
            </a:r>
            <a:r>
              <a:rPr lang="en-US" altLang="en-US" dirty="0">
                <a:solidFill>
                  <a:srgbClr val="666666">
                    <a:lumMod val="50000"/>
                  </a:srgbClr>
                </a:solidFill>
              </a:rPr>
              <a:t> </a:t>
            </a:r>
            <a:r>
              <a:rPr lang="en-US" altLang="en-US" dirty="0" err="1">
                <a:solidFill>
                  <a:srgbClr val="666666">
                    <a:lumMod val="50000"/>
                  </a:srgbClr>
                </a:solidFill>
              </a:rPr>
              <a:t>lý</a:t>
            </a:r>
            <a:r>
              <a:rPr lang="en-US" altLang="en-US" dirty="0">
                <a:solidFill>
                  <a:srgbClr val="666666">
                    <a:lumMod val="50000"/>
                  </a:srgbClr>
                </a:solidFill>
              </a:rPr>
              <a:t> </a:t>
            </a:r>
            <a:r>
              <a:rPr lang="en-US" altLang="en-US" dirty="0" err="1">
                <a:solidFill>
                  <a:srgbClr val="666666">
                    <a:lumMod val="50000"/>
                  </a:srgbClr>
                </a:solidFill>
              </a:rPr>
              <a:t>và</a:t>
            </a:r>
            <a:r>
              <a:rPr lang="en-US" altLang="en-US" dirty="0">
                <a:solidFill>
                  <a:srgbClr val="666666">
                    <a:lumMod val="50000"/>
                  </a:srgbClr>
                </a:solidFill>
              </a:rPr>
              <a:t> </a:t>
            </a:r>
            <a:r>
              <a:rPr lang="en-US" altLang="en-US" dirty="0" err="1">
                <a:solidFill>
                  <a:srgbClr val="666666">
                    <a:lumMod val="50000"/>
                  </a:srgbClr>
                </a:solidFill>
              </a:rPr>
              <a:t>phân</a:t>
            </a:r>
            <a:r>
              <a:rPr lang="en-US" altLang="en-US" dirty="0">
                <a:solidFill>
                  <a:srgbClr val="666666">
                    <a:lumMod val="50000"/>
                  </a:srgbClr>
                </a:solidFill>
              </a:rPr>
              <a:t> </a:t>
            </a:r>
            <a:r>
              <a:rPr lang="en-US" altLang="en-US" dirty="0" err="1">
                <a:solidFill>
                  <a:srgbClr val="666666">
                    <a:lumMod val="50000"/>
                  </a:srgbClr>
                </a:solidFill>
              </a:rPr>
              <a:t>phối</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IP </a:t>
            </a:r>
            <a:r>
              <a:rPr lang="en-US" altLang="en-US" dirty="0" err="1">
                <a:solidFill>
                  <a:srgbClr val="666666">
                    <a:lumMod val="50000"/>
                  </a:srgbClr>
                </a:solidFill>
              </a:rPr>
              <a:t>được</a:t>
            </a:r>
            <a:r>
              <a:rPr lang="en-US" altLang="en-US" dirty="0">
                <a:solidFill>
                  <a:srgbClr val="666666">
                    <a:lumMod val="50000"/>
                  </a:srgbClr>
                </a:solidFill>
              </a:rPr>
              <a:t> </a:t>
            </a:r>
            <a:r>
              <a:rPr lang="en-US" altLang="en-US" dirty="0" err="1">
                <a:solidFill>
                  <a:srgbClr val="666666">
                    <a:lumMod val="50000"/>
                  </a:srgbClr>
                </a:solidFill>
              </a:rPr>
              <a:t>thực</a:t>
            </a:r>
            <a:r>
              <a:rPr lang="en-US" altLang="en-US" dirty="0">
                <a:solidFill>
                  <a:srgbClr val="666666">
                    <a:lumMod val="50000"/>
                  </a:srgbClr>
                </a:solidFill>
              </a:rPr>
              <a:t> </a:t>
            </a:r>
            <a:r>
              <a:rPr lang="en-US" altLang="en-US" dirty="0" err="1">
                <a:solidFill>
                  <a:srgbClr val="666666">
                    <a:lumMod val="50000"/>
                  </a:srgbClr>
                </a:solidFill>
              </a:rPr>
              <a:t>hiên</a:t>
            </a:r>
            <a:r>
              <a:rPr lang="en-US" altLang="en-US" dirty="0">
                <a:solidFill>
                  <a:srgbClr val="666666">
                    <a:lumMod val="50000"/>
                  </a:srgbClr>
                </a:solidFill>
              </a:rPr>
              <a:t> </a:t>
            </a:r>
            <a:r>
              <a:rPr lang="en-US" altLang="en-US" dirty="0" err="1">
                <a:solidFill>
                  <a:srgbClr val="666666">
                    <a:lumMod val="50000"/>
                  </a:srgbClr>
                </a:solidFill>
              </a:rPr>
              <a:t>thông</a:t>
            </a:r>
            <a:r>
              <a:rPr lang="en-US" altLang="en-US" dirty="0">
                <a:solidFill>
                  <a:srgbClr val="666666">
                    <a:lumMod val="50000"/>
                  </a:srgbClr>
                </a:solidFill>
              </a:rPr>
              <a:t> qua </a:t>
            </a:r>
            <a:r>
              <a:rPr lang="en-US" altLang="en-US" dirty="0" err="1">
                <a:solidFill>
                  <a:srgbClr val="666666">
                    <a:lumMod val="50000"/>
                  </a:srgbClr>
                </a:solidFill>
              </a:rPr>
              <a:t>các</a:t>
            </a:r>
            <a:r>
              <a:rPr lang="en-US" altLang="en-US" dirty="0">
                <a:solidFill>
                  <a:srgbClr val="666666">
                    <a:lumMod val="50000"/>
                  </a:srgbClr>
                </a:solidFill>
              </a:rPr>
              <a:t> </a:t>
            </a:r>
            <a:r>
              <a:rPr lang="en-US" altLang="en-US" dirty="0" err="1">
                <a:solidFill>
                  <a:srgbClr val="666666">
                    <a:lumMod val="50000"/>
                  </a:srgbClr>
                </a:solidFill>
              </a:rPr>
              <a:t>tổ</a:t>
            </a:r>
            <a:r>
              <a:rPr lang="en-US" altLang="en-US" dirty="0">
                <a:solidFill>
                  <a:srgbClr val="666666">
                    <a:lumMod val="50000"/>
                  </a:srgbClr>
                </a:solidFill>
              </a:rPr>
              <a:t> </a:t>
            </a:r>
            <a:r>
              <a:rPr lang="en-US" altLang="en-US" dirty="0" err="1">
                <a:solidFill>
                  <a:srgbClr val="666666">
                    <a:lumMod val="50000"/>
                  </a:srgbClr>
                </a:solidFill>
              </a:rPr>
              <a:t>chức</a:t>
            </a:r>
            <a:r>
              <a:rPr lang="en-US" altLang="en-US" dirty="0">
                <a:solidFill>
                  <a:srgbClr val="666666">
                    <a:lumMod val="50000"/>
                  </a:srgbClr>
                </a:solidFill>
              </a:rPr>
              <a:t> </a:t>
            </a:r>
            <a:r>
              <a:rPr lang="en-US" altLang="en-US" dirty="0" err="1">
                <a:solidFill>
                  <a:srgbClr val="666666">
                    <a:lumMod val="50000"/>
                  </a:srgbClr>
                </a:solidFill>
              </a:rPr>
              <a:t>như</a:t>
            </a:r>
            <a:r>
              <a:rPr lang="en-US" altLang="en-US" dirty="0">
                <a:solidFill>
                  <a:srgbClr val="666666">
                    <a:lumMod val="50000"/>
                  </a:srgbClr>
                </a:solidFill>
              </a:rPr>
              <a:t> </a:t>
            </a:r>
            <a:r>
              <a:rPr lang="en-US" altLang="en-US" dirty="0" err="1">
                <a:solidFill>
                  <a:srgbClr val="666666">
                    <a:lumMod val="50000"/>
                  </a:srgbClr>
                </a:solidFill>
              </a:rPr>
              <a:t>Tổ</a:t>
            </a:r>
            <a:r>
              <a:rPr lang="en-US" altLang="en-US" dirty="0">
                <a:solidFill>
                  <a:srgbClr val="666666">
                    <a:lumMod val="50000"/>
                  </a:srgbClr>
                </a:solidFill>
              </a:rPr>
              <a:t> </a:t>
            </a:r>
            <a:r>
              <a:rPr lang="en-US" altLang="en-US" dirty="0" err="1">
                <a:solidFill>
                  <a:srgbClr val="666666">
                    <a:lumMod val="50000"/>
                  </a:srgbClr>
                </a:solidFill>
              </a:rPr>
              <a:t>chức</a:t>
            </a:r>
            <a:r>
              <a:rPr lang="en-US" altLang="en-US" dirty="0">
                <a:solidFill>
                  <a:srgbClr val="666666">
                    <a:lumMod val="50000"/>
                  </a:srgbClr>
                </a:solidFill>
              </a:rPr>
              <a:t> </a:t>
            </a:r>
            <a:r>
              <a:rPr lang="en-US" altLang="en-US" dirty="0" err="1">
                <a:solidFill>
                  <a:srgbClr val="666666">
                    <a:lumMod val="50000"/>
                  </a:srgbClr>
                </a:solidFill>
              </a:rPr>
              <a:t>quản</a:t>
            </a:r>
            <a:r>
              <a:rPr lang="en-US" altLang="en-US" dirty="0">
                <a:solidFill>
                  <a:srgbClr val="666666">
                    <a:lumMod val="50000"/>
                  </a:srgbClr>
                </a:solidFill>
              </a:rPr>
              <a:t> </a:t>
            </a:r>
            <a:r>
              <a:rPr lang="en-US" altLang="en-US" dirty="0" err="1">
                <a:solidFill>
                  <a:srgbClr val="666666">
                    <a:lumMod val="50000"/>
                  </a:srgbClr>
                </a:solidFill>
              </a:rPr>
              <a:t>lý</a:t>
            </a:r>
            <a:r>
              <a:rPr lang="en-US" altLang="en-US" dirty="0">
                <a:solidFill>
                  <a:srgbClr val="666666">
                    <a:lumMod val="50000"/>
                  </a:srgbClr>
                </a:solidFill>
              </a:rPr>
              <a:t> </a:t>
            </a:r>
            <a:r>
              <a:rPr lang="en-US" altLang="en-US" dirty="0" err="1">
                <a:solidFill>
                  <a:srgbClr val="666666">
                    <a:lumMod val="50000"/>
                  </a:srgbClr>
                </a:solidFill>
              </a:rPr>
              <a:t>tên</a:t>
            </a:r>
            <a:r>
              <a:rPr lang="en-US" altLang="en-US" dirty="0">
                <a:solidFill>
                  <a:srgbClr val="666666">
                    <a:lumMod val="50000"/>
                  </a:srgbClr>
                </a:solidFill>
              </a:rPr>
              <a:t> </a:t>
            </a:r>
            <a:r>
              <a:rPr lang="en-US" altLang="en-US" dirty="0" err="1">
                <a:solidFill>
                  <a:srgbClr val="666666">
                    <a:lumMod val="50000"/>
                  </a:srgbClr>
                </a:solidFill>
              </a:rPr>
              <a:t>miền</a:t>
            </a:r>
            <a:r>
              <a:rPr lang="en-US" altLang="en-US" dirty="0">
                <a:solidFill>
                  <a:srgbClr val="666666">
                    <a:lumMod val="50000"/>
                  </a:srgbClr>
                </a:solidFill>
              </a:rPr>
              <a:t> </a:t>
            </a:r>
            <a:r>
              <a:rPr lang="en-US" altLang="en-US" dirty="0" err="1">
                <a:solidFill>
                  <a:srgbClr val="666666">
                    <a:lumMod val="50000"/>
                  </a:srgbClr>
                </a:solidFill>
              </a:rPr>
              <a:t>và</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IP </a:t>
            </a:r>
            <a:r>
              <a:rPr lang="en-US" altLang="en-US" b="1" dirty="0">
                <a:solidFill>
                  <a:srgbClr val="666666">
                    <a:lumMod val="50000"/>
                  </a:srgbClr>
                </a:solidFill>
              </a:rPr>
              <a:t>ICANN</a:t>
            </a:r>
            <a:r>
              <a:rPr lang="en-US" altLang="en-US" dirty="0">
                <a:solidFill>
                  <a:srgbClr val="666666">
                    <a:lumMod val="50000"/>
                  </a:srgbClr>
                </a:solidFill>
              </a:rPr>
              <a:t> - Internet Corporation for Assigned Names and Numbers, </a:t>
            </a:r>
            <a:r>
              <a:rPr lang="en-US" altLang="en-US" dirty="0" err="1">
                <a:solidFill>
                  <a:srgbClr val="666666">
                    <a:lumMod val="50000"/>
                  </a:srgbClr>
                </a:solidFill>
              </a:rPr>
              <a:t>Tổ</a:t>
            </a:r>
            <a:r>
              <a:rPr lang="en-US" altLang="en-US" dirty="0">
                <a:solidFill>
                  <a:srgbClr val="666666">
                    <a:lumMod val="50000"/>
                  </a:srgbClr>
                </a:solidFill>
              </a:rPr>
              <a:t> </a:t>
            </a:r>
            <a:r>
              <a:rPr lang="en-US" altLang="en-US" dirty="0" err="1">
                <a:solidFill>
                  <a:srgbClr val="666666">
                    <a:lumMod val="50000"/>
                  </a:srgbClr>
                </a:solidFill>
              </a:rPr>
              <a:t>chức</a:t>
            </a:r>
            <a:r>
              <a:rPr lang="en-US" altLang="en-US" dirty="0">
                <a:solidFill>
                  <a:srgbClr val="666666">
                    <a:lumMod val="50000"/>
                  </a:srgbClr>
                </a:solidFill>
              </a:rPr>
              <a:t> </a:t>
            </a:r>
            <a:r>
              <a:rPr lang="en-US" altLang="en-US" dirty="0" err="1">
                <a:solidFill>
                  <a:srgbClr val="666666">
                    <a:lumMod val="50000"/>
                  </a:srgbClr>
                </a:solidFill>
              </a:rPr>
              <a:t>cấp</a:t>
            </a:r>
            <a:r>
              <a:rPr lang="en-US" altLang="en-US" dirty="0">
                <a:solidFill>
                  <a:srgbClr val="666666">
                    <a:lumMod val="50000"/>
                  </a:srgbClr>
                </a:solidFill>
              </a:rPr>
              <a:t> </a:t>
            </a:r>
            <a:r>
              <a:rPr lang="en-US" altLang="en-US" dirty="0" err="1">
                <a:solidFill>
                  <a:srgbClr val="666666">
                    <a:lumMod val="50000"/>
                  </a:srgbClr>
                </a:solidFill>
              </a:rPr>
              <a:t>phát</a:t>
            </a:r>
            <a:r>
              <a:rPr lang="en-US" altLang="en-US" dirty="0">
                <a:solidFill>
                  <a:srgbClr val="666666">
                    <a:lumMod val="50000"/>
                  </a:srgbClr>
                </a:solidFill>
              </a:rPr>
              <a:t> </a:t>
            </a:r>
            <a:r>
              <a:rPr lang="en-US" altLang="en-US" dirty="0" err="1">
                <a:solidFill>
                  <a:srgbClr val="666666">
                    <a:lumMod val="50000"/>
                  </a:srgbClr>
                </a:solidFill>
              </a:rPr>
              <a:t>không</a:t>
            </a:r>
            <a:r>
              <a:rPr lang="en-US" altLang="en-US" dirty="0">
                <a:solidFill>
                  <a:srgbClr val="666666">
                    <a:lumMod val="50000"/>
                  </a:srgbClr>
                </a:solidFill>
              </a:rPr>
              <a:t> </a:t>
            </a:r>
            <a:r>
              <a:rPr lang="en-US" altLang="en-US" dirty="0" err="1">
                <a:solidFill>
                  <a:srgbClr val="666666">
                    <a:lumMod val="50000"/>
                  </a:srgbClr>
                </a:solidFill>
              </a:rPr>
              <a:t>gian</a:t>
            </a:r>
            <a:r>
              <a:rPr lang="en-US" altLang="en-US" dirty="0">
                <a:solidFill>
                  <a:srgbClr val="666666">
                    <a:lumMod val="50000"/>
                  </a:srgbClr>
                </a:solidFill>
              </a:rPr>
              <a:t> </a:t>
            </a:r>
            <a:r>
              <a:rPr lang="en-US" altLang="en-US" dirty="0" err="1">
                <a:solidFill>
                  <a:srgbClr val="666666">
                    <a:lumMod val="50000"/>
                  </a:srgbClr>
                </a:solidFill>
              </a:rPr>
              <a:t>địa</a:t>
            </a:r>
            <a:r>
              <a:rPr lang="en-US" altLang="en-US" dirty="0">
                <a:solidFill>
                  <a:srgbClr val="666666">
                    <a:lumMod val="50000"/>
                  </a:srgbClr>
                </a:solidFill>
              </a:rPr>
              <a:t> </a:t>
            </a:r>
            <a:r>
              <a:rPr lang="en-US" altLang="en-US" dirty="0" err="1">
                <a:solidFill>
                  <a:srgbClr val="666666">
                    <a:lumMod val="50000"/>
                  </a:srgbClr>
                </a:solidFill>
              </a:rPr>
              <a:t>chỉ</a:t>
            </a:r>
            <a:r>
              <a:rPr lang="en-US" altLang="en-US" dirty="0">
                <a:solidFill>
                  <a:srgbClr val="666666">
                    <a:lumMod val="50000"/>
                  </a:srgbClr>
                </a:solidFill>
              </a:rPr>
              <a:t> Internet </a:t>
            </a:r>
            <a:r>
              <a:rPr lang="en-US" altLang="en-US" b="1" dirty="0">
                <a:solidFill>
                  <a:srgbClr val="666666">
                    <a:lumMod val="50000"/>
                  </a:srgbClr>
                </a:solidFill>
              </a:rPr>
              <a:t>IANA</a:t>
            </a:r>
            <a:r>
              <a:rPr lang="en-US" altLang="en-US" dirty="0">
                <a:solidFill>
                  <a:srgbClr val="666666">
                    <a:lumMod val="50000"/>
                  </a:srgbClr>
                </a:solidFill>
              </a:rPr>
              <a:t> - Internet Assigned Numbers Authority.</a:t>
            </a:r>
          </a:p>
          <a:p>
            <a:pPr lvl="0">
              <a:buClr>
                <a:srgbClr val="005BBB"/>
              </a:buClr>
              <a:defRPr/>
            </a:pPr>
            <a:r>
              <a:rPr kumimoji="0" lang="en-US" alt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Doanh</a:t>
            </a:r>
            <a:r>
              <a:rPr kumimoji="0" lang="en-US" alt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nghiệp</a:t>
            </a:r>
            <a:r>
              <a:rPr kumimoji="0" lang="en-US" alt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tổ</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chức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cá</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nhân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có</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nhu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cầu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xin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IP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sẽ</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phải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thông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qua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các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nhà</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cung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dịch</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vụ</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internet ISPs – Internet Service Providers</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Các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ISPs ban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đầu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được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các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tổ</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chức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quản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lý</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phát</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không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gian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tương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đối</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lớn</a:t>
            </a:r>
            <a:r>
              <a:rPr lang="en-US" altLang="en-US" dirty="0">
                <a:solidFill>
                  <a:srgbClr val="666666">
                    <a:lumMod val="50000"/>
                  </a:srgbClr>
                </a:solidFill>
                <a:latin typeface="Arial" panose="020B0604020202020204"/>
              </a:rPr>
              <a:t>. ISPs </a:t>
            </a:r>
            <a:r>
              <a:rPr lang="en-US" altLang="en-US" dirty="0" err="1">
                <a:solidFill>
                  <a:srgbClr val="666666">
                    <a:lumMod val="50000"/>
                  </a:srgbClr>
                </a:solidFill>
                <a:latin typeface="Arial" panose="020B0604020202020204"/>
              </a:rPr>
              <a:t>sau</a:t>
            </a:r>
            <a:r>
              <a:rPr lang="en-US" altLang="en-US" dirty="0">
                <a:solidFill>
                  <a:srgbClr val="666666">
                    <a:lumMod val="50000"/>
                  </a:srgbClr>
                </a:solidFill>
                <a:latin typeface="Arial" panose="020B0604020202020204"/>
              </a:rPr>
              <a:t> </a:t>
            </a:r>
            <a:r>
              <a:rPr lang="en-US" altLang="en-US" dirty="0" err="1">
                <a:solidFill>
                  <a:srgbClr val="666666">
                    <a:lumMod val="50000"/>
                  </a:srgbClr>
                </a:solidFill>
                <a:latin typeface="Arial" panose="020B0604020202020204"/>
              </a:rPr>
              <a:t>đó</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sẽ</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tiếp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tục</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phân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chia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và</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cấp</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phát</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không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gian</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chỉ</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cho</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những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khách</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hàng</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của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mình</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dựa</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theo</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nhu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alt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cầu</a:t>
            </a:r>
            <a:r>
              <a:rPr kumimoji="0" lang="en-US" alt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a:t>
            </a:r>
          </a:p>
        </p:txBody>
      </p:sp>
    </p:spTree>
    <p:extLst>
      <p:ext uri="{BB962C8B-B14F-4D97-AF65-F5344CB8AC3E}">
        <p14:creationId xmlns:p14="http://schemas.microsoft.com/office/powerpoint/2010/main" val="1144086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6" y="951042"/>
            <a:ext cx="11344341" cy="420506"/>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KỸ THUẬT CIDR &amp; CƠ BẢN VỀ CHIA MẠNG CON</a:t>
            </a:r>
          </a:p>
        </p:txBody>
      </p:sp>
      <p:sp>
        <p:nvSpPr>
          <p:cNvPr id="168" name="Rectangle 3"/>
          <p:cNvSpPr txBox="1">
            <a:spLocks noChangeArrowheads="1"/>
          </p:cNvSpPr>
          <p:nvPr/>
        </p:nvSpPr>
        <p:spPr>
          <a:xfrm>
            <a:off x="149783" y="1371547"/>
            <a:ext cx="5988712" cy="5061683"/>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
                <a:srgbClr val="005BBB"/>
              </a:buClr>
              <a:buSzPct val="120000"/>
              <a:buFont typeface="Arial" panose="020B0604020202020204" pitchFamily="34" charset="0"/>
              <a:buChar char="•"/>
              <a:tabLst/>
              <a:defRPr/>
            </a:pPr>
            <a:endParaRPr kumimoji="0" lang="en-US" altLang="en-US" sz="1800" b="0" i="1" u="none" strike="noStrike" kern="1200" cap="none" spc="0" normalizeH="0" baseline="0" noProof="0">
              <a:ln>
                <a:noFill/>
              </a:ln>
              <a:solidFill>
                <a:srgbClr val="666666">
                  <a:lumMod val="50000"/>
                </a:srgbClr>
              </a:solidFill>
              <a:effectLst/>
              <a:uLnTx/>
              <a:uFillTx/>
              <a:latin typeface="Arial" panose="020B0604020202020204"/>
              <a:ea typeface="+mn-ea"/>
              <a:cs typeface="+mn-cs"/>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560780486"/>
                  </p:ext>
                </p:extLst>
              </p:nvPr>
            </p:nvGraphicFramePr>
            <p:xfrm>
              <a:off x="541481" y="2322143"/>
              <a:ext cx="11194028" cy="4372890"/>
            </p:xfrm>
            <a:graphic>
              <a:graphicData uri="http://schemas.openxmlformats.org/drawingml/2006/table">
                <a:tbl>
                  <a:tblPr firstRow="1" bandRow="1">
                    <a:tableStyleId>{5C22544A-7EE6-4342-B048-85BDC9FD1C3A}</a:tableStyleId>
                  </a:tblPr>
                  <a:tblGrid>
                    <a:gridCol w="2566220">
                      <a:extLst>
                        <a:ext uri="{9D8B030D-6E8A-4147-A177-3AD203B41FA5}">
                          <a16:colId xmlns:a16="http://schemas.microsoft.com/office/drawing/2014/main" val="546700688"/>
                        </a:ext>
                      </a:extLst>
                    </a:gridCol>
                    <a:gridCol w="2462981">
                      <a:extLst>
                        <a:ext uri="{9D8B030D-6E8A-4147-A177-3AD203B41FA5}">
                          <a16:colId xmlns:a16="http://schemas.microsoft.com/office/drawing/2014/main" val="1062714613"/>
                        </a:ext>
                      </a:extLst>
                    </a:gridCol>
                    <a:gridCol w="2979174">
                      <a:extLst>
                        <a:ext uri="{9D8B030D-6E8A-4147-A177-3AD203B41FA5}">
                          <a16:colId xmlns:a16="http://schemas.microsoft.com/office/drawing/2014/main" val="2091287118"/>
                        </a:ext>
                      </a:extLst>
                    </a:gridCol>
                    <a:gridCol w="3185653">
                      <a:extLst>
                        <a:ext uri="{9D8B030D-6E8A-4147-A177-3AD203B41FA5}">
                          <a16:colId xmlns:a16="http://schemas.microsoft.com/office/drawing/2014/main" val="1925177199"/>
                        </a:ext>
                      </a:extLst>
                    </a:gridCol>
                  </a:tblGrid>
                  <a:tr h="515455">
                    <a:tc>
                      <a:txBody>
                        <a:bodyPr/>
                        <a:lstStyle/>
                        <a:p>
                          <a:endParaRPr lang="en-US"/>
                        </a:p>
                      </a:txBody>
                      <a:tcPr/>
                    </a:tc>
                    <a:tc>
                      <a:txBody>
                        <a:bodyPr/>
                        <a:lstStyle/>
                        <a:p>
                          <a:r>
                            <a:rPr lang="en-US"/>
                            <a:t>Lớp</a:t>
                          </a:r>
                          <a:r>
                            <a:rPr lang="en-US" baseline="0"/>
                            <a:t> A</a:t>
                          </a:r>
                          <a:endParaRPr lang="en-US"/>
                        </a:p>
                      </a:txBody>
                      <a:tcPr/>
                    </a:tc>
                    <a:tc>
                      <a:txBody>
                        <a:bodyPr/>
                        <a:lstStyle/>
                        <a:p>
                          <a:pPr algn="ctr"/>
                          <a:r>
                            <a:rPr lang="en-US"/>
                            <a:t>Lớp</a:t>
                          </a:r>
                          <a:r>
                            <a:rPr lang="en-US" baseline="0"/>
                            <a:t> B</a:t>
                          </a:r>
                          <a:endParaRPr lang="en-US"/>
                        </a:p>
                      </a:txBody>
                      <a:tcPr/>
                    </a:tc>
                    <a:tc>
                      <a:txBody>
                        <a:bodyPr/>
                        <a:lstStyle/>
                        <a:p>
                          <a:pPr algn="ctr"/>
                          <a:r>
                            <a:rPr lang="en-US" dirty="0" err="1"/>
                            <a:t>Lớp</a:t>
                          </a:r>
                          <a:r>
                            <a:rPr lang="en-US" baseline="0" dirty="0"/>
                            <a:t> C</a:t>
                          </a:r>
                          <a:endParaRPr lang="en-US" dirty="0"/>
                        </a:p>
                      </a:txBody>
                      <a:tcPr/>
                    </a:tc>
                    <a:extLst>
                      <a:ext uri="{0D108BD9-81ED-4DB2-BD59-A6C34878D82A}">
                        <a16:rowId xmlns:a16="http://schemas.microsoft.com/office/drawing/2014/main" val="3262772974"/>
                      </a:ext>
                    </a:extLst>
                  </a:tr>
                  <a:tr h="515455">
                    <a:tc>
                      <a:txBody>
                        <a:bodyPr/>
                        <a:lstStyle/>
                        <a:p>
                          <a:r>
                            <a:rPr lang="en-US"/>
                            <a:t>Octet đầu</a:t>
                          </a:r>
                        </a:p>
                      </a:txBody>
                      <a:tcPr/>
                    </a:tc>
                    <a:tc>
                      <a:txBody>
                        <a:bodyPr/>
                        <a:lstStyle/>
                        <a:p>
                          <a:pPr algn="ctr"/>
                          <a:r>
                            <a:rPr lang="en-US"/>
                            <a:t>1 – 126</a:t>
                          </a:r>
                        </a:p>
                      </a:txBody>
                      <a:tcPr/>
                    </a:tc>
                    <a:tc>
                      <a:txBody>
                        <a:bodyPr/>
                        <a:lstStyle/>
                        <a:p>
                          <a:pPr algn="ctr"/>
                          <a:r>
                            <a:rPr lang="en-US"/>
                            <a:t>126 – 191</a:t>
                          </a:r>
                        </a:p>
                      </a:txBody>
                      <a:tcPr/>
                    </a:tc>
                    <a:tc>
                      <a:txBody>
                        <a:bodyPr/>
                        <a:lstStyle/>
                        <a:p>
                          <a:pPr algn="ctr"/>
                          <a:r>
                            <a:rPr lang="en-US"/>
                            <a:t>192 – 223</a:t>
                          </a:r>
                        </a:p>
                      </a:txBody>
                      <a:tcPr/>
                    </a:tc>
                    <a:extLst>
                      <a:ext uri="{0D108BD9-81ED-4DB2-BD59-A6C34878D82A}">
                        <a16:rowId xmlns:a16="http://schemas.microsoft.com/office/drawing/2014/main" val="3440269230"/>
                      </a:ext>
                    </a:extLst>
                  </a:tr>
                  <a:tr h="515455">
                    <a:tc>
                      <a:txBody>
                        <a:bodyPr/>
                        <a:lstStyle/>
                        <a:p>
                          <a:r>
                            <a:rPr lang="en-US"/>
                            <a:t>Dải</a:t>
                          </a:r>
                          <a:r>
                            <a:rPr lang="en-US" baseline="0"/>
                            <a:t> địa chỉ mạng </a:t>
                          </a:r>
                          <a:endParaRPr lang="en-US"/>
                        </a:p>
                      </a:txBody>
                      <a:tcPr/>
                    </a:tc>
                    <a:tc>
                      <a:txBody>
                        <a:bodyPr/>
                        <a:lstStyle/>
                        <a:p>
                          <a:pPr algn="ctr"/>
                          <a:r>
                            <a:rPr lang="en-US"/>
                            <a:t>1.0.0.0</a:t>
                          </a:r>
                          <a:r>
                            <a:rPr lang="en-US" baseline="0"/>
                            <a:t> – 126.0.0.0</a:t>
                          </a:r>
                          <a:endParaRPr lang="en-US"/>
                        </a:p>
                      </a:txBody>
                      <a:tcPr/>
                    </a:tc>
                    <a:tc>
                      <a:txBody>
                        <a:bodyPr/>
                        <a:lstStyle/>
                        <a:p>
                          <a:pPr algn="ctr"/>
                          <a:r>
                            <a:rPr lang="en-US"/>
                            <a:t>128.0.0.0</a:t>
                          </a:r>
                          <a:r>
                            <a:rPr lang="en-US" baseline="0"/>
                            <a:t> – 191.255.0.0</a:t>
                          </a:r>
                          <a:endParaRPr lang="en-US"/>
                        </a:p>
                      </a:txBody>
                      <a:tcPr/>
                    </a:tc>
                    <a:tc>
                      <a:txBody>
                        <a:bodyPr/>
                        <a:lstStyle/>
                        <a:p>
                          <a:pPr algn="ctr"/>
                          <a:r>
                            <a:rPr lang="en-US"/>
                            <a:t>192.0.0.0 – 223.255.255.0</a:t>
                          </a:r>
                        </a:p>
                      </a:txBody>
                      <a:tcPr/>
                    </a:tc>
                    <a:extLst>
                      <a:ext uri="{0D108BD9-81ED-4DB2-BD59-A6C34878D82A}">
                        <a16:rowId xmlns:a16="http://schemas.microsoft.com/office/drawing/2014/main" val="4073547898"/>
                      </a:ext>
                    </a:extLst>
                  </a:tr>
                  <a:tr h="515455">
                    <a:tc>
                      <a:txBody>
                        <a:bodyPr/>
                        <a:lstStyle/>
                        <a:p>
                          <a:r>
                            <a:rPr lang="en-US"/>
                            <a:t>Tổng</a:t>
                          </a:r>
                          <a:r>
                            <a:rPr lang="en-US" baseline="0"/>
                            <a:t> số mạng</a:t>
                          </a:r>
                          <a:endParaRPr lang="en-US"/>
                        </a:p>
                      </a:txBody>
                      <a:tcPr/>
                    </a:tc>
                    <a:tc>
                      <a:txBody>
                        <a:bodyPr/>
                        <a:lstStyle/>
                        <a:p>
                          <a:pPr algn="ct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7</m:t>
                                  </m:r>
                                </m:sup>
                              </m:sSup>
                              <m:r>
                                <a:rPr lang="en-US" b="0" i="1" smtClean="0">
                                  <a:latin typeface="Cambria Math" panose="02040503050406030204" pitchFamily="18" charset="0"/>
                                </a:rPr>
                                <m:t>−2=</m:t>
                              </m:r>
                            </m:oMath>
                          </a14:m>
                          <a:r>
                            <a:rPr lang="en-US" dirty="0"/>
                            <a:t> 126</a:t>
                          </a:r>
                        </a:p>
                      </a:txBody>
                      <a:tcPr/>
                    </a:tc>
                    <a:tc>
                      <a:txBody>
                        <a:bodyPr/>
                        <a:lstStyle/>
                        <a:p>
                          <a:pPr algn="ct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14</m:t>
                                  </m:r>
                                </m:sup>
                              </m:sSup>
                            </m:oMath>
                          </a14:m>
                          <a:r>
                            <a:rPr lang="en-US"/>
                            <a:t> = 16384</a:t>
                          </a:r>
                        </a:p>
                      </a:txBody>
                      <a:tcPr/>
                    </a:tc>
                    <a:tc>
                      <a:txBody>
                        <a:bodyPr/>
                        <a:lstStyle/>
                        <a:p>
                          <a:pPr algn="ct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21</m:t>
                                  </m:r>
                                </m:sup>
                              </m:sSup>
                            </m:oMath>
                          </a14:m>
                          <a:r>
                            <a:rPr lang="en-US"/>
                            <a:t> = 2097152</a:t>
                          </a:r>
                        </a:p>
                      </a:txBody>
                      <a:tcPr/>
                    </a:tc>
                    <a:extLst>
                      <a:ext uri="{0D108BD9-81ED-4DB2-BD59-A6C34878D82A}">
                        <a16:rowId xmlns:a16="http://schemas.microsoft.com/office/drawing/2014/main" val="30148904"/>
                      </a:ext>
                    </a:extLst>
                  </a:tr>
                  <a:tr h="515455">
                    <a:tc>
                      <a:txBody>
                        <a:bodyPr/>
                        <a:lstStyle/>
                        <a:p>
                          <a:r>
                            <a:rPr lang="en-US" b="1"/>
                            <a:t>Tổng</a:t>
                          </a:r>
                          <a:r>
                            <a:rPr lang="en-US" b="1" baseline="0"/>
                            <a:t> số host trong một mạng</a:t>
                          </a:r>
                          <a:endParaRPr lang="en-US" b="1"/>
                        </a:p>
                      </a:txBody>
                      <a:tcPr>
                        <a:solidFill>
                          <a:srgbClr val="FFC000"/>
                        </a:solidFill>
                      </a:tcPr>
                    </a:tc>
                    <a:tc>
                      <a:txBody>
                        <a:bodyPr/>
                        <a:lstStyle/>
                        <a:p>
                          <a:pPr algn="ct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𝟐𝟒</m:t>
                                  </m:r>
                                </m:sup>
                              </m:sSup>
                              <m:r>
                                <a:rPr lang="en-US" b="1" i="1" smtClean="0">
                                  <a:latin typeface="Cambria Math" panose="02040503050406030204" pitchFamily="18" charset="0"/>
                                </a:rPr>
                                <m:t>−</m:t>
                              </m:r>
                              <m:r>
                                <a:rPr lang="en-US" b="1" i="1" smtClean="0">
                                  <a:latin typeface="Cambria Math" panose="02040503050406030204" pitchFamily="18" charset="0"/>
                                </a:rPr>
                                <m:t>𝟐</m:t>
                              </m:r>
                            </m:oMath>
                          </a14:m>
                          <a:r>
                            <a:rPr lang="en-US" b="1" dirty="0"/>
                            <a:t> = 16777214</a:t>
                          </a:r>
                        </a:p>
                      </a:txBody>
                      <a:tcPr>
                        <a:solidFill>
                          <a:srgbClr val="FFC000"/>
                        </a:solidFill>
                      </a:tcPr>
                    </a:tc>
                    <a:tc>
                      <a:txBody>
                        <a:bodyPr/>
                        <a:lstStyle/>
                        <a:p>
                          <a:pPr algn="ct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𝟏𝟔</m:t>
                                  </m:r>
                                </m:sup>
                              </m:sSup>
                              <m:r>
                                <a:rPr lang="en-US" b="1" i="1" smtClean="0">
                                  <a:latin typeface="Cambria Math" panose="02040503050406030204" pitchFamily="18" charset="0"/>
                                </a:rPr>
                                <m:t>−</m:t>
                              </m:r>
                              <m:r>
                                <a:rPr lang="en-US" b="1" i="1" smtClean="0">
                                  <a:latin typeface="Cambria Math" panose="02040503050406030204" pitchFamily="18" charset="0"/>
                                </a:rPr>
                                <m:t>𝟐</m:t>
                              </m:r>
                            </m:oMath>
                          </a14:m>
                          <a:r>
                            <a:rPr lang="en-US" b="1" dirty="0"/>
                            <a:t> = 65534</a:t>
                          </a:r>
                        </a:p>
                      </a:txBody>
                      <a:tcPr>
                        <a:solidFill>
                          <a:srgbClr val="FFC000"/>
                        </a:solidFill>
                      </a:tcPr>
                    </a:tc>
                    <a:tc>
                      <a:txBody>
                        <a:bodyPr/>
                        <a:lstStyle/>
                        <a:p>
                          <a:pPr algn="ct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𝟖</m:t>
                                  </m:r>
                                </m:sup>
                              </m:sSup>
                              <m:r>
                                <a:rPr lang="en-US" b="1" i="1" smtClean="0">
                                  <a:latin typeface="Cambria Math" panose="02040503050406030204" pitchFamily="18" charset="0"/>
                                </a:rPr>
                                <m:t>−</m:t>
                              </m:r>
                              <m:r>
                                <a:rPr lang="en-US" b="1" i="1" smtClean="0">
                                  <a:latin typeface="Cambria Math" panose="02040503050406030204" pitchFamily="18" charset="0"/>
                                </a:rPr>
                                <m:t>𝟐</m:t>
                              </m:r>
                            </m:oMath>
                          </a14:m>
                          <a:r>
                            <a:rPr lang="en-US" b="1" dirty="0"/>
                            <a:t> = 254</a:t>
                          </a:r>
                        </a:p>
                      </a:txBody>
                      <a:tcPr>
                        <a:solidFill>
                          <a:srgbClr val="FFC000"/>
                        </a:solidFill>
                      </a:tcPr>
                    </a:tc>
                    <a:extLst>
                      <a:ext uri="{0D108BD9-81ED-4DB2-BD59-A6C34878D82A}">
                        <a16:rowId xmlns:a16="http://schemas.microsoft.com/office/drawing/2014/main" val="3031996299"/>
                      </a:ext>
                    </a:extLst>
                  </a:tr>
                  <a:tr h="515455">
                    <a:tc>
                      <a:txBody>
                        <a:bodyPr/>
                        <a:lstStyle/>
                        <a:p>
                          <a:r>
                            <a:rPr lang="en-US" baseline="0"/>
                            <a:t>Số bit trong phần mạng </a:t>
                          </a:r>
                          <a:endParaRPr lang="en-US"/>
                        </a:p>
                      </a:txBody>
                      <a:tcPr/>
                    </a:tc>
                    <a:tc>
                      <a:txBody>
                        <a:bodyPr/>
                        <a:lstStyle/>
                        <a:p>
                          <a:pPr algn="ctr"/>
                          <a:r>
                            <a:rPr lang="en-US"/>
                            <a:t>8</a:t>
                          </a:r>
                        </a:p>
                      </a:txBody>
                      <a:tcPr/>
                    </a:tc>
                    <a:tc>
                      <a:txBody>
                        <a:bodyPr/>
                        <a:lstStyle/>
                        <a:p>
                          <a:pPr algn="ctr"/>
                          <a:r>
                            <a:rPr lang="en-US"/>
                            <a:t>16</a:t>
                          </a:r>
                        </a:p>
                      </a:txBody>
                      <a:tcPr/>
                    </a:tc>
                    <a:tc>
                      <a:txBody>
                        <a:bodyPr/>
                        <a:lstStyle/>
                        <a:p>
                          <a:pPr algn="ctr"/>
                          <a:r>
                            <a:rPr lang="en-US"/>
                            <a:t>24</a:t>
                          </a:r>
                        </a:p>
                      </a:txBody>
                      <a:tcPr/>
                    </a:tc>
                    <a:extLst>
                      <a:ext uri="{0D108BD9-81ED-4DB2-BD59-A6C34878D82A}">
                        <a16:rowId xmlns:a16="http://schemas.microsoft.com/office/drawing/2014/main" val="2309543338"/>
                      </a:ext>
                    </a:extLst>
                  </a:tr>
                  <a:tr h="515455">
                    <a:tc>
                      <a:txBody>
                        <a:bodyPr/>
                        <a:lstStyle/>
                        <a:p>
                          <a:r>
                            <a:rPr lang="en-US" baseline="0"/>
                            <a:t>Số bit trong phần host</a:t>
                          </a:r>
                          <a:endParaRPr lang="en-US"/>
                        </a:p>
                      </a:txBody>
                      <a:tcPr/>
                    </a:tc>
                    <a:tc>
                      <a:txBody>
                        <a:bodyPr/>
                        <a:lstStyle/>
                        <a:p>
                          <a:pPr algn="ctr"/>
                          <a:r>
                            <a:rPr lang="en-US"/>
                            <a:t>24</a:t>
                          </a:r>
                        </a:p>
                      </a:txBody>
                      <a:tcPr/>
                    </a:tc>
                    <a:tc>
                      <a:txBody>
                        <a:bodyPr/>
                        <a:lstStyle/>
                        <a:p>
                          <a:pPr algn="ctr"/>
                          <a:r>
                            <a:rPr lang="en-US"/>
                            <a:t>16</a:t>
                          </a:r>
                        </a:p>
                      </a:txBody>
                      <a:tcPr/>
                    </a:tc>
                    <a:tc>
                      <a:txBody>
                        <a:bodyPr/>
                        <a:lstStyle/>
                        <a:p>
                          <a:pPr algn="ctr"/>
                          <a:r>
                            <a:rPr lang="en-US"/>
                            <a:t>8</a:t>
                          </a:r>
                        </a:p>
                      </a:txBody>
                      <a:tcPr/>
                    </a:tc>
                    <a:extLst>
                      <a:ext uri="{0D108BD9-81ED-4DB2-BD59-A6C34878D82A}">
                        <a16:rowId xmlns:a16="http://schemas.microsoft.com/office/drawing/2014/main" val="2181296077"/>
                      </a:ext>
                    </a:extLst>
                  </a:tr>
                  <a:tr h="515455">
                    <a:tc>
                      <a:txBody>
                        <a:bodyPr/>
                        <a:lstStyle/>
                        <a:p>
                          <a:r>
                            <a:rPr lang="en-US"/>
                            <a:t>Mặt</a:t>
                          </a:r>
                          <a:r>
                            <a:rPr lang="en-US" baseline="0"/>
                            <a:t> nạ mặc định</a:t>
                          </a:r>
                          <a:endParaRPr lang="en-US"/>
                        </a:p>
                      </a:txBody>
                      <a:tcPr/>
                    </a:tc>
                    <a:tc>
                      <a:txBody>
                        <a:bodyPr/>
                        <a:lstStyle/>
                        <a:p>
                          <a:pPr algn="ctr"/>
                          <a:r>
                            <a:rPr lang="en-US"/>
                            <a:t>255.0.0.0</a:t>
                          </a:r>
                        </a:p>
                        <a:p>
                          <a:pPr algn="ctr"/>
                          <a:r>
                            <a:rPr lang="en-US" b="1"/>
                            <a:t>(/8)</a:t>
                          </a:r>
                        </a:p>
                      </a:txBody>
                      <a:tcPr/>
                    </a:tc>
                    <a:tc>
                      <a:txBody>
                        <a:bodyPr/>
                        <a:lstStyle/>
                        <a:p>
                          <a:pPr algn="ctr"/>
                          <a:r>
                            <a:rPr lang="en-US"/>
                            <a:t>255.255.0.0</a:t>
                          </a:r>
                        </a:p>
                        <a:p>
                          <a:pPr algn="ctr"/>
                          <a:r>
                            <a:rPr lang="en-US" b="1"/>
                            <a:t>(/16)</a:t>
                          </a:r>
                        </a:p>
                      </a:txBody>
                      <a:tcPr/>
                    </a:tc>
                    <a:tc>
                      <a:txBody>
                        <a:bodyPr/>
                        <a:lstStyle/>
                        <a:p>
                          <a:pPr algn="ctr"/>
                          <a:r>
                            <a:rPr lang="en-US" dirty="0"/>
                            <a:t>255.255.255.0</a:t>
                          </a:r>
                        </a:p>
                        <a:p>
                          <a:pPr algn="ctr"/>
                          <a:r>
                            <a:rPr lang="en-US" b="1" dirty="0"/>
                            <a:t>(/24)</a:t>
                          </a:r>
                        </a:p>
                      </a:txBody>
                      <a:tcPr/>
                    </a:tc>
                    <a:extLst>
                      <a:ext uri="{0D108BD9-81ED-4DB2-BD59-A6C34878D82A}">
                        <a16:rowId xmlns:a16="http://schemas.microsoft.com/office/drawing/2014/main" val="27301465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560780486"/>
                  </p:ext>
                </p:extLst>
              </p:nvPr>
            </p:nvGraphicFramePr>
            <p:xfrm>
              <a:off x="541481" y="2322143"/>
              <a:ext cx="11194028" cy="4372890"/>
            </p:xfrm>
            <a:graphic>
              <a:graphicData uri="http://schemas.openxmlformats.org/drawingml/2006/table">
                <a:tbl>
                  <a:tblPr firstRow="1" bandRow="1">
                    <a:tableStyleId>{5C22544A-7EE6-4342-B048-85BDC9FD1C3A}</a:tableStyleId>
                  </a:tblPr>
                  <a:tblGrid>
                    <a:gridCol w="2566220">
                      <a:extLst>
                        <a:ext uri="{9D8B030D-6E8A-4147-A177-3AD203B41FA5}">
                          <a16:colId xmlns:a16="http://schemas.microsoft.com/office/drawing/2014/main" val="546700688"/>
                        </a:ext>
                      </a:extLst>
                    </a:gridCol>
                    <a:gridCol w="2462981">
                      <a:extLst>
                        <a:ext uri="{9D8B030D-6E8A-4147-A177-3AD203B41FA5}">
                          <a16:colId xmlns:a16="http://schemas.microsoft.com/office/drawing/2014/main" val="1062714613"/>
                        </a:ext>
                      </a:extLst>
                    </a:gridCol>
                    <a:gridCol w="2979174">
                      <a:extLst>
                        <a:ext uri="{9D8B030D-6E8A-4147-A177-3AD203B41FA5}">
                          <a16:colId xmlns:a16="http://schemas.microsoft.com/office/drawing/2014/main" val="2091287118"/>
                        </a:ext>
                      </a:extLst>
                    </a:gridCol>
                    <a:gridCol w="3185653">
                      <a:extLst>
                        <a:ext uri="{9D8B030D-6E8A-4147-A177-3AD203B41FA5}">
                          <a16:colId xmlns:a16="http://schemas.microsoft.com/office/drawing/2014/main" val="1925177199"/>
                        </a:ext>
                      </a:extLst>
                    </a:gridCol>
                  </a:tblGrid>
                  <a:tr h="515455">
                    <a:tc>
                      <a:txBody>
                        <a:bodyPr/>
                        <a:lstStyle/>
                        <a:p>
                          <a:endParaRPr lang="en-US"/>
                        </a:p>
                      </a:txBody>
                      <a:tcPr/>
                    </a:tc>
                    <a:tc>
                      <a:txBody>
                        <a:bodyPr/>
                        <a:lstStyle/>
                        <a:p>
                          <a:r>
                            <a:rPr lang="en-US" smtClean="0"/>
                            <a:t>Lớp</a:t>
                          </a:r>
                          <a:r>
                            <a:rPr lang="en-US" baseline="0" smtClean="0"/>
                            <a:t> A</a:t>
                          </a:r>
                          <a:endParaRPr lang="en-US"/>
                        </a:p>
                      </a:txBody>
                      <a:tcPr/>
                    </a:tc>
                    <a:tc>
                      <a:txBody>
                        <a:bodyPr/>
                        <a:lstStyle/>
                        <a:p>
                          <a:pPr algn="ctr"/>
                          <a:r>
                            <a:rPr lang="en-US" smtClean="0"/>
                            <a:t>Lớp</a:t>
                          </a:r>
                          <a:r>
                            <a:rPr lang="en-US" baseline="0" smtClean="0"/>
                            <a:t> B</a:t>
                          </a:r>
                          <a:endParaRPr lang="en-US"/>
                        </a:p>
                      </a:txBody>
                      <a:tcPr/>
                    </a:tc>
                    <a:tc>
                      <a:txBody>
                        <a:bodyPr/>
                        <a:lstStyle/>
                        <a:p>
                          <a:pPr algn="ctr"/>
                          <a:r>
                            <a:rPr lang="en-US" smtClean="0"/>
                            <a:t>Lớp</a:t>
                          </a:r>
                          <a:r>
                            <a:rPr lang="en-US" baseline="0" smtClean="0"/>
                            <a:t> C</a:t>
                          </a:r>
                          <a:endParaRPr lang="en-US"/>
                        </a:p>
                      </a:txBody>
                      <a:tcPr/>
                    </a:tc>
                    <a:extLst>
                      <a:ext uri="{0D108BD9-81ED-4DB2-BD59-A6C34878D82A}">
                        <a16:rowId xmlns:a16="http://schemas.microsoft.com/office/drawing/2014/main" val="3262772974"/>
                      </a:ext>
                    </a:extLst>
                  </a:tr>
                  <a:tr h="515455">
                    <a:tc>
                      <a:txBody>
                        <a:bodyPr/>
                        <a:lstStyle/>
                        <a:p>
                          <a:r>
                            <a:rPr lang="en-US" smtClean="0"/>
                            <a:t>Octet đầu</a:t>
                          </a:r>
                          <a:endParaRPr lang="en-US"/>
                        </a:p>
                      </a:txBody>
                      <a:tcPr/>
                    </a:tc>
                    <a:tc>
                      <a:txBody>
                        <a:bodyPr/>
                        <a:lstStyle/>
                        <a:p>
                          <a:pPr algn="ctr"/>
                          <a:r>
                            <a:rPr lang="en-US" smtClean="0"/>
                            <a:t>1 – 126</a:t>
                          </a:r>
                          <a:endParaRPr lang="en-US"/>
                        </a:p>
                      </a:txBody>
                      <a:tcPr/>
                    </a:tc>
                    <a:tc>
                      <a:txBody>
                        <a:bodyPr/>
                        <a:lstStyle/>
                        <a:p>
                          <a:pPr algn="ctr"/>
                          <a:r>
                            <a:rPr lang="en-US" smtClean="0"/>
                            <a:t>126 – 191</a:t>
                          </a:r>
                          <a:endParaRPr lang="en-US"/>
                        </a:p>
                      </a:txBody>
                      <a:tcPr/>
                    </a:tc>
                    <a:tc>
                      <a:txBody>
                        <a:bodyPr/>
                        <a:lstStyle/>
                        <a:p>
                          <a:pPr algn="ctr"/>
                          <a:r>
                            <a:rPr lang="en-US" smtClean="0"/>
                            <a:t>192 – 223</a:t>
                          </a:r>
                          <a:endParaRPr lang="en-US"/>
                        </a:p>
                      </a:txBody>
                      <a:tcPr/>
                    </a:tc>
                    <a:extLst>
                      <a:ext uri="{0D108BD9-81ED-4DB2-BD59-A6C34878D82A}">
                        <a16:rowId xmlns:a16="http://schemas.microsoft.com/office/drawing/2014/main" val="3440269230"/>
                      </a:ext>
                    </a:extLst>
                  </a:tr>
                  <a:tr h="515455">
                    <a:tc>
                      <a:txBody>
                        <a:bodyPr/>
                        <a:lstStyle/>
                        <a:p>
                          <a:r>
                            <a:rPr lang="en-US" smtClean="0"/>
                            <a:t>Dải</a:t>
                          </a:r>
                          <a:r>
                            <a:rPr lang="en-US" baseline="0" smtClean="0"/>
                            <a:t> địa chỉ mạng </a:t>
                          </a:r>
                          <a:endParaRPr lang="en-US"/>
                        </a:p>
                      </a:txBody>
                      <a:tcPr/>
                    </a:tc>
                    <a:tc>
                      <a:txBody>
                        <a:bodyPr/>
                        <a:lstStyle/>
                        <a:p>
                          <a:pPr algn="ctr"/>
                          <a:r>
                            <a:rPr lang="en-US" smtClean="0"/>
                            <a:t>1.0.0.0</a:t>
                          </a:r>
                          <a:r>
                            <a:rPr lang="en-US" baseline="0" smtClean="0"/>
                            <a:t> – 126.0.0.0</a:t>
                          </a:r>
                          <a:endParaRPr lang="en-US"/>
                        </a:p>
                      </a:txBody>
                      <a:tcPr/>
                    </a:tc>
                    <a:tc>
                      <a:txBody>
                        <a:bodyPr/>
                        <a:lstStyle/>
                        <a:p>
                          <a:pPr algn="ctr"/>
                          <a:r>
                            <a:rPr lang="en-US" smtClean="0"/>
                            <a:t>128.0.0.0</a:t>
                          </a:r>
                          <a:r>
                            <a:rPr lang="en-US" baseline="0" smtClean="0"/>
                            <a:t> – 191.255.0.0</a:t>
                          </a:r>
                          <a:endParaRPr lang="en-US"/>
                        </a:p>
                      </a:txBody>
                      <a:tcPr/>
                    </a:tc>
                    <a:tc>
                      <a:txBody>
                        <a:bodyPr/>
                        <a:lstStyle/>
                        <a:p>
                          <a:pPr algn="ctr"/>
                          <a:r>
                            <a:rPr lang="en-US" smtClean="0"/>
                            <a:t>192.0.0.0 – 223.255.255.0</a:t>
                          </a:r>
                          <a:endParaRPr lang="en-US"/>
                        </a:p>
                      </a:txBody>
                      <a:tcPr/>
                    </a:tc>
                    <a:extLst>
                      <a:ext uri="{0D108BD9-81ED-4DB2-BD59-A6C34878D82A}">
                        <a16:rowId xmlns:a16="http://schemas.microsoft.com/office/drawing/2014/main" val="4073547898"/>
                      </a:ext>
                    </a:extLst>
                  </a:tr>
                  <a:tr h="515455">
                    <a:tc>
                      <a:txBody>
                        <a:bodyPr/>
                        <a:lstStyle/>
                        <a:p>
                          <a:r>
                            <a:rPr lang="en-US" smtClean="0"/>
                            <a:t>Tổng</a:t>
                          </a:r>
                          <a:r>
                            <a:rPr lang="en-US" baseline="0" smtClean="0"/>
                            <a:t> số mạng</a:t>
                          </a:r>
                          <a:endParaRPr lang="en-US"/>
                        </a:p>
                      </a:txBody>
                      <a:tcPr/>
                    </a:tc>
                    <a:tc>
                      <a:txBody>
                        <a:bodyPr/>
                        <a:lstStyle/>
                        <a:p>
                          <a:endParaRPr lang="en-US"/>
                        </a:p>
                      </a:txBody>
                      <a:tcPr>
                        <a:blipFill>
                          <a:blip r:embed="rId3"/>
                          <a:stretch>
                            <a:fillRect l="-104198" t="-304706" r="-250864" b="-464706"/>
                          </a:stretch>
                        </a:blipFill>
                      </a:tcPr>
                    </a:tc>
                    <a:tc>
                      <a:txBody>
                        <a:bodyPr/>
                        <a:lstStyle/>
                        <a:p>
                          <a:endParaRPr lang="en-US"/>
                        </a:p>
                      </a:txBody>
                      <a:tcPr>
                        <a:blipFill>
                          <a:blip r:embed="rId3"/>
                          <a:stretch>
                            <a:fillRect l="-169121" t="-304706" r="-107771" b="-464706"/>
                          </a:stretch>
                        </a:blipFill>
                      </a:tcPr>
                    </a:tc>
                    <a:tc>
                      <a:txBody>
                        <a:bodyPr/>
                        <a:lstStyle/>
                        <a:p>
                          <a:endParaRPr lang="en-US"/>
                        </a:p>
                      </a:txBody>
                      <a:tcPr>
                        <a:blipFill>
                          <a:blip r:embed="rId3"/>
                          <a:stretch>
                            <a:fillRect l="-251625" t="-304706" r="-765" b="-464706"/>
                          </a:stretch>
                        </a:blipFill>
                      </a:tcPr>
                    </a:tc>
                    <a:extLst>
                      <a:ext uri="{0D108BD9-81ED-4DB2-BD59-A6C34878D82A}">
                        <a16:rowId xmlns:a16="http://schemas.microsoft.com/office/drawing/2014/main" val="30148904"/>
                      </a:ext>
                    </a:extLst>
                  </a:tr>
                  <a:tr h="640080">
                    <a:tc>
                      <a:txBody>
                        <a:bodyPr/>
                        <a:lstStyle/>
                        <a:p>
                          <a:r>
                            <a:rPr lang="en-US" b="1" smtClean="0"/>
                            <a:t>Tổng</a:t>
                          </a:r>
                          <a:r>
                            <a:rPr lang="en-US" b="1" baseline="0" smtClean="0"/>
                            <a:t> số host trong một mạng</a:t>
                          </a:r>
                          <a:endParaRPr lang="en-US" b="1"/>
                        </a:p>
                      </a:txBody>
                      <a:tcPr>
                        <a:solidFill>
                          <a:srgbClr val="FFC000"/>
                        </a:solidFill>
                      </a:tcPr>
                    </a:tc>
                    <a:tc>
                      <a:txBody>
                        <a:bodyPr/>
                        <a:lstStyle/>
                        <a:p>
                          <a:endParaRPr lang="en-US"/>
                        </a:p>
                      </a:txBody>
                      <a:tcPr>
                        <a:blipFill>
                          <a:blip r:embed="rId3"/>
                          <a:stretch>
                            <a:fillRect l="-104198" t="-327619" r="-250864" b="-276190"/>
                          </a:stretch>
                        </a:blipFill>
                      </a:tcPr>
                    </a:tc>
                    <a:tc>
                      <a:txBody>
                        <a:bodyPr/>
                        <a:lstStyle/>
                        <a:p>
                          <a:endParaRPr lang="en-US"/>
                        </a:p>
                      </a:txBody>
                      <a:tcPr>
                        <a:blipFill>
                          <a:blip r:embed="rId3"/>
                          <a:stretch>
                            <a:fillRect l="-169121" t="-327619" r="-107771" b="-276190"/>
                          </a:stretch>
                        </a:blipFill>
                      </a:tcPr>
                    </a:tc>
                    <a:tc>
                      <a:txBody>
                        <a:bodyPr/>
                        <a:lstStyle/>
                        <a:p>
                          <a:endParaRPr lang="en-US"/>
                        </a:p>
                      </a:txBody>
                      <a:tcPr>
                        <a:blipFill>
                          <a:blip r:embed="rId3"/>
                          <a:stretch>
                            <a:fillRect l="-251625" t="-327619" r="-765" b="-276190"/>
                          </a:stretch>
                        </a:blipFill>
                      </a:tcPr>
                    </a:tc>
                    <a:extLst>
                      <a:ext uri="{0D108BD9-81ED-4DB2-BD59-A6C34878D82A}">
                        <a16:rowId xmlns:a16="http://schemas.microsoft.com/office/drawing/2014/main" val="3031996299"/>
                      </a:ext>
                    </a:extLst>
                  </a:tr>
                  <a:tr h="515455">
                    <a:tc>
                      <a:txBody>
                        <a:bodyPr/>
                        <a:lstStyle/>
                        <a:p>
                          <a:r>
                            <a:rPr lang="en-US" baseline="0" smtClean="0"/>
                            <a:t>Số bit </a:t>
                          </a:r>
                          <a:r>
                            <a:rPr lang="en-US" baseline="0" smtClean="0"/>
                            <a:t>trong phần mạng </a:t>
                          </a:r>
                          <a:endParaRPr lang="en-US"/>
                        </a:p>
                      </a:txBody>
                      <a:tcPr/>
                    </a:tc>
                    <a:tc>
                      <a:txBody>
                        <a:bodyPr/>
                        <a:lstStyle/>
                        <a:p>
                          <a:pPr algn="ctr"/>
                          <a:r>
                            <a:rPr lang="en-US" smtClean="0"/>
                            <a:t>8</a:t>
                          </a:r>
                          <a:endParaRPr lang="en-US"/>
                        </a:p>
                      </a:txBody>
                      <a:tcPr/>
                    </a:tc>
                    <a:tc>
                      <a:txBody>
                        <a:bodyPr/>
                        <a:lstStyle/>
                        <a:p>
                          <a:pPr algn="ctr"/>
                          <a:r>
                            <a:rPr lang="en-US" smtClean="0"/>
                            <a:t>16</a:t>
                          </a:r>
                          <a:endParaRPr lang="en-US"/>
                        </a:p>
                      </a:txBody>
                      <a:tcPr/>
                    </a:tc>
                    <a:tc>
                      <a:txBody>
                        <a:bodyPr/>
                        <a:lstStyle/>
                        <a:p>
                          <a:pPr algn="ctr"/>
                          <a:r>
                            <a:rPr lang="en-US" smtClean="0"/>
                            <a:t>24</a:t>
                          </a:r>
                          <a:endParaRPr lang="en-US"/>
                        </a:p>
                      </a:txBody>
                      <a:tcPr/>
                    </a:tc>
                    <a:extLst>
                      <a:ext uri="{0D108BD9-81ED-4DB2-BD59-A6C34878D82A}">
                        <a16:rowId xmlns:a16="http://schemas.microsoft.com/office/drawing/2014/main" val="2309543338"/>
                      </a:ext>
                    </a:extLst>
                  </a:tr>
                  <a:tr h="515455">
                    <a:tc>
                      <a:txBody>
                        <a:bodyPr/>
                        <a:lstStyle/>
                        <a:p>
                          <a:r>
                            <a:rPr lang="en-US" baseline="0" smtClean="0"/>
                            <a:t>Số bit </a:t>
                          </a:r>
                          <a:r>
                            <a:rPr lang="en-US" baseline="0" smtClean="0"/>
                            <a:t>trong phần host</a:t>
                          </a:r>
                          <a:endParaRPr lang="en-US"/>
                        </a:p>
                      </a:txBody>
                      <a:tcPr/>
                    </a:tc>
                    <a:tc>
                      <a:txBody>
                        <a:bodyPr/>
                        <a:lstStyle/>
                        <a:p>
                          <a:pPr algn="ctr"/>
                          <a:r>
                            <a:rPr lang="en-US" smtClean="0"/>
                            <a:t>24</a:t>
                          </a:r>
                          <a:endParaRPr lang="en-US"/>
                        </a:p>
                      </a:txBody>
                      <a:tcPr/>
                    </a:tc>
                    <a:tc>
                      <a:txBody>
                        <a:bodyPr/>
                        <a:lstStyle/>
                        <a:p>
                          <a:pPr algn="ctr"/>
                          <a:r>
                            <a:rPr lang="en-US" smtClean="0"/>
                            <a:t>16</a:t>
                          </a:r>
                          <a:endParaRPr lang="en-US"/>
                        </a:p>
                      </a:txBody>
                      <a:tcPr/>
                    </a:tc>
                    <a:tc>
                      <a:txBody>
                        <a:bodyPr/>
                        <a:lstStyle/>
                        <a:p>
                          <a:pPr algn="ctr"/>
                          <a:r>
                            <a:rPr lang="en-US" smtClean="0"/>
                            <a:t>8</a:t>
                          </a:r>
                          <a:endParaRPr lang="en-US"/>
                        </a:p>
                      </a:txBody>
                      <a:tcPr/>
                    </a:tc>
                    <a:extLst>
                      <a:ext uri="{0D108BD9-81ED-4DB2-BD59-A6C34878D82A}">
                        <a16:rowId xmlns:a16="http://schemas.microsoft.com/office/drawing/2014/main" val="2181296077"/>
                      </a:ext>
                    </a:extLst>
                  </a:tr>
                  <a:tr h="640080">
                    <a:tc>
                      <a:txBody>
                        <a:bodyPr/>
                        <a:lstStyle/>
                        <a:p>
                          <a:r>
                            <a:rPr lang="en-US" smtClean="0"/>
                            <a:t>Mặt</a:t>
                          </a:r>
                          <a:r>
                            <a:rPr lang="en-US" baseline="0" smtClean="0"/>
                            <a:t> nạ mặc định</a:t>
                          </a:r>
                          <a:endParaRPr lang="en-US"/>
                        </a:p>
                      </a:txBody>
                      <a:tcPr/>
                    </a:tc>
                    <a:tc>
                      <a:txBody>
                        <a:bodyPr/>
                        <a:lstStyle/>
                        <a:p>
                          <a:pPr algn="ctr"/>
                          <a:r>
                            <a:rPr lang="en-US" smtClean="0"/>
                            <a:t>255.0.0.0</a:t>
                          </a:r>
                        </a:p>
                        <a:p>
                          <a:pPr algn="ctr"/>
                          <a:r>
                            <a:rPr lang="en-US" b="1" smtClean="0"/>
                            <a:t>(/8)</a:t>
                          </a:r>
                          <a:endParaRPr lang="en-US" b="1"/>
                        </a:p>
                      </a:txBody>
                      <a:tcPr/>
                    </a:tc>
                    <a:tc>
                      <a:txBody>
                        <a:bodyPr/>
                        <a:lstStyle/>
                        <a:p>
                          <a:pPr algn="ctr"/>
                          <a:r>
                            <a:rPr lang="en-US" smtClean="0"/>
                            <a:t>255.255.0.0</a:t>
                          </a:r>
                        </a:p>
                        <a:p>
                          <a:pPr algn="ctr"/>
                          <a:r>
                            <a:rPr lang="en-US" b="1" smtClean="0"/>
                            <a:t>(/16)</a:t>
                          </a:r>
                          <a:endParaRPr lang="en-US" b="1"/>
                        </a:p>
                      </a:txBody>
                      <a:tcPr/>
                    </a:tc>
                    <a:tc>
                      <a:txBody>
                        <a:bodyPr/>
                        <a:lstStyle/>
                        <a:p>
                          <a:pPr algn="ctr"/>
                          <a:r>
                            <a:rPr lang="en-US" smtClean="0"/>
                            <a:t>255.255.255.0</a:t>
                          </a:r>
                        </a:p>
                        <a:p>
                          <a:pPr algn="ctr"/>
                          <a:r>
                            <a:rPr lang="en-US" b="1" smtClean="0"/>
                            <a:t>(/24)</a:t>
                          </a:r>
                          <a:endParaRPr lang="en-US" b="1"/>
                        </a:p>
                      </a:txBody>
                      <a:tcPr/>
                    </a:tc>
                    <a:extLst>
                      <a:ext uri="{0D108BD9-81ED-4DB2-BD59-A6C34878D82A}">
                        <a16:rowId xmlns:a16="http://schemas.microsoft.com/office/drawing/2014/main" val="273014651"/>
                      </a:ext>
                    </a:extLst>
                  </a:tr>
                </a:tbl>
              </a:graphicData>
            </a:graphic>
          </p:graphicFrame>
        </mc:Fallback>
      </mc:AlternateContent>
      <p:sp>
        <p:nvSpPr>
          <p:cNvPr id="2" name="TextBox 1"/>
          <p:cNvSpPr txBox="1"/>
          <p:nvPr/>
        </p:nvSpPr>
        <p:spPr>
          <a:xfrm>
            <a:off x="541481" y="1858297"/>
            <a:ext cx="6349815" cy="369332"/>
          </a:xfrm>
          <a:prstGeom prst="rect">
            <a:avLst/>
          </a:prstGeom>
          <a:noFill/>
        </p:spPr>
        <p:txBody>
          <a:bodyPr wrap="none" rtlCol="0">
            <a:spAutoFit/>
          </a:bodyPr>
          <a:lstStyle/>
          <a:p>
            <a:r>
              <a:rPr lang="en-US" b="1"/>
              <a:t>Phân lớp chuẩn và vấn đề lãng phí không gian địa chỉ IP</a:t>
            </a:r>
          </a:p>
        </p:txBody>
      </p:sp>
    </p:spTree>
    <p:extLst>
      <p:ext uri="{BB962C8B-B14F-4D97-AF65-F5344CB8AC3E}">
        <p14:creationId xmlns:p14="http://schemas.microsoft.com/office/powerpoint/2010/main" val="3493147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dirty="0">
                <a:solidFill>
                  <a:srgbClr val="005BBB"/>
                </a:solidFill>
                <a:cs typeface="Helvetica World" panose="020B0500040000020004" pitchFamily="34" charset="0"/>
              </a:rPr>
              <a:t>KỸ THUẬT CIDR &amp; CƠ BẢN VỀ CHIA MẠNG CON</a:t>
            </a:r>
          </a:p>
          <a:p>
            <a:pPr lvl="0">
              <a:defRPr/>
            </a:pPr>
            <a:endParaRPr kumimoji="0" lang="en-US" sz="1800" b="1" i="0" u="none" strike="noStrike" kern="1200" cap="none" spc="0" normalizeH="0" baseline="0" noProof="0" dirty="0">
              <a:ln>
                <a:noFill/>
              </a:ln>
              <a:solidFill>
                <a:srgbClr val="005BBB"/>
              </a:solidFill>
              <a:effectLst/>
              <a:uLnTx/>
              <a:uFillTx/>
              <a:cs typeface="Helvetica World" panose="020B0500040000020004" pitchFamily="34" charset="0"/>
            </a:endParaRPr>
          </a:p>
        </p:txBody>
      </p:sp>
      <p:sp>
        <p:nvSpPr>
          <p:cNvPr id="6" name="Content Placeholder 5"/>
          <p:cNvSpPr>
            <a:spLocks noGrp="1"/>
          </p:cNvSpPr>
          <p:nvPr>
            <p:ph idx="1"/>
          </p:nvPr>
        </p:nvSpPr>
        <p:spPr>
          <a:xfrm>
            <a:off x="137433" y="1381850"/>
            <a:ext cx="11929876" cy="5476150"/>
          </a:xfrm>
        </p:spPr>
        <p:txBody>
          <a:bodyPr/>
          <a:lstStyle/>
          <a:p>
            <a:pPr marL="0" indent="0" algn="just">
              <a:buNone/>
            </a:pPr>
            <a:endParaRPr lang="en-US" dirty="0"/>
          </a:p>
          <a:p>
            <a:pPr marL="0" indent="0" algn="just">
              <a:buNone/>
            </a:pP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5265" y="2324099"/>
            <a:ext cx="9333383" cy="3442520"/>
          </a:xfrm>
          <a:prstGeom prst="rect">
            <a:avLst/>
          </a:prstGeom>
        </p:spPr>
      </p:pic>
      <p:sp>
        <p:nvSpPr>
          <p:cNvPr id="8" name="TextBox 7"/>
          <p:cNvSpPr txBox="1"/>
          <p:nvPr/>
        </p:nvSpPr>
        <p:spPr>
          <a:xfrm>
            <a:off x="5589634" y="2905433"/>
            <a:ext cx="1851789" cy="369332"/>
          </a:xfrm>
          <a:prstGeom prst="rect">
            <a:avLst/>
          </a:prstGeom>
          <a:noFill/>
        </p:spPr>
        <p:txBody>
          <a:bodyPr wrap="none" rtlCol="0">
            <a:spAutoFit/>
          </a:bodyPr>
          <a:lstStyle/>
          <a:p>
            <a:r>
              <a:rPr lang="en-US"/>
              <a:t>205.10.152.0/24</a:t>
            </a:r>
          </a:p>
        </p:txBody>
      </p:sp>
      <p:sp>
        <p:nvSpPr>
          <p:cNvPr id="9" name="TextBox 8"/>
          <p:cNvSpPr txBox="1"/>
          <p:nvPr/>
        </p:nvSpPr>
        <p:spPr>
          <a:xfrm>
            <a:off x="5338918" y="3318394"/>
            <a:ext cx="377026" cy="369332"/>
          </a:xfrm>
          <a:prstGeom prst="rect">
            <a:avLst/>
          </a:prstGeom>
          <a:noFill/>
        </p:spPr>
        <p:txBody>
          <a:bodyPr wrap="none" rtlCol="0">
            <a:spAutoFit/>
          </a:bodyPr>
          <a:lstStyle/>
          <a:p>
            <a:r>
              <a:rPr lang="en-US"/>
              <a:t>.1</a:t>
            </a:r>
          </a:p>
        </p:txBody>
      </p:sp>
      <p:sp>
        <p:nvSpPr>
          <p:cNvPr id="11" name="TextBox 10"/>
          <p:cNvSpPr txBox="1"/>
          <p:nvPr/>
        </p:nvSpPr>
        <p:spPr>
          <a:xfrm>
            <a:off x="7202125" y="3633020"/>
            <a:ext cx="377026" cy="369332"/>
          </a:xfrm>
          <a:prstGeom prst="rect">
            <a:avLst/>
          </a:prstGeom>
          <a:noFill/>
        </p:spPr>
        <p:txBody>
          <a:bodyPr wrap="none" rtlCol="0">
            <a:spAutoFit/>
          </a:bodyPr>
          <a:lstStyle/>
          <a:p>
            <a:r>
              <a:rPr lang="en-US"/>
              <a:t>.2</a:t>
            </a:r>
          </a:p>
        </p:txBody>
      </p:sp>
      <p:sp>
        <p:nvSpPr>
          <p:cNvPr id="12" name="TextBox 11"/>
          <p:cNvSpPr txBox="1"/>
          <p:nvPr/>
        </p:nvSpPr>
        <p:spPr>
          <a:xfrm>
            <a:off x="3834581" y="4748983"/>
            <a:ext cx="5161935" cy="2031325"/>
          </a:xfrm>
          <a:prstGeom prst="rect">
            <a:avLst/>
          </a:prstGeom>
          <a:solidFill>
            <a:schemeClr val="bg2">
              <a:lumMod val="85000"/>
            </a:schemeClr>
          </a:solidFill>
        </p:spPr>
        <p:txBody>
          <a:bodyPr wrap="square" rtlCol="0">
            <a:spAutoFit/>
          </a:bodyPr>
          <a:lstStyle/>
          <a:p>
            <a:r>
              <a:rPr lang="en-US" b="1" dirty="0"/>
              <a:t>205.10.152.0/24</a:t>
            </a:r>
          </a:p>
          <a:p>
            <a:r>
              <a:rPr lang="en-US" dirty="0" err="1"/>
              <a:t>Không</a:t>
            </a:r>
            <a:r>
              <a:rPr lang="en-US" dirty="0"/>
              <a:t> </a:t>
            </a:r>
            <a:r>
              <a:rPr lang="en-US" dirty="0" err="1"/>
              <a:t>gian</a:t>
            </a:r>
            <a:r>
              <a:rPr lang="en-US" dirty="0"/>
              <a:t> </a:t>
            </a:r>
            <a:r>
              <a:rPr lang="en-US" dirty="0" err="1"/>
              <a:t>địa</a:t>
            </a:r>
            <a:r>
              <a:rPr lang="en-US" dirty="0"/>
              <a:t> </a:t>
            </a:r>
            <a:r>
              <a:rPr lang="en-US" dirty="0" err="1"/>
              <a:t>chỉ</a:t>
            </a:r>
            <a:r>
              <a:rPr lang="en-US" dirty="0"/>
              <a:t>: 256</a:t>
            </a:r>
          </a:p>
          <a:p>
            <a:r>
              <a:rPr lang="en-US" dirty="0" err="1"/>
              <a:t>Tổng</a:t>
            </a:r>
            <a:r>
              <a:rPr lang="en-US" dirty="0"/>
              <a:t> </a:t>
            </a:r>
            <a:r>
              <a:rPr lang="en-US" dirty="0" err="1"/>
              <a:t>số</a:t>
            </a:r>
            <a:r>
              <a:rPr lang="en-US" dirty="0"/>
              <a:t> </a:t>
            </a:r>
            <a:r>
              <a:rPr lang="en-US" dirty="0" err="1"/>
              <a:t>địa</a:t>
            </a:r>
            <a:r>
              <a:rPr lang="en-US" dirty="0"/>
              <a:t> </a:t>
            </a:r>
            <a:r>
              <a:rPr lang="en-US" dirty="0" err="1"/>
              <a:t>chỉ</a:t>
            </a:r>
            <a:r>
              <a:rPr lang="en-US" dirty="0"/>
              <a:t> </a:t>
            </a:r>
            <a:r>
              <a:rPr lang="en-US" dirty="0" err="1"/>
              <a:t>được</a:t>
            </a:r>
            <a:r>
              <a:rPr lang="en-US" dirty="0"/>
              <a:t> </a:t>
            </a:r>
            <a:r>
              <a:rPr lang="en-US" dirty="0" err="1"/>
              <a:t>sử</a:t>
            </a:r>
            <a:r>
              <a:rPr lang="en-US" dirty="0"/>
              <a:t> </a:t>
            </a:r>
            <a:r>
              <a:rPr lang="en-US" dirty="0" err="1"/>
              <a:t>dụng</a:t>
            </a:r>
            <a:r>
              <a:rPr lang="en-US" dirty="0"/>
              <a:t>:</a:t>
            </a:r>
          </a:p>
          <a:p>
            <a:pPr lvl="1"/>
            <a:r>
              <a:rPr lang="en-US" dirty="0"/>
              <a:t>+ </a:t>
            </a:r>
            <a:r>
              <a:rPr lang="en-US" dirty="0" err="1"/>
              <a:t>Địa</a:t>
            </a:r>
            <a:r>
              <a:rPr lang="en-US" dirty="0"/>
              <a:t> </a:t>
            </a:r>
            <a:r>
              <a:rPr lang="en-US" dirty="0" err="1"/>
              <a:t>chỉ</a:t>
            </a:r>
            <a:r>
              <a:rPr lang="en-US" dirty="0"/>
              <a:t> </a:t>
            </a:r>
            <a:r>
              <a:rPr lang="en-US" dirty="0" err="1"/>
              <a:t>mạng</a:t>
            </a:r>
            <a:r>
              <a:rPr lang="en-US" dirty="0"/>
              <a:t>:         205.10.152.0</a:t>
            </a:r>
          </a:p>
          <a:p>
            <a:pPr lvl="1"/>
            <a:r>
              <a:rPr lang="en-US" dirty="0"/>
              <a:t>+ </a:t>
            </a:r>
            <a:r>
              <a:rPr lang="en-US" dirty="0" err="1"/>
              <a:t>Địa</a:t>
            </a:r>
            <a:r>
              <a:rPr lang="en-US" dirty="0"/>
              <a:t> </a:t>
            </a:r>
            <a:r>
              <a:rPr lang="en-US" dirty="0" err="1"/>
              <a:t>chỉ</a:t>
            </a:r>
            <a:r>
              <a:rPr lang="en-US" dirty="0"/>
              <a:t> broadcast:  205.10.152.255</a:t>
            </a:r>
          </a:p>
          <a:p>
            <a:pPr lvl="1"/>
            <a:r>
              <a:rPr lang="en-US" dirty="0"/>
              <a:t>+ </a:t>
            </a:r>
            <a:r>
              <a:rPr lang="en-US" dirty="0" err="1"/>
              <a:t>Địa</a:t>
            </a:r>
            <a:r>
              <a:rPr lang="en-US" dirty="0"/>
              <a:t> </a:t>
            </a:r>
            <a:r>
              <a:rPr lang="en-US" dirty="0" err="1"/>
              <a:t>chỉ</a:t>
            </a:r>
            <a:r>
              <a:rPr lang="en-US" dirty="0"/>
              <a:t> router R1:   205.10.152.1</a:t>
            </a:r>
          </a:p>
          <a:p>
            <a:pPr lvl="1"/>
            <a:r>
              <a:rPr lang="en-US" dirty="0"/>
              <a:t>+ </a:t>
            </a:r>
            <a:r>
              <a:rPr lang="en-US" dirty="0" err="1"/>
              <a:t>Địa</a:t>
            </a:r>
            <a:r>
              <a:rPr lang="en-US" dirty="0"/>
              <a:t> </a:t>
            </a:r>
            <a:r>
              <a:rPr lang="en-US" dirty="0" err="1"/>
              <a:t>chỉ</a:t>
            </a:r>
            <a:r>
              <a:rPr lang="en-US" dirty="0"/>
              <a:t> router R2:   205.10.152.2</a:t>
            </a:r>
          </a:p>
        </p:txBody>
      </p:sp>
      <p:sp>
        <p:nvSpPr>
          <p:cNvPr id="14" name="TextBox 13"/>
          <p:cNvSpPr txBox="1"/>
          <p:nvPr/>
        </p:nvSpPr>
        <p:spPr>
          <a:xfrm>
            <a:off x="3795253" y="1774720"/>
            <a:ext cx="5161935" cy="1200329"/>
          </a:xfrm>
          <a:prstGeom prst="rect">
            <a:avLst/>
          </a:prstGeom>
          <a:solidFill>
            <a:srgbClr val="FFC000"/>
          </a:solidFill>
        </p:spPr>
        <p:txBody>
          <a:bodyPr wrap="square" rtlCol="0">
            <a:spAutoFit/>
          </a:bodyPr>
          <a:lstStyle/>
          <a:p>
            <a:r>
              <a:rPr lang="en-US" dirty="0" err="1"/>
              <a:t>Trong</a:t>
            </a:r>
            <a:r>
              <a:rPr lang="en-US" dirty="0"/>
              <a:t> </a:t>
            </a:r>
            <a:r>
              <a:rPr lang="en-US" dirty="0" err="1"/>
              <a:t>trường</a:t>
            </a:r>
            <a:r>
              <a:rPr lang="en-US" dirty="0"/>
              <a:t> </a:t>
            </a:r>
            <a:r>
              <a:rPr lang="en-US" dirty="0" err="1"/>
              <a:t>hợp</a:t>
            </a:r>
            <a:r>
              <a:rPr lang="en-US" dirty="0"/>
              <a:t> ta </a:t>
            </a:r>
            <a:r>
              <a:rPr lang="en-US" dirty="0" err="1"/>
              <a:t>sử</a:t>
            </a:r>
            <a:r>
              <a:rPr lang="en-US" dirty="0"/>
              <a:t> </a:t>
            </a:r>
            <a:r>
              <a:rPr lang="en-US" dirty="0" err="1"/>
              <a:t>dụng</a:t>
            </a:r>
            <a:r>
              <a:rPr lang="en-US" dirty="0"/>
              <a:t> </a:t>
            </a:r>
            <a:r>
              <a:rPr lang="en-US" dirty="0" err="1"/>
              <a:t>một</a:t>
            </a:r>
            <a:r>
              <a:rPr lang="en-US" dirty="0"/>
              <a:t> </a:t>
            </a:r>
            <a:r>
              <a:rPr lang="en-US" dirty="0" err="1"/>
              <a:t>mạng</a:t>
            </a:r>
            <a:r>
              <a:rPr lang="en-US" dirty="0"/>
              <a:t> </a:t>
            </a:r>
            <a:r>
              <a:rPr lang="en-US" dirty="0" err="1"/>
              <a:t>lớp</a:t>
            </a:r>
            <a:r>
              <a:rPr lang="en-US" dirty="0"/>
              <a:t> C</a:t>
            </a:r>
          </a:p>
          <a:p>
            <a:r>
              <a:rPr lang="en-US" dirty="0"/>
              <a:t>205.10.152.0/24 </a:t>
            </a:r>
            <a:r>
              <a:rPr lang="en-US" dirty="0" err="1"/>
              <a:t>để</a:t>
            </a:r>
            <a:r>
              <a:rPr lang="en-US" dirty="0"/>
              <a:t> </a:t>
            </a:r>
            <a:r>
              <a:rPr lang="en-US" dirty="0" err="1"/>
              <a:t>đánh</a:t>
            </a:r>
            <a:r>
              <a:rPr lang="en-US" dirty="0"/>
              <a:t> </a:t>
            </a:r>
            <a:r>
              <a:rPr lang="en-US" dirty="0" err="1"/>
              <a:t>địa</a:t>
            </a:r>
            <a:r>
              <a:rPr lang="en-US" dirty="0"/>
              <a:t> </a:t>
            </a:r>
            <a:r>
              <a:rPr lang="en-US" dirty="0" err="1"/>
              <a:t>chỉ</a:t>
            </a:r>
            <a:r>
              <a:rPr lang="en-US" dirty="0"/>
              <a:t> </a:t>
            </a:r>
            <a:r>
              <a:rPr lang="en-US" dirty="0" err="1"/>
              <a:t>cho</a:t>
            </a:r>
            <a:r>
              <a:rPr lang="en-US" dirty="0"/>
              <a:t> point-to-point link </a:t>
            </a:r>
            <a:r>
              <a:rPr lang="en-US" dirty="0" err="1"/>
              <a:t>giữa</a:t>
            </a:r>
            <a:r>
              <a:rPr lang="en-US" dirty="0"/>
              <a:t> R1 </a:t>
            </a:r>
            <a:r>
              <a:rPr lang="en-US" dirty="0" err="1"/>
              <a:t>và</a:t>
            </a:r>
            <a:r>
              <a:rPr lang="en-US" dirty="0"/>
              <a:t> R2 ta </a:t>
            </a:r>
            <a:r>
              <a:rPr lang="en-US" dirty="0" err="1"/>
              <a:t>đã</a:t>
            </a:r>
            <a:r>
              <a:rPr lang="en-US" dirty="0"/>
              <a:t> </a:t>
            </a:r>
            <a:r>
              <a:rPr lang="en-US" dirty="0" err="1"/>
              <a:t>lãng</a:t>
            </a:r>
            <a:r>
              <a:rPr lang="en-US" dirty="0"/>
              <a:t> </a:t>
            </a:r>
            <a:r>
              <a:rPr lang="en-US" dirty="0" err="1"/>
              <a:t>phí</a:t>
            </a:r>
            <a:r>
              <a:rPr lang="en-US" dirty="0"/>
              <a:t> 252 </a:t>
            </a:r>
            <a:r>
              <a:rPr lang="en-US" dirty="0" err="1"/>
              <a:t>địa</a:t>
            </a:r>
            <a:r>
              <a:rPr lang="en-US" dirty="0"/>
              <a:t> </a:t>
            </a:r>
            <a:r>
              <a:rPr lang="en-US" dirty="0" err="1"/>
              <a:t>chỉ</a:t>
            </a:r>
            <a:r>
              <a:rPr lang="en-US" dirty="0"/>
              <a:t> IP.</a:t>
            </a:r>
          </a:p>
        </p:txBody>
      </p:sp>
    </p:spTree>
    <p:extLst>
      <p:ext uri="{BB962C8B-B14F-4D97-AF65-F5344CB8AC3E}">
        <p14:creationId xmlns:p14="http://schemas.microsoft.com/office/powerpoint/2010/main" val="2027727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noProof="0">
                <a:solidFill>
                  <a:srgbClr val="005BBB"/>
                </a:solidFill>
                <a:cs typeface="Helvetica World" panose="020B0500040000020004" pitchFamily="34" charset="0"/>
              </a:rPr>
              <a:t>KỸ THUẬT CIDR &amp; CƠ BẢN VỀ CHIA MẠNG CON</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6" name="Content Placeholder 5"/>
          <p:cNvSpPr>
            <a:spLocks noGrp="1"/>
          </p:cNvSpPr>
          <p:nvPr>
            <p:ph idx="1"/>
          </p:nvPr>
        </p:nvSpPr>
        <p:spPr>
          <a:xfrm>
            <a:off x="137433" y="1219622"/>
            <a:ext cx="11929876" cy="3254677"/>
          </a:xfrm>
        </p:spPr>
        <p:txBody>
          <a:bodyPr/>
          <a:lstStyle/>
          <a:p>
            <a:pPr algn="just"/>
            <a:r>
              <a:rPr lang="en-US" dirty="0" err="1"/>
              <a:t>Việc</a:t>
            </a:r>
            <a:r>
              <a:rPr lang="en-US" dirty="0"/>
              <a:t> </a:t>
            </a:r>
            <a:r>
              <a:rPr lang="en-US" dirty="0" err="1"/>
              <a:t>phân</a:t>
            </a:r>
            <a:r>
              <a:rPr lang="en-US" dirty="0"/>
              <a:t> chia </a:t>
            </a:r>
            <a:r>
              <a:rPr lang="en-US" dirty="0" err="1"/>
              <a:t>và</a:t>
            </a:r>
            <a:r>
              <a:rPr lang="en-US" dirty="0"/>
              <a:t> </a:t>
            </a:r>
            <a:r>
              <a:rPr lang="en-US" dirty="0" err="1"/>
              <a:t>cấp</a:t>
            </a:r>
            <a:r>
              <a:rPr lang="en-US" dirty="0"/>
              <a:t> </a:t>
            </a:r>
            <a:r>
              <a:rPr lang="en-US" dirty="0" err="1"/>
              <a:t>phát</a:t>
            </a:r>
            <a:r>
              <a:rPr lang="en-US" dirty="0"/>
              <a:t> </a:t>
            </a:r>
            <a:r>
              <a:rPr lang="en-US" dirty="0" err="1"/>
              <a:t>địa</a:t>
            </a:r>
            <a:r>
              <a:rPr lang="en-US" dirty="0"/>
              <a:t> </a:t>
            </a:r>
            <a:r>
              <a:rPr lang="en-US" dirty="0" err="1"/>
              <a:t>chỉ</a:t>
            </a:r>
            <a:r>
              <a:rPr lang="en-US" dirty="0"/>
              <a:t> IP </a:t>
            </a:r>
            <a:r>
              <a:rPr lang="en-US" dirty="0" err="1"/>
              <a:t>dựa</a:t>
            </a:r>
            <a:r>
              <a:rPr lang="en-US" dirty="0"/>
              <a:t> </a:t>
            </a:r>
            <a:r>
              <a:rPr lang="en-US" dirty="0" err="1"/>
              <a:t>trên</a:t>
            </a:r>
            <a:r>
              <a:rPr lang="en-US" dirty="0"/>
              <a:t> </a:t>
            </a:r>
            <a:r>
              <a:rPr lang="en-US" dirty="0" err="1"/>
              <a:t>phân</a:t>
            </a:r>
            <a:r>
              <a:rPr lang="en-US" dirty="0"/>
              <a:t> </a:t>
            </a:r>
            <a:r>
              <a:rPr lang="en-US" dirty="0" err="1"/>
              <a:t>lớp</a:t>
            </a:r>
            <a:r>
              <a:rPr lang="en-US" dirty="0"/>
              <a:t> </a:t>
            </a:r>
            <a:r>
              <a:rPr lang="en-US" dirty="0" err="1"/>
              <a:t>chuẩn</a:t>
            </a:r>
            <a:r>
              <a:rPr lang="en-US" dirty="0"/>
              <a:t> A, B, C </a:t>
            </a:r>
            <a:r>
              <a:rPr lang="en-US" dirty="0" err="1"/>
              <a:t>đưa</a:t>
            </a:r>
            <a:r>
              <a:rPr lang="en-US" dirty="0"/>
              <a:t> </a:t>
            </a:r>
            <a:r>
              <a:rPr lang="en-US" dirty="0" err="1"/>
              <a:t>đến</a:t>
            </a:r>
            <a:r>
              <a:rPr lang="en-US" dirty="0"/>
              <a:t> </a:t>
            </a:r>
            <a:r>
              <a:rPr lang="en-US" dirty="0" err="1"/>
              <a:t>sự</a:t>
            </a:r>
            <a:r>
              <a:rPr lang="en-US" dirty="0"/>
              <a:t> </a:t>
            </a:r>
            <a:r>
              <a:rPr lang="en-US" dirty="0" err="1"/>
              <a:t>lãng</a:t>
            </a:r>
            <a:r>
              <a:rPr lang="en-US" dirty="0"/>
              <a:t> </a:t>
            </a:r>
            <a:r>
              <a:rPr lang="en-US" dirty="0" err="1"/>
              <a:t>phí</a:t>
            </a:r>
            <a:r>
              <a:rPr lang="en-US" dirty="0"/>
              <a:t> </a:t>
            </a:r>
            <a:r>
              <a:rPr lang="en-US" dirty="0" err="1"/>
              <a:t>không</a:t>
            </a:r>
            <a:r>
              <a:rPr lang="en-US" dirty="0"/>
              <a:t> </a:t>
            </a:r>
            <a:r>
              <a:rPr lang="en-US" dirty="0" err="1"/>
              <a:t>gian</a:t>
            </a:r>
            <a:r>
              <a:rPr lang="en-US" dirty="0"/>
              <a:t> </a:t>
            </a:r>
            <a:r>
              <a:rPr lang="en-US" dirty="0" err="1"/>
              <a:t>địa</a:t>
            </a:r>
            <a:r>
              <a:rPr lang="en-US" dirty="0"/>
              <a:t> </a:t>
            </a:r>
            <a:r>
              <a:rPr lang="en-US" dirty="0" err="1"/>
              <a:t>chỉ</a:t>
            </a:r>
            <a:r>
              <a:rPr lang="en-US" dirty="0"/>
              <a:t> IP.</a:t>
            </a:r>
          </a:p>
          <a:p>
            <a:pPr algn="just"/>
            <a:r>
              <a:rPr lang="en-US" dirty="0" err="1"/>
              <a:t>Kỹ</a:t>
            </a:r>
            <a:r>
              <a:rPr lang="en-US" dirty="0"/>
              <a:t> </a:t>
            </a:r>
            <a:r>
              <a:rPr lang="en-US" dirty="0" err="1"/>
              <a:t>thuật</a:t>
            </a:r>
            <a:r>
              <a:rPr lang="en-US" dirty="0"/>
              <a:t> CIDR (Classless Inter Domain Routing, RFC 1519) </a:t>
            </a:r>
            <a:r>
              <a:rPr lang="en-US" dirty="0" err="1"/>
              <a:t>được</a:t>
            </a:r>
            <a:r>
              <a:rPr lang="en-US" dirty="0"/>
              <a:t> </a:t>
            </a:r>
            <a:r>
              <a:rPr lang="en-US" dirty="0" err="1"/>
              <a:t>giới</a:t>
            </a:r>
            <a:r>
              <a:rPr lang="en-US" dirty="0"/>
              <a:t> thiệu </a:t>
            </a:r>
            <a:r>
              <a:rPr lang="en-US" dirty="0" err="1"/>
              <a:t>năm</a:t>
            </a:r>
            <a:r>
              <a:rPr lang="en-US" dirty="0"/>
              <a:t> 1993 </a:t>
            </a:r>
            <a:r>
              <a:rPr lang="en-US" dirty="0" err="1"/>
              <a:t>bởi</a:t>
            </a:r>
            <a:r>
              <a:rPr lang="en-US" dirty="0"/>
              <a:t> </a:t>
            </a:r>
            <a:r>
              <a:rPr lang="en-US" dirty="0" err="1"/>
              <a:t>tổ</a:t>
            </a:r>
            <a:r>
              <a:rPr lang="en-US" dirty="0"/>
              <a:t> </a:t>
            </a:r>
            <a:r>
              <a:rPr lang="en-US" dirty="0" err="1"/>
              <a:t>chức</a:t>
            </a:r>
            <a:r>
              <a:rPr lang="en-US" dirty="0"/>
              <a:t> IETF </a:t>
            </a:r>
            <a:r>
              <a:rPr lang="en-US" dirty="0" err="1"/>
              <a:t>là</a:t>
            </a:r>
            <a:r>
              <a:rPr lang="en-US" dirty="0"/>
              <a:t> </a:t>
            </a:r>
            <a:r>
              <a:rPr lang="en-US" dirty="0" err="1"/>
              <a:t>giải</a:t>
            </a:r>
            <a:r>
              <a:rPr lang="en-US" dirty="0"/>
              <a:t> </a:t>
            </a:r>
            <a:r>
              <a:rPr lang="en-US" dirty="0" err="1"/>
              <a:t>pháp</a:t>
            </a:r>
            <a:r>
              <a:rPr lang="en-US" dirty="0"/>
              <a:t> </a:t>
            </a:r>
            <a:r>
              <a:rPr lang="en-US" dirty="0" err="1"/>
              <a:t>để</a:t>
            </a:r>
            <a:r>
              <a:rPr lang="en-US" dirty="0"/>
              <a:t> </a:t>
            </a:r>
            <a:r>
              <a:rPr lang="en-US" dirty="0" err="1"/>
              <a:t>giải</a:t>
            </a:r>
            <a:r>
              <a:rPr lang="en-US" dirty="0"/>
              <a:t> </a:t>
            </a:r>
            <a:r>
              <a:rPr lang="en-US" dirty="0" err="1"/>
              <a:t>quyết</a:t>
            </a:r>
            <a:r>
              <a:rPr lang="en-US" dirty="0"/>
              <a:t> </a:t>
            </a:r>
            <a:r>
              <a:rPr lang="en-US" dirty="0" err="1"/>
              <a:t>vấn</a:t>
            </a:r>
            <a:r>
              <a:rPr lang="en-US" dirty="0"/>
              <a:t> </a:t>
            </a:r>
            <a:r>
              <a:rPr lang="en-US" dirty="0" err="1"/>
              <a:t>đề</a:t>
            </a:r>
            <a:r>
              <a:rPr lang="en-US" dirty="0"/>
              <a:t> </a:t>
            </a:r>
            <a:r>
              <a:rPr lang="en-US" dirty="0" err="1"/>
              <a:t>trên</a:t>
            </a:r>
            <a:r>
              <a:rPr lang="en-US" dirty="0"/>
              <a:t>.</a:t>
            </a:r>
          </a:p>
          <a:p>
            <a:pPr algn="just"/>
            <a:r>
              <a:rPr lang="en-US" dirty="0" err="1"/>
              <a:t>Với</a:t>
            </a:r>
            <a:r>
              <a:rPr lang="en-US" dirty="0"/>
              <a:t> CIDR </a:t>
            </a:r>
            <a:r>
              <a:rPr lang="en-US" dirty="0" err="1"/>
              <a:t>những</a:t>
            </a:r>
            <a:r>
              <a:rPr lang="en-US" dirty="0"/>
              <a:t> </a:t>
            </a:r>
            <a:r>
              <a:rPr lang="en-US" dirty="0" err="1"/>
              <a:t>yêu</a:t>
            </a:r>
            <a:r>
              <a:rPr lang="en-US" dirty="0"/>
              <a:t> </a:t>
            </a:r>
            <a:r>
              <a:rPr lang="en-US" dirty="0" err="1"/>
              <a:t>cầu</a:t>
            </a:r>
            <a:r>
              <a:rPr lang="en-US" dirty="0"/>
              <a:t> </a:t>
            </a:r>
            <a:r>
              <a:rPr lang="en-US" dirty="0" err="1"/>
              <a:t>khi</a:t>
            </a:r>
            <a:r>
              <a:rPr lang="en-US" dirty="0"/>
              <a:t> </a:t>
            </a:r>
            <a:r>
              <a:rPr lang="en-US" dirty="0" err="1"/>
              <a:t>phân</a:t>
            </a:r>
            <a:r>
              <a:rPr lang="en-US" dirty="0"/>
              <a:t> chia </a:t>
            </a:r>
            <a:r>
              <a:rPr lang="en-US" dirty="0" err="1"/>
              <a:t>không</a:t>
            </a:r>
            <a:r>
              <a:rPr lang="en-US" dirty="0"/>
              <a:t> </a:t>
            </a:r>
            <a:r>
              <a:rPr lang="en-US" dirty="0" err="1"/>
              <a:t>gian</a:t>
            </a:r>
            <a:r>
              <a:rPr lang="en-US" dirty="0"/>
              <a:t> </a:t>
            </a:r>
            <a:r>
              <a:rPr lang="en-US" dirty="0" err="1"/>
              <a:t>địa</a:t>
            </a:r>
            <a:r>
              <a:rPr lang="en-US" dirty="0"/>
              <a:t> </a:t>
            </a:r>
            <a:r>
              <a:rPr lang="en-US" dirty="0" err="1"/>
              <a:t>chỉ</a:t>
            </a:r>
            <a:r>
              <a:rPr lang="en-US" dirty="0"/>
              <a:t> IP </a:t>
            </a:r>
            <a:r>
              <a:rPr lang="en-US" dirty="0" err="1"/>
              <a:t>lúc</a:t>
            </a:r>
            <a:r>
              <a:rPr lang="en-US" dirty="0"/>
              <a:t> ban </a:t>
            </a:r>
            <a:r>
              <a:rPr lang="en-US" dirty="0" err="1"/>
              <a:t>đầu</a:t>
            </a:r>
            <a:r>
              <a:rPr lang="en-US" dirty="0"/>
              <a:t> </a:t>
            </a:r>
            <a:r>
              <a:rPr lang="en-US" dirty="0" err="1"/>
              <a:t>với</a:t>
            </a:r>
            <a:r>
              <a:rPr lang="en-US" dirty="0"/>
              <a:t> </a:t>
            </a:r>
            <a:r>
              <a:rPr lang="en-US" dirty="0" err="1"/>
              <a:t>phương</a:t>
            </a:r>
            <a:r>
              <a:rPr lang="en-US" dirty="0"/>
              <a:t> </a:t>
            </a:r>
            <a:r>
              <a:rPr lang="en-US" dirty="0" err="1"/>
              <a:t>thức</a:t>
            </a:r>
            <a:r>
              <a:rPr lang="en-US" dirty="0"/>
              <a:t> </a:t>
            </a:r>
            <a:r>
              <a:rPr lang="en-US" dirty="0" err="1"/>
              <a:t>phân</a:t>
            </a:r>
            <a:r>
              <a:rPr lang="en-US" dirty="0"/>
              <a:t> </a:t>
            </a:r>
            <a:r>
              <a:rPr lang="en-US" dirty="0" err="1"/>
              <a:t>lớp</a:t>
            </a:r>
            <a:r>
              <a:rPr lang="en-US" dirty="0"/>
              <a:t> </a:t>
            </a:r>
            <a:r>
              <a:rPr lang="en-US" dirty="0" err="1"/>
              <a:t>chuẩn</a:t>
            </a:r>
            <a:r>
              <a:rPr lang="en-US" dirty="0"/>
              <a:t> </a:t>
            </a:r>
            <a:r>
              <a:rPr lang="en-US" dirty="0" err="1"/>
              <a:t>như</a:t>
            </a:r>
            <a:r>
              <a:rPr lang="en-US" dirty="0"/>
              <a:t> </a:t>
            </a:r>
            <a:r>
              <a:rPr lang="en-US" dirty="0" err="1"/>
              <a:t>địa</a:t>
            </a:r>
            <a:r>
              <a:rPr lang="en-US" dirty="0"/>
              <a:t> </a:t>
            </a:r>
            <a:r>
              <a:rPr lang="en-US" dirty="0" err="1"/>
              <a:t>chỉ</a:t>
            </a:r>
            <a:r>
              <a:rPr lang="en-US" dirty="0"/>
              <a:t> </a:t>
            </a:r>
            <a:r>
              <a:rPr lang="en-US" dirty="0" err="1"/>
              <a:t>lớp</a:t>
            </a:r>
            <a:r>
              <a:rPr lang="en-US" dirty="0"/>
              <a:t> A </a:t>
            </a:r>
            <a:r>
              <a:rPr lang="en-US" dirty="0" err="1"/>
              <a:t>phải</a:t>
            </a:r>
            <a:r>
              <a:rPr lang="en-US" dirty="0"/>
              <a:t> </a:t>
            </a:r>
            <a:r>
              <a:rPr lang="en-US" dirty="0" err="1"/>
              <a:t>sử</a:t>
            </a:r>
            <a:r>
              <a:rPr lang="en-US" dirty="0"/>
              <a:t> </a:t>
            </a:r>
            <a:r>
              <a:rPr lang="en-US" dirty="0" err="1"/>
              <a:t>dụng</a:t>
            </a:r>
            <a:r>
              <a:rPr lang="en-US" dirty="0"/>
              <a:t> network mask </a:t>
            </a:r>
            <a:r>
              <a:rPr lang="en-US" dirty="0" err="1"/>
              <a:t>là</a:t>
            </a:r>
            <a:r>
              <a:rPr lang="en-US" dirty="0"/>
              <a:t> /8, </a:t>
            </a:r>
            <a:r>
              <a:rPr lang="en-US" dirty="0" err="1"/>
              <a:t>địa</a:t>
            </a:r>
            <a:r>
              <a:rPr lang="en-US" dirty="0"/>
              <a:t> </a:t>
            </a:r>
            <a:r>
              <a:rPr lang="en-US" dirty="0" err="1"/>
              <a:t>chỉ</a:t>
            </a:r>
            <a:r>
              <a:rPr lang="en-US" dirty="0"/>
              <a:t> </a:t>
            </a:r>
            <a:r>
              <a:rPr lang="en-US" dirty="0" err="1"/>
              <a:t>mạng</a:t>
            </a:r>
            <a:r>
              <a:rPr lang="en-US" dirty="0"/>
              <a:t> </a:t>
            </a:r>
            <a:r>
              <a:rPr lang="en-US" dirty="0" err="1"/>
              <a:t>lớp</a:t>
            </a:r>
            <a:r>
              <a:rPr lang="en-US" dirty="0"/>
              <a:t> B </a:t>
            </a:r>
            <a:r>
              <a:rPr lang="en-US" dirty="0" err="1"/>
              <a:t>là</a:t>
            </a:r>
            <a:r>
              <a:rPr lang="en-US" dirty="0"/>
              <a:t> /16, hay </a:t>
            </a:r>
            <a:r>
              <a:rPr lang="en-US" dirty="0" err="1"/>
              <a:t>địa</a:t>
            </a:r>
            <a:r>
              <a:rPr lang="en-US" dirty="0"/>
              <a:t> </a:t>
            </a:r>
            <a:r>
              <a:rPr lang="en-US" dirty="0" err="1"/>
              <a:t>chỉ</a:t>
            </a:r>
            <a:r>
              <a:rPr lang="en-US" dirty="0"/>
              <a:t> </a:t>
            </a:r>
            <a:r>
              <a:rPr lang="en-US" dirty="0" err="1"/>
              <a:t>mạng</a:t>
            </a:r>
            <a:r>
              <a:rPr lang="en-US" dirty="0"/>
              <a:t> </a:t>
            </a:r>
            <a:r>
              <a:rPr lang="en-US" dirty="0" err="1"/>
              <a:t>lớp</a:t>
            </a:r>
            <a:r>
              <a:rPr lang="en-US" dirty="0"/>
              <a:t> C </a:t>
            </a:r>
            <a:r>
              <a:rPr lang="en-US" dirty="0" err="1"/>
              <a:t>là</a:t>
            </a:r>
            <a:r>
              <a:rPr lang="en-US" dirty="0"/>
              <a:t> /24 </a:t>
            </a:r>
            <a:r>
              <a:rPr lang="en-US" dirty="0" err="1"/>
              <a:t>được</a:t>
            </a:r>
            <a:r>
              <a:rPr lang="en-US" dirty="0"/>
              <a:t> </a:t>
            </a:r>
            <a:r>
              <a:rPr lang="en-US" dirty="0" err="1"/>
              <a:t>loại</a:t>
            </a:r>
            <a:r>
              <a:rPr lang="en-US" dirty="0"/>
              <a:t> </a:t>
            </a:r>
            <a:r>
              <a:rPr lang="en-US" dirty="0" err="1"/>
              <a:t>bỏ</a:t>
            </a:r>
            <a:r>
              <a:rPr lang="en-US" dirty="0"/>
              <a:t>.</a:t>
            </a:r>
          </a:p>
          <a:p>
            <a:pPr algn="just"/>
            <a:r>
              <a:rPr lang="en-US" dirty="0" err="1"/>
              <a:t>Kỹ</a:t>
            </a:r>
            <a:r>
              <a:rPr lang="en-US" dirty="0"/>
              <a:t> </a:t>
            </a:r>
            <a:r>
              <a:rPr lang="en-US" dirty="0" err="1"/>
              <a:t>thuật</a:t>
            </a:r>
            <a:r>
              <a:rPr lang="en-US" dirty="0"/>
              <a:t> CIDR </a:t>
            </a:r>
            <a:r>
              <a:rPr lang="en-US" dirty="0" err="1"/>
              <a:t>cung</a:t>
            </a:r>
            <a:r>
              <a:rPr lang="en-US" dirty="0"/>
              <a:t> </a:t>
            </a:r>
            <a:r>
              <a:rPr lang="en-US" dirty="0" err="1"/>
              <a:t>cấp</a:t>
            </a:r>
            <a:r>
              <a:rPr lang="en-US" dirty="0"/>
              <a:t> </a:t>
            </a:r>
            <a:r>
              <a:rPr lang="en-US" dirty="0" err="1"/>
              <a:t>nền</a:t>
            </a:r>
            <a:r>
              <a:rPr lang="en-US" dirty="0"/>
              <a:t> </a:t>
            </a:r>
            <a:r>
              <a:rPr lang="en-US" dirty="0" err="1"/>
              <a:t>tảng</a:t>
            </a:r>
            <a:r>
              <a:rPr lang="en-US" dirty="0"/>
              <a:t> </a:t>
            </a:r>
            <a:r>
              <a:rPr lang="en-US" dirty="0" err="1"/>
              <a:t>cho</a:t>
            </a:r>
            <a:r>
              <a:rPr lang="en-US" dirty="0"/>
              <a:t> </a:t>
            </a:r>
            <a:r>
              <a:rPr lang="en-US" dirty="0" err="1"/>
              <a:t>việc</a:t>
            </a:r>
            <a:r>
              <a:rPr lang="en-US" dirty="0"/>
              <a:t> </a:t>
            </a:r>
            <a:r>
              <a:rPr lang="en-US" b="1" dirty="0"/>
              <a:t>chia </a:t>
            </a:r>
            <a:r>
              <a:rPr lang="en-US" b="1" dirty="0" err="1"/>
              <a:t>mạng</a:t>
            </a:r>
            <a:r>
              <a:rPr lang="en-US" b="1" dirty="0"/>
              <a:t> con </a:t>
            </a:r>
            <a:r>
              <a:rPr lang="en-US" dirty="0"/>
              <a:t>(subnetting) - </a:t>
            </a:r>
            <a:r>
              <a:rPr lang="en-US" dirty="0" err="1"/>
              <a:t>cho</a:t>
            </a:r>
            <a:r>
              <a:rPr lang="en-US" dirty="0"/>
              <a:t> </a:t>
            </a:r>
            <a:r>
              <a:rPr lang="en-US" dirty="0" err="1"/>
              <a:t>phép</a:t>
            </a:r>
            <a:r>
              <a:rPr lang="en-US" dirty="0"/>
              <a:t> chia </a:t>
            </a:r>
            <a:r>
              <a:rPr lang="en-US" dirty="0" err="1"/>
              <a:t>một</a:t>
            </a:r>
            <a:r>
              <a:rPr lang="en-US" dirty="0"/>
              <a:t> </a:t>
            </a:r>
            <a:r>
              <a:rPr lang="en-US" dirty="0" err="1"/>
              <a:t>mạng</a:t>
            </a:r>
            <a:r>
              <a:rPr lang="en-US" dirty="0"/>
              <a:t> </a:t>
            </a:r>
            <a:r>
              <a:rPr lang="en-US" dirty="0" err="1"/>
              <a:t>lớn</a:t>
            </a:r>
            <a:r>
              <a:rPr lang="en-US" dirty="0"/>
              <a:t> </a:t>
            </a:r>
            <a:r>
              <a:rPr lang="en-US" dirty="0" err="1"/>
              <a:t>thành</a:t>
            </a:r>
            <a:r>
              <a:rPr lang="en-US" dirty="0"/>
              <a:t> </a:t>
            </a:r>
            <a:r>
              <a:rPr lang="en-US" dirty="0" err="1"/>
              <a:t>những</a:t>
            </a:r>
            <a:r>
              <a:rPr lang="en-US" dirty="0"/>
              <a:t> </a:t>
            </a:r>
            <a:r>
              <a:rPr lang="en-US" dirty="0" err="1"/>
              <a:t>mạng</a:t>
            </a:r>
            <a:r>
              <a:rPr lang="en-US" dirty="0"/>
              <a:t> </a:t>
            </a:r>
            <a:r>
              <a:rPr lang="en-US" dirty="0" err="1"/>
              <a:t>nhỏ</a:t>
            </a:r>
            <a:r>
              <a:rPr lang="en-US" dirty="0"/>
              <a:t> </a:t>
            </a:r>
            <a:r>
              <a:rPr lang="en-US" dirty="0" err="1"/>
              <a:t>hơn</a:t>
            </a:r>
            <a:r>
              <a:rPr lang="en-US" dirty="0"/>
              <a:t> </a:t>
            </a:r>
            <a:r>
              <a:rPr lang="en-US" dirty="0" err="1"/>
              <a:t>gọi</a:t>
            </a:r>
            <a:r>
              <a:rPr lang="en-US" dirty="0"/>
              <a:t> </a:t>
            </a:r>
            <a:r>
              <a:rPr lang="en-US" dirty="0" err="1"/>
              <a:t>là</a:t>
            </a:r>
            <a:r>
              <a:rPr lang="en-US" dirty="0"/>
              <a:t> “</a:t>
            </a:r>
            <a:r>
              <a:rPr lang="en-US" dirty="0" err="1"/>
              <a:t>mạng</a:t>
            </a:r>
            <a:r>
              <a:rPr lang="en-US" dirty="0"/>
              <a:t> con” (sub-networks </a:t>
            </a:r>
            <a:r>
              <a:rPr lang="en-US" dirty="0" err="1"/>
              <a:t>hoặc</a:t>
            </a:r>
            <a:r>
              <a:rPr lang="en-US" dirty="0"/>
              <a:t> subnets) </a:t>
            </a:r>
            <a:r>
              <a:rPr lang="en-US" dirty="0" err="1"/>
              <a:t>bằng</a:t>
            </a:r>
            <a:r>
              <a:rPr lang="en-US" dirty="0"/>
              <a:t> </a:t>
            </a:r>
            <a:r>
              <a:rPr lang="en-US" dirty="0" err="1"/>
              <a:t>cách</a:t>
            </a:r>
            <a:r>
              <a:rPr lang="en-US" dirty="0"/>
              <a:t> </a:t>
            </a:r>
            <a:r>
              <a:rPr lang="en-US" dirty="0" err="1"/>
              <a:t>mượn</a:t>
            </a:r>
            <a:r>
              <a:rPr lang="en-US" dirty="0"/>
              <a:t> </a:t>
            </a:r>
            <a:r>
              <a:rPr lang="en-US" dirty="0" err="1"/>
              <a:t>thêm</a:t>
            </a:r>
            <a:r>
              <a:rPr lang="en-US" dirty="0"/>
              <a:t> n bit </a:t>
            </a:r>
            <a:r>
              <a:rPr lang="en-US" dirty="0" err="1"/>
              <a:t>từ</a:t>
            </a:r>
            <a:r>
              <a:rPr lang="en-US" dirty="0"/>
              <a:t> </a:t>
            </a:r>
            <a:r>
              <a:rPr lang="en-US" dirty="0" err="1"/>
              <a:t>phần</a:t>
            </a:r>
            <a:r>
              <a:rPr lang="en-US" dirty="0"/>
              <a:t> host </a:t>
            </a:r>
            <a:r>
              <a:rPr lang="en-US" dirty="0" err="1"/>
              <a:t>để</a:t>
            </a:r>
            <a:r>
              <a:rPr lang="en-US" dirty="0"/>
              <a:t> </a:t>
            </a:r>
            <a:r>
              <a:rPr lang="en-US" dirty="0" err="1"/>
              <a:t>dùng</a:t>
            </a:r>
            <a:r>
              <a:rPr lang="en-US" dirty="0"/>
              <a:t> </a:t>
            </a:r>
            <a:r>
              <a:rPr lang="en-US" dirty="0" err="1"/>
              <a:t>cho</a:t>
            </a:r>
            <a:r>
              <a:rPr lang="en-US" dirty="0"/>
              <a:t> </a:t>
            </a:r>
            <a:r>
              <a:rPr lang="en-US" dirty="0" err="1"/>
              <a:t>phần</a:t>
            </a:r>
            <a:r>
              <a:rPr lang="en-US" dirty="0"/>
              <a:t> </a:t>
            </a:r>
            <a:r>
              <a:rPr lang="en-US" dirty="0" err="1"/>
              <a:t>mạng</a:t>
            </a:r>
            <a:r>
              <a:rPr lang="en-US" dirty="0"/>
              <a:t>. </a:t>
            </a:r>
            <a:r>
              <a:rPr lang="en-US" dirty="0" err="1"/>
              <a:t>Các</a:t>
            </a:r>
            <a:r>
              <a:rPr lang="en-US" dirty="0"/>
              <a:t> bit </a:t>
            </a:r>
            <a:r>
              <a:rPr lang="en-US" dirty="0" err="1"/>
              <a:t>được</a:t>
            </a:r>
            <a:r>
              <a:rPr lang="en-US" dirty="0"/>
              <a:t> </a:t>
            </a:r>
            <a:r>
              <a:rPr lang="en-US" dirty="0" err="1"/>
              <a:t>mượn</a:t>
            </a:r>
            <a:r>
              <a:rPr lang="en-US" dirty="0"/>
              <a:t> </a:t>
            </a:r>
            <a:r>
              <a:rPr lang="en-US" dirty="0" err="1"/>
              <a:t>này</a:t>
            </a:r>
            <a:r>
              <a:rPr lang="en-US" dirty="0"/>
              <a:t> ta </a:t>
            </a:r>
            <a:r>
              <a:rPr lang="en-US" dirty="0" err="1"/>
              <a:t>gọi</a:t>
            </a:r>
            <a:r>
              <a:rPr lang="en-US" dirty="0"/>
              <a:t> </a:t>
            </a:r>
            <a:r>
              <a:rPr lang="en-US" dirty="0" err="1"/>
              <a:t>là</a:t>
            </a:r>
            <a:r>
              <a:rPr lang="en-US" dirty="0"/>
              <a:t> </a:t>
            </a:r>
            <a:r>
              <a:rPr lang="en-US" dirty="0" err="1"/>
              <a:t>các</a:t>
            </a:r>
            <a:r>
              <a:rPr lang="en-US" dirty="0"/>
              <a:t> </a:t>
            </a:r>
            <a:r>
              <a:rPr lang="en-US" i="1" dirty="0"/>
              <a:t>subnet bits</a:t>
            </a:r>
            <a:r>
              <a:rPr lang="en-US" dirty="0"/>
              <a:t>.</a:t>
            </a:r>
          </a:p>
          <a:p>
            <a:pPr marL="0" indent="0" algn="just">
              <a:buNone/>
            </a:pPr>
            <a:endParaRPr lang="en-US" dirty="0"/>
          </a:p>
          <a:p>
            <a:pPr marL="0" indent="0" algn="just">
              <a:buNone/>
            </a:pPr>
            <a:endParaRPr lang="en-US" dirty="0"/>
          </a:p>
        </p:txBody>
      </p:sp>
      <p:sp>
        <p:nvSpPr>
          <p:cNvPr id="8" name="TextBox 7"/>
          <p:cNvSpPr txBox="1"/>
          <p:nvPr/>
        </p:nvSpPr>
        <p:spPr>
          <a:xfrm>
            <a:off x="339214" y="4866969"/>
            <a:ext cx="3775587" cy="369332"/>
          </a:xfrm>
          <a:prstGeom prst="rect">
            <a:avLst/>
          </a:prstGeom>
          <a:solidFill>
            <a:srgbClr val="FFC000"/>
          </a:solidFill>
        </p:spPr>
        <p:txBody>
          <a:bodyPr wrap="square" rtlCol="0">
            <a:spAutoFit/>
          </a:bodyPr>
          <a:lstStyle/>
          <a:p>
            <a:pPr algn="ctr"/>
            <a:r>
              <a:rPr lang="en-US" b="1"/>
              <a:t>N</a:t>
            </a:r>
          </a:p>
        </p:txBody>
      </p:sp>
      <p:sp>
        <p:nvSpPr>
          <p:cNvPr id="10" name="TextBox 9"/>
          <p:cNvSpPr txBox="1"/>
          <p:nvPr/>
        </p:nvSpPr>
        <p:spPr>
          <a:xfrm>
            <a:off x="4119721" y="4871889"/>
            <a:ext cx="3775587" cy="369332"/>
          </a:xfrm>
          <a:prstGeom prst="rect">
            <a:avLst/>
          </a:prstGeom>
          <a:solidFill>
            <a:srgbClr val="00B0F0"/>
          </a:solidFill>
        </p:spPr>
        <p:txBody>
          <a:bodyPr wrap="square" rtlCol="0">
            <a:spAutoFit/>
          </a:bodyPr>
          <a:lstStyle/>
          <a:p>
            <a:pPr algn="ctr"/>
            <a:r>
              <a:rPr lang="en-US" b="1"/>
              <a:t>H</a:t>
            </a:r>
          </a:p>
        </p:txBody>
      </p:sp>
      <p:sp>
        <p:nvSpPr>
          <p:cNvPr id="11" name="TextBox 10"/>
          <p:cNvSpPr txBox="1"/>
          <p:nvPr/>
        </p:nvSpPr>
        <p:spPr>
          <a:xfrm>
            <a:off x="373630" y="5830527"/>
            <a:ext cx="3775587" cy="369332"/>
          </a:xfrm>
          <a:prstGeom prst="rect">
            <a:avLst/>
          </a:prstGeom>
          <a:solidFill>
            <a:srgbClr val="FFC000"/>
          </a:solidFill>
        </p:spPr>
        <p:txBody>
          <a:bodyPr wrap="square" rtlCol="0">
            <a:spAutoFit/>
          </a:bodyPr>
          <a:lstStyle/>
          <a:p>
            <a:pPr algn="ctr"/>
            <a:r>
              <a:rPr lang="en-US" b="1"/>
              <a:t>N</a:t>
            </a:r>
          </a:p>
        </p:txBody>
      </p:sp>
      <p:sp>
        <p:nvSpPr>
          <p:cNvPr id="12" name="TextBox 11"/>
          <p:cNvSpPr txBox="1"/>
          <p:nvPr/>
        </p:nvSpPr>
        <p:spPr>
          <a:xfrm>
            <a:off x="4119722" y="5830531"/>
            <a:ext cx="1263444" cy="369332"/>
          </a:xfrm>
          <a:prstGeom prst="rect">
            <a:avLst/>
          </a:prstGeom>
          <a:solidFill>
            <a:srgbClr val="FF0000"/>
          </a:solidFill>
        </p:spPr>
        <p:txBody>
          <a:bodyPr wrap="square" rtlCol="0">
            <a:spAutoFit/>
          </a:bodyPr>
          <a:lstStyle/>
          <a:p>
            <a:pPr algn="ctr"/>
            <a:r>
              <a:rPr lang="en-US" b="1"/>
              <a:t>S</a:t>
            </a:r>
          </a:p>
        </p:txBody>
      </p:sp>
      <p:sp>
        <p:nvSpPr>
          <p:cNvPr id="13" name="TextBox 12"/>
          <p:cNvSpPr txBox="1"/>
          <p:nvPr/>
        </p:nvSpPr>
        <p:spPr>
          <a:xfrm>
            <a:off x="5378253" y="5820695"/>
            <a:ext cx="2502307" cy="369332"/>
          </a:xfrm>
          <a:prstGeom prst="rect">
            <a:avLst/>
          </a:prstGeom>
          <a:solidFill>
            <a:srgbClr val="00B0F0"/>
          </a:solidFill>
        </p:spPr>
        <p:txBody>
          <a:bodyPr wrap="square" rtlCol="0">
            <a:spAutoFit/>
          </a:bodyPr>
          <a:lstStyle/>
          <a:p>
            <a:pPr algn="ctr"/>
            <a:r>
              <a:rPr lang="en-US" b="1"/>
              <a:t>H</a:t>
            </a:r>
          </a:p>
        </p:txBody>
      </p:sp>
      <p:cxnSp>
        <p:nvCxnSpPr>
          <p:cNvPr id="14" name="Straight Connector 13"/>
          <p:cNvCxnSpPr/>
          <p:nvPr/>
        </p:nvCxnSpPr>
        <p:spPr>
          <a:xfrm>
            <a:off x="5417579" y="5697795"/>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373630" y="5514994"/>
            <a:ext cx="3287684" cy="0"/>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576949" y="5514994"/>
            <a:ext cx="3318359" cy="0"/>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31347" y="5323266"/>
            <a:ext cx="864339" cy="369332"/>
          </a:xfrm>
          <a:prstGeom prst="rect">
            <a:avLst/>
          </a:prstGeom>
          <a:noFill/>
        </p:spPr>
        <p:txBody>
          <a:bodyPr wrap="none" rtlCol="0">
            <a:spAutoFit/>
          </a:bodyPr>
          <a:lstStyle/>
          <a:p>
            <a:r>
              <a:rPr lang="en-US"/>
              <a:t>32 bits</a:t>
            </a:r>
          </a:p>
        </p:txBody>
      </p:sp>
      <mc:AlternateContent xmlns:mc="http://schemas.openxmlformats.org/markup-compatibility/2006" xmlns:a14="http://schemas.microsoft.com/office/drawing/2010/main">
        <mc:Choice Requires="a14">
          <p:sp>
            <p:nvSpPr>
              <p:cNvPr id="20" name="TextBox 19"/>
              <p:cNvSpPr txBox="1"/>
              <p:nvPr/>
            </p:nvSpPr>
            <p:spPr>
              <a:xfrm>
                <a:off x="8436077" y="4940709"/>
                <a:ext cx="3465871" cy="1488484"/>
              </a:xfrm>
              <a:prstGeom prst="rect">
                <a:avLst/>
              </a:prstGeom>
              <a:solidFill>
                <a:schemeClr val="bg2">
                  <a:lumMod val="75000"/>
                </a:schemeClr>
              </a:solidFill>
            </p:spPr>
            <p:txBody>
              <a:bodyPr wrap="square" rtlCol="0">
                <a:spAutoFit/>
              </a:bodyPr>
              <a:lstStyle/>
              <a:p>
                <a:r>
                  <a:rPr lang="en-US" b="1">
                    <a:solidFill>
                      <a:schemeClr val="tx1">
                        <a:lumMod val="50000"/>
                      </a:schemeClr>
                    </a:solidFill>
                  </a:rPr>
                  <a:t>N + S + H = 32</a:t>
                </a:r>
              </a:p>
              <a:p>
                <a:r>
                  <a:rPr lang="en-US" b="1">
                    <a:solidFill>
                      <a:schemeClr val="tx1">
                        <a:lumMod val="50000"/>
                      </a:schemeClr>
                    </a:solidFill>
                  </a:rPr>
                  <a:t>Độ dài prefix = N + S</a:t>
                </a:r>
              </a:p>
              <a:p>
                <a:r>
                  <a:rPr lang="en-US"/>
                  <a:t>Số subnet được tính: </a:t>
                </a:r>
                <a14:m>
                  <m:oMath xmlns:m="http://schemas.openxmlformats.org/officeDocument/2006/math">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𝟐</m:t>
                        </m:r>
                      </m:e>
                      <m:sup>
                        <m:r>
                          <a:rPr lang="en-US" b="1" i="1" smtClean="0">
                            <a:solidFill>
                              <a:srgbClr val="FF0000"/>
                            </a:solidFill>
                            <a:latin typeface="Cambria Math" panose="02040503050406030204" pitchFamily="18" charset="0"/>
                          </a:rPr>
                          <m:t>𝑺</m:t>
                        </m:r>
                      </m:sup>
                    </m:sSup>
                  </m:oMath>
                </a14:m>
                <a:endParaRPr lang="en-US" b="1"/>
              </a:p>
              <a:p>
                <a:r>
                  <a:rPr lang="en-US"/>
                  <a:t>Số địa chỉ host trong một subnet được tính: </a:t>
                </a:r>
                <a14:m>
                  <m:oMath xmlns:m="http://schemas.openxmlformats.org/officeDocument/2006/math">
                    <m:sSup>
                      <m:sSupPr>
                        <m:ctrlPr>
                          <a:rPr lang="en-US" b="1" i="1" smtClean="0">
                            <a:solidFill>
                              <a:srgbClr val="0070C0"/>
                            </a:solidFill>
                            <a:latin typeface="Cambria Math" panose="02040503050406030204" pitchFamily="18" charset="0"/>
                          </a:rPr>
                        </m:ctrlPr>
                      </m:sSupPr>
                      <m:e>
                        <m:r>
                          <a:rPr lang="en-US" b="1" i="1">
                            <a:solidFill>
                              <a:srgbClr val="0070C0"/>
                            </a:solidFill>
                            <a:latin typeface="Cambria Math" panose="02040503050406030204" pitchFamily="18" charset="0"/>
                          </a:rPr>
                          <m:t>𝟐</m:t>
                        </m:r>
                      </m:e>
                      <m:sup>
                        <m:r>
                          <a:rPr lang="en-US" b="1" i="1" smtClean="0">
                            <a:solidFill>
                              <a:srgbClr val="0070C0"/>
                            </a:solidFill>
                            <a:latin typeface="Cambria Math" panose="02040503050406030204" pitchFamily="18" charset="0"/>
                          </a:rPr>
                          <m:t>𝑯</m:t>
                        </m:r>
                      </m:sup>
                    </m:sSup>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𝟐</m:t>
                    </m:r>
                  </m:oMath>
                </a14:m>
                <a:endParaRPr lang="en-US" b="1">
                  <a:solidFill>
                    <a:srgbClr val="0070C0"/>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436077" y="4940709"/>
                <a:ext cx="3465871" cy="1488484"/>
              </a:xfrm>
              <a:prstGeom prst="rect">
                <a:avLst/>
              </a:prstGeom>
              <a:blipFill>
                <a:blip r:embed="rId3"/>
                <a:stretch>
                  <a:fillRect l="-1585" t="-2041" r="-3169" b="-5306"/>
                </a:stretch>
              </a:blipFill>
            </p:spPr>
            <p:txBody>
              <a:bodyPr/>
              <a:lstStyle/>
              <a:p>
                <a:r>
                  <a:rPr lang="en-US">
                    <a:noFill/>
                  </a:rPr>
                  <a:t> </a:t>
                </a:r>
              </a:p>
            </p:txBody>
          </p:sp>
        </mc:Fallback>
      </mc:AlternateContent>
      <p:cxnSp>
        <p:nvCxnSpPr>
          <p:cNvPr id="15" name="Straight Arrow Connector 14"/>
          <p:cNvCxnSpPr/>
          <p:nvPr/>
        </p:nvCxnSpPr>
        <p:spPr>
          <a:xfrm flipH="1">
            <a:off x="393298" y="6592521"/>
            <a:ext cx="1376508" cy="401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524865" y="6592521"/>
            <a:ext cx="1882880" cy="402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2035275" y="6400796"/>
            <a:ext cx="1479892" cy="369332"/>
          </a:xfrm>
          <a:prstGeom prst="rect">
            <a:avLst/>
          </a:prstGeom>
          <a:noFill/>
        </p:spPr>
        <p:txBody>
          <a:bodyPr wrap="none" rtlCol="0">
            <a:spAutoFit/>
          </a:bodyPr>
          <a:lstStyle/>
          <a:p>
            <a:r>
              <a:rPr lang="en-US" dirty="0" err="1"/>
              <a:t>Độ</a:t>
            </a:r>
            <a:r>
              <a:rPr lang="en-US" dirty="0"/>
              <a:t> </a:t>
            </a:r>
            <a:r>
              <a:rPr lang="en-US" dirty="0" err="1"/>
              <a:t>dài</a:t>
            </a:r>
            <a:r>
              <a:rPr lang="en-US" dirty="0"/>
              <a:t> prefix</a:t>
            </a:r>
          </a:p>
        </p:txBody>
      </p:sp>
    </p:spTree>
    <p:extLst>
      <p:ext uri="{BB962C8B-B14F-4D97-AF65-F5344CB8AC3E}">
        <p14:creationId xmlns:p14="http://schemas.microsoft.com/office/powerpoint/2010/main" val="1702018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789269"/>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a:solidFill>
                  <a:srgbClr val="0070C0"/>
                </a:solidFill>
                <a:cs typeface="Helvetica World" panose="020B0500040000020004" pitchFamily="34" charset="0"/>
              </a:rPr>
              <a:t>KỸ THUẬT</a:t>
            </a:r>
            <a:r>
              <a:rPr kumimoji="0" lang="en-US" sz="1800" b="1" i="0" u="none" strike="noStrike" kern="1200" cap="none" spc="0" normalizeH="0">
                <a:ln>
                  <a:noFill/>
                </a:ln>
                <a:solidFill>
                  <a:srgbClr val="0070C0"/>
                </a:solidFill>
                <a:effectLst/>
                <a:uLnTx/>
                <a:uFillTx/>
                <a:cs typeface="Helvetica World" panose="020B0500040000020004" pitchFamily="34" charset="0"/>
              </a:rPr>
              <a:t> CIDR &amp; CƠ BẢN VỀ CHIA MẠNG CON</a:t>
            </a:r>
            <a:endParaRPr kumimoji="0" lang="en-US" sz="1800" b="1" i="0" u="none" strike="noStrike" kern="1200" cap="none" spc="0" normalizeH="0" baseline="0" noProof="0">
              <a:ln>
                <a:noFill/>
              </a:ln>
              <a:solidFill>
                <a:srgbClr val="0070C0"/>
              </a:solidFill>
              <a:effectLst/>
              <a:uLnTx/>
              <a:uFillTx/>
              <a:cs typeface="Helvetica World" panose="020B05000400000200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7707" y="2466769"/>
            <a:ext cx="3491225" cy="1345345"/>
          </a:xfrm>
          <a:prstGeom prst="rect">
            <a:avLst/>
          </a:prstGeom>
        </p:spPr>
      </p:pic>
      <p:sp>
        <p:nvSpPr>
          <p:cNvPr id="5" name="TextBox 4"/>
          <p:cNvSpPr txBox="1"/>
          <p:nvPr/>
        </p:nvSpPr>
        <p:spPr>
          <a:xfrm>
            <a:off x="4911209" y="2536724"/>
            <a:ext cx="1851789" cy="369332"/>
          </a:xfrm>
          <a:prstGeom prst="rect">
            <a:avLst/>
          </a:prstGeom>
          <a:noFill/>
        </p:spPr>
        <p:txBody>
          <a:bodyPr wrap="none" rtlCol="0">
            <a:spAutoFit/>
          </a:bodyPr>
          <a:lstStyle/>
          <a:p>
            <a:r>
              <a:rPr lang="en-US"/>
              <a:t>205.10.152.0/24</a:t>
            </a:r>
          </a:p>
        </p:txBody>
      </p:sp>
      <p:graphicFrame>
        <p:nvGraphicFramePr>
          <p:cNvPr id="7" name="Table 6"/>
          <p:cNvGraphicFramePr>
            <a:graphicFrameLocks noGrp="1"/>
          </p:cNvGraphicFramePr>
          <p:nvPr>
            <p:extLst>
              <p:ext uri="{D42A27DB-BD31-4B8C-83A1-F6EECF244321}">
                <p14:modId xmlns:p14="http://schemas.microsoft.com/office/powerpoint/2010/main" val="3852823230"/>
              </p:ext>
            </p:extLst>
          </p:nvPr>
        </p:nvGraphicFramePr>
        <p:xfrm>
          <a:off x="2548933" y="4208686"/>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a:solidFill>
                            <a:srgbClr val="FFC000"/>
                          </a:solidFill>
                        </a:rPr>
                        <a:t>1 1 0 0 1 1 0 1 . 0 0 0 0 1 0 1 0 . 1 0 0 1 1 0 0 0 . </a:t>
                      </a:r>
                      <a:r>
                        <a:rPr lang="en-US" b="1">
                          <a:solidFill>
                            <a:srgbClr val="00B0F0"/>
                          </a:solidFill>
                        </a:rPr>
                        <a:t>0 0 0 0 0 0 0 0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165061042"/>
              </p:ext>
            </p:extLst>
          </p:nvPr>
        </p:nvGraphicFramePr>
        <p:xfrm>
          <a:off x="2568601" y="5496712"/>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a:solidFill>
                            <a:srgbClr val="FFC000"/>
                          </a:solidFill>
                        </a:rPr>
                        <a:t>1 1 1 1 1 1 1 1 . 1 1 1 1 1 1 1 1 . 1 1 1 1 1 1 1 1 . </a:t>
                      </a:r>
                      <a:r>
                        <a:rPr lang="en-US" b="1">
                          <a:solidFill>
                            <a:srgbClr val="00B0F0"/>
                          </a:solidFill>
                        </a:rPr>
                        <a:t>0 0 0 0 0 0 0 0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4" name="TextBox 3"/>
          <p:cNvSpPr txBox="1"/>
          <p:nvPr/>
        </p:nvSpPr>
        <p:spPr>
          <a:xfrm>
            <a:off x="2568601" y="4748982"/>
            <a:ext cx="6724918" cy="369332"/>
          </a:xfrm>
          <a:prstGeom prst="rect">
            <a:avLst/>
          </a:prstGeom>
          <a:noFill/>
        </p:spPr>
        <p:txBody>
          <a:bodyPr wrap="none" rtlCol="0">
            <a:spAutoFit/>
          </a:bodyPr>
          <a:lstStyle/>
          <a:p>
            <a:r>
              <a:rPr lang="en-US"/>
              <a:t>     </a:t>
            </a:r>
            <a:r>
              <a:rPr lang="en-US" b="1"/>
              <a:t>205             .       10              .    152               .           0             </a:t>
            </a:r>
          </a:p>
        </p:txBody>
      </p:sp>
      <p:sp>
        <p:nvSpPr>
          <p:cNvPr id="10" name="TextBox 9"/>
          <p:cNvSpPr txBox="1"/>
          <p:nvPr/>
        </p:nvSpPr>
        <p:spPr>
          <a:xfrm>
            <a:off x="2588269" y="6169740"/>
            <a:ext cx="6853158" cy="369332"/>
          </a:xfrm>
          <a:prstGeom prst="rect">
            <a:avLst/>
          </a:prstGeom>
          <a:noFill/>
        </p:spPr>
        <p:txBody>
          <a:bodyPr wrap="none" rtlCol="0">
            <a:spAutoFit/>
          </a:bodyPr>
          <a:lstStyle/>
          <a:p>
            <a:r>
              <a:rPr lang="en-US"/>
              <a:t>     </a:t>
            </a:r>
            <a:r>
              <a:rPr lang="en-US" b="1"/>
              <a:t>255             .       255             .    255               .           0             </a:t>
            </a:r>
          </a:p>
        </p:txBody>
      </p:sp>
      <p:cxnSp>
        <p:nvCxnSpPr>
          <p:cNvPr id="6" name="Straight Connector 5"/>
          <p:cNvCxnSpPr/>
          <p:nvPr/>
        </p:nvCxnSpPr>
        <p:spPr>
          <a:xfrm>
            <a:off x="7551171" y="4026309"/>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570839" y="5373327"/>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66220" y="6474542"/>
            <a:ext cx="1531188" cy="369332"/>
          </a:xfrm>
          <a:prstGeom prst="rect">
            <a:avLst/>
          </a:prstGeom>
          <a:noFill/>
        </p:spPr>
        <p:txBody>
          <a:bodyPr wrap="none" rtlCol="0">
            <a:spAutoFit/>
          </a:bodyPr>
          <a:lstStyle/>
          <a:p>
            <a:r>
              <a:rPr lang="en-US"/>
              <a:t>Subnet mask</a:t>
            </a:r>
          </a:p>
        </p:txBody>
      </p:sp>
      <p:sp>
        <p:nvSpPr>
          <p:cNvPr id="12" name="TextBox 11"/>
          <p:cNvSpPr txBox="1"/>
          <p:nvPr/>
        </p:nvSpPr>
        <p:spPr>
          <a:xfrm>
            <a:off x="5040137" y="3407490"/>
            <a:ext cx="2085979" cy="338554"/>
          </a:xfrm>
          <a:prstGeom prst="rect">
            <a:avLst/>
          </a:prstGeom>
          <a:noFill/>
        </p:spPr>
        <p:txBody>
          <a:bodyPr wrap="square" rtlCol="0">
            <a:spAutoFit/>
          </a:bodyPr>
          <a:lstStyle/>
          <a:p>
            <a:r>
              <a:rPr lang="en-US" sz="1600"/>
              <a:t>Point-to-point link</a:t>
            </a:r>
            <a:endParaRPr lang="en-US" sz="1600" dirty="0"/>
          </a:p>
        </p:txBody>
      </p:sp>
    </p:spTree>
    <p:extLst>
      <p:ext uri="{BB962C8B-B14F-4D97-AF65-F5344CB8AC3E}">
        <p14:creationId xmlns:p14="http://schemas.microsoft.com/office/powerpoint/2010/main" val="148783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635113"/>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a:solidFill>
                  <a:srgbClr val="0070C0"/>
                </a:solidFill>
                <a:cs typeface="Helvetica World" panose="020B0500040000020004" pitchFamily="34" charset="0"/>
              </a:rPr>
              <a:t>KỸ THUẬT</a:t>
            </a:r>
            <a:r>
              <a:rPr kumimoji="0" lang="en-US" sz="1800" b="1" i="0" u="none" strike="noStrike" kern="1200" cap="none" spc="0" normalizeH="0">
                <a:ln>
                  <a:noFill/>
                </a:ln>
                <a:solidFill>
                  <a:srgbClr val="0070C0"/>
                </a:solidFill>
                <a:effectLst/>
                <a:uLnTx/>
                <a:uFillTx/>
                <a:cs typeface="Helvetica World" panose="020B0500040000020004" pitchFamily="34" charset="0"/>
              </a:rPr>
              <a:t> CIDR &amp; CƠ BẢN VỀ CHIA MẠNG CON</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baseline="0" noProof="0">
                <a:solidFill>
                  <a:srgbClr val="FFC000"/>
                </a:solidFill>
                <a:cs typeface="Helvetica World" panose="020B0500040000020004" pitchFamily="34" charset="0"/>
              </a:rPr>
              <a:t>TRƯỜNG</a:t>
            </a:r>
            <a:r>
              <a:rPr lang="en-US" sz="1800" noProof="0">
                <a:solidFill>
                  <a:srgbClr val="FFC000"/>
                </a:solidFill>
                <a:cs typeface="Helvetica World" panose="020B0500040000020004" pitchFamily="34" charset="0"/>
              </a:rPr>
              <a:t> HỢP MƯỢN 1 BIT</a:t>
            </a:r>
            <a:endParaRPr kumimoji="0" lang="en-US" sz="1800" b="1" i="0" u="none" strike="noStrike" kern="1200" cap="none" spc="0" normalizeH="0" baseline="0" noProof="0">
              <a:ln>
                <a:noFill/>
              </a:ln>
              <a:solidFill>
                <a:srgbClr val="FFC000"/>
              </a:solidFill>
              <a:effectLst/>
              <a:uLnTx/>
              <a:uFillTx/>
              <a:cs typeface="Helvetica World" panose="020B05000400000200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3000" y="1847333"/>
            <a:ext cx="3491225" cy="1345345"/>
          </a:xfrm>
          <a:prstGeom prst="rect">
            <a:avLst/>
          </a:prstGeom>
        </p:spPr>
      </p:pic>
      <p:sp>
        <p:nvSpPr>
          <p:cNvPr id="5" name="TextBox 4"/>
          <p:cNvSpPr txBox="1"/>
          <p:nvPr/>
        </p:nvSpPr>
        <p:spPr>
          <a:xfrm>
            <a:off x="2153259" y="1917288"/>
            <a:ext cx="1851789" cy="369332"/>
          </a:xfrm>
          <a:prstGeom prst="rect">
            <a:avLst/>
          </a:prstGeom>
          <a:noFill/>
        </p:spPr>
        <p:txBody>
          <a:bodyPr wrap="none" rtlCol="0">
            <a:spAutoFit/>
          </a:bodyPr>
          <a:lstStyle/>
          <a:p>
            <a:r>
              <a:rPr lang="en-US" dirty="0"/>
              <a:t>205.10.152.0/25</a:t>
            </a:r>
          </a:p>
        </p:txBody>
      </p:sp>
      <p:graphicFrame>
        <p:nvGraphicFramePr>
          <p:cNvPr id="7" name="Table 6"/>
          <p:cNvGraphicFramePr>
            <a:graphicFrameLocks noGrp="1"/>
          </p:cNvGraphicFramePr>
          <p:nvPr>
            <p:extLst>
              <p:ext uri="{D42A27DB-BD31-4B8C-83A1-F6EECF244321}">
                <p14:modId xmlns:p14="http://schemas.microsoft.com/office/powerpoint/2010/main" val="2465993496"/>
              </p:ext>
            </p:extLst>
          </p:nvPr>
        </p:nvGraphicFramePr>
        <p:xfrm>
          <a:off x="56455" y="3589250"/>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dirty="0">
                          <a:solidFill>
                            <a:srgbClr val="FFC000"/>
                          </a:solidFill>
                        </a:rPr>
                        <a:t>1 1 0 0 1 1 0 1 . 0 0 0 0 1 0 1 0 . 1 0 0 1 1 0 0 0 . </a:t>
                      </a:r>
                      <a:r>
                        <a:rPr lang="en-US" b="1" dirty="0">
                          <a:solidFill>
                            <a:srgbClr val="FF0000"/>
                          </a:solidFill>
                        </a:rPr>
                        <a:t>0</a:t>
                      </a:r>
                      <a:r>
                        <a:rPr lang="en-US" b="1" dirty="0">
                          <a:solidFill>
                            <a:srgbClr val="00B0F0"/>
                          </a:solidFill>
                        </a:rPr>
                        <a:t> 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973838607"/>
              </p:ext>
            </p:extLst>
          </p:nvPr>
        </p:nvGraphicFramePr>
        <p:xfrm>
          <a:off x="76123" y="4877276"/>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dirty="0">
                          <a:solidFill>
                            <a:srgbClr val="FFC000"/>
                          </a:solidFill>
                        </a:rPr>
                        <a:t>1 1 1 1 1 1 1 1 . 1 1 1 1 1 1 1 1 . 1 1 1 1 1 1 1 1 . </a:t>
                      </a:r>
                      <a:r>
                        <a:rPr lang="en-US" b="1" dirty="0">
                          <a:solidFill>
                            <a:srgbClr val="FF0000"/>
                          </a:solidFill>
                        </a:rPr>
                        <a:t>1 </a:t>
                      </a:r>
                      <a:r>
                        <a:rPr lang="en-US" b="1" dirty="0">
                          <a:solidFill>
                            <a:srgbClr val="00B0F0"/>
                          </a:solidFill>
                        </a:rPr>
                        <a:t>0 0 0 0 0 0 0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4" name="TextBox 3"/>
          <p:cNvSpPr txBox="1"/>
          <p:nvPr/>
        </p:nvSpPr>
        <p:spPr>
          <a:xfrm>
            <a:off x="76123" y="4129546"/>
            <a:ext cx="6724918" cy="369332"/>
          </a:xfrm>
          <a:prstGeom prst="rect">
            <a:avLst/>
          </a:prstGeom>
          <a:noFill/>
        </p:spPr>
        <p:txBody>
          <a:bodyPr wrap="none" rtlCol="0">
            <a:spAutoFit/>
          </a:bodyPr>
          <a:lstStyle/>
          <a:p>
            <a:r>
              <a:rPr lang="en-US" dirty="0"/>
              <a:t>     </a:t>
            </a:r>
            <a:r>
              <a:rPr lang="en-US" b="1" dirty="0"/>
              <a:t>205             .       10              .    152               .           0             </a:t>
            </a:r>
          </a:p>
        </p:txBody>
      </p:sp>
      <p:sp>
        <p:nvSpPr>
          <p:cNvPr id="10" name="TextBox 9"/>
          <p:cNvSpPr txBox="1"/>
          <p:nvPr/>
        </p:nvSpPr>
        <p:spPr>
          <a:xfrm>
            <a:off x="95791" y="5550304"/>
            <a:ext cx="6705250" cy="369332"/>
          </a:xfrm>
          <a:prstGeom prst="rect">
            <a:avLst/>
          </a:prstGeom>
          <a:noFill/>
        </p:spPr>
        <p:txBody>
          <a:bodyPr wrap="square" rtlCol="0">
            <a:spAutoFit/>
          </a:bodyPr>
          <a:lstStyle/>
          <a:p>
            <a:r>
              <a:rPr lang="en-US"/>
              <a:t>     </a:t>
            </a:r>
            <a:r>
              <a:rPr lang="en-US" b="1"/>
              <a:t>255             .       255             .    255               .          128            </a:t>
            </a:r>
          </a:p>
        </p:txBody>
      </p:sp>
      <p:cxnSp>
        <p:nvCxnSpPr>
          <p:cNvPr id="9" name="Straight Connector 8"/>
          <p:cNvCxnSpPr/>
          <p:nvPr/>
        </p:nvCxnSpPr>
        <p:spPr>
          <a:xfrm>
            <a:off x="5284833" y="4753891"/>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270087" y="3515026"/>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 y="5855106"/>
            <a:ext cx="1531188" cy="369332"/>
          </a:xfrm>
          <a:prstGeom prst="rect">
            <a:avLst/>
          </a:prstGeom>
          <a:noFill/>
        </p:spPr>
        <p:txBody>
          <a:bodyPr wrap="none" rtlCol="0">
            <a:spAutoFit/>
          </a:bodyPr>
          <a:lstStyle/>
          <a:p>
            <a:r>
              <a:rPr lang="en-US"/>
              <a:t>Subnet mask</a:t>
            </a:r>
          </a:p>
        </p:txBody>
      </p:sp>
      <p:sp>
        <p:nvSpPr>
          <p:cNvPr id="12" name="TextBox 11"/>
          <p:cNvSpPr txBox="1"/>
          <p:nvPr/>
        </p:nvSpPr>
        <p:spPr>
          <a:xfrm>
            <a:off x="7123480" y="4085295"/>
            <a:ext cx="4965284" cy="2616101"/>
          </a:xfrm>
          <a:prstGeom prst="rect">
            <a:avLst/>
          </a:prstGeom>
          <a:noFill/>
        </p:spPr>
        <p:txBody>
          <a:bodyPr wrap="square" rtlCol="0">
            <a:spAutoFit/>
          </a:bodyPr>
          <a:lstStyle/>
          <a:p>
            <a:r>
              <a:rPr lang="en-US" sz="1600" b="1" u="sng" dirty="0"/>
              <a:t>Subnet 1</a:t>
            </a:r>
            <a:r>
              <a:rPr lang="en-US" sz="1600" b="1" dirty="0"/>
              <a:t>: </a:t>
            </a:r>
            <a:r>
              <a:rPr lang="en-US" sz="1600" dirty="0"/>
              <a:t>205.10.152.0/25</a:t>
            </a:r>
            <a:endParaRPr lang="en-US" sz="1600" b="1" dirty="0"/>
          </a:p>
          <a:p>
            <a:r>
              <a:rPr lang="en-US" sz="1600" dirty="0"/>
              <a:t>Đ/c </a:t>
            </a:r>
            <a:r>
              <a:rPr lang="en-US" sz="1600" dirty="0" err="1"/>
              <a:t>mạng</a:t>
            </a:r>
            <a:r>
              <a:rPr lang="en-US" sz="1600" dirty="0"/>
              <a:t>: 205.10.152.0</a:t>
            </a:r>
          </a:p>
          <a:p>
            <a:r>
              <a:rPr lang="en-US" sz="1600" dirty="0"/>
              <a:t>Đ/c broadcast: 205.10.152.127</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205.10.152.1 – 205.10.152.126</a:t>
            </a:r>
          </a:p>
          <a:p>
            <a:r>
              <a:rPr lang="en-US" sz="1600" b="1" u="sng" dirty="0"/>
              <a:t>Subnet 2:</a:t>
            </a:r>
            <a:r>
              <a:rPr lang="en-US" sz="1600" dirty="0"/>
              <a:t> 205.10.152.128/25</a:t>
            </a:r>
            <a:endParaRPr lang="en-US" sz="1600" b="1" u="sng" dirty="0"/>
          </a:p>
          <a:p>
            <a:r>
              <a:rPr lang="en-US" sz="1600" dirty="0"/>
              <a:t>Đ/c </a:t>
            </a:r>
            <a:r>
              <a:rPr lang="en-US" sz="1600" dirty="0" err="1"/>
              <a:t>mạng</a:t>
            </a:r>
            <a:r>
              <a:rPr lang="en-US" sz="1600" dirty="0"/>
              <a:t>: 205.10.152.128</a:t>
            </a:r>
          </a:p>
          <a:p>
            <a:r>
              <a:rPr lang="en-US" sz="1600" dirty="0"/>
              <a:t>Đ/c broadcast: 205.10.152.255</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205.10.152.129 – 205.10.152.254</a:t>
            </a:r>
          </a:p>
          <a:p>
            <a:endParaRPr lang="en-US" dirty="0"/>
          </a:p>
          <a:p>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6801041" y="2286620"/>
                <a:ext cx="5287723" cy="1224887"/>
              </a:xfrm>
              <a:prstGeom prst="rect">
                <a:avLst/>
              </a:prstGeom>
              <a:solidFill>
                <a:schemeClr val="accent3">
                  <a:lumMod val="60000"/>
                  <a:lumOff val="40000"/>
                </a:schemeClr>
              </a:solidFill>
            </p:spPr>
            <p:txBody>
              <a:bodyPr wrap="square" rtlCol="0">
                <a:spAutoFit/>
              </a:bodyPr>
              <a:lstStyle/>
              <a:p>
                <a:r>
                  <a:rPr lang="en-US" dirty="0" err="1"/>
                  <a:t>Số</a:t>
                </a:r>
                <a:r>
                  <a:rPr lang="en-US" dirty="0"/>
                  <a:t> bit </a:t>
                </a:r>
                <a:r>
                  <a:rPr lang="en-US" dirty="0" err="1"/>
                  <a:t>mượn</a:t>
                </a:r>
                <a:r>
                  <a:rPr lang="en-US" dirty="0"/>
                  <a:t>: S = 1</a:t>
                </a:r>
              </a:p>
              <a:p>
                <a:r>
                  <a:rPr lang="en-US" dirty="0" err="1"/>
                  <a:t>Số</a:t>
                </a:r>
                <a:r>
                  <a:rPr lang="en-US" dirty="0"/>
                  <a:t> subnet: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𝑆</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r>
                      <a:rPr lang="en-US" b="0" i="1" smtClean="0">
                        <a:latin typeface="Cambria Math" panose="02040503050406030204" pitchFamily="18" charset="0"/>
                      </a:rPr>
                      <m:t>=2</m:t>
                    </m:r>
                  </m:oMath>
                </a14:m>
                <a:endParaRPr lang="en-US" b="0" dirty="0"/>
              </a:p>
              <a:p>
                <a:r>
                  <a:rPr lang="en-US" dirty="0" err="1"/>
                  <a:t>Số</a:t>
                </a:r>
                <a:r>
                  <a:rPr lang="en-US" dirty="0"/>
                  <a:t> bit </a:t>
                </a:r>
                <a:r>
                  <a:rPr lang="en-US" dirty="0" err="1"/>
                  <a:t>còn</a:t>
                </a:r>
                <a:r>
                  <a:rPr lang="en-US" dirty="0"/>
                  <a:t> </a:t>
                </a:r>
                <a:r>
                  <a:rPr lang="en-US" dirty="0" err="1"/>
                  <a:t>lại</a:t>
                </a:r>
                <a:r>
                  <a:rPr lang="en-US" dirty="0"/>
                  <a:t> </a:t>
                </a:r>
                <a:r>
                  <a:rPr lang="en-US" dirty="0" err="1"/>
                  <a:t>trong</a:t>
                </a:r>
                <a:r>
                  <a:rPr lang="en-US" dirty="0"/>
                  <a:t> </a:t>
                </a:r>
                <a:r>
                  <a:rPr lang="en-US" dirty="0" err="1"/>
                  <a:t>phần</a:t>
                </a:r>
                <a:r>
                  <a:rPr lang="en-US" dirty="0"/>
                  <a:t> host: H = 8 – S = 8 -1 = 7</a:t>
                </a:r>
                <a:endParaRPr lang="en-US" b="0" dirty="0"/>
              </a:p>
              <a:p>
                <a:r>
                  <a:rPr lang="en-US" dirty="0" err="1"/>
                  <a:t>Số</a:t>
                </a:r>
                <a:r>
                  <a:rPr lang="en-US" dirty="0"/>
                  <a:t> host </a:t>
                </a:r>
                <a:r>
                  <a:rPr lang="en-US" dirty="0" err="1"/>
                  <a:t>trong</a:t>
                </a:r>
                <a:r>
                  <a:rPr lang="en-US" dirty="0"/>
                  <a:t> </a:t>
                </a:r>
                <a:r>
                  <a:rPr lang="en-US" dirty="0" err="1"/>
                  <a:t>mỗi</a:t>
                </a:r>
                <a:r>
                  <a:rPr lang="en-US" dirty="0"/>
                  <a:t> subnet: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𝐻</m:t>
                        </m:r>
                      </m:sup>
                    </m:sSup>
                    <m:r>
                      <a:rPr lang="en-US" i="1">
                        <a:latin typeface="Cambria Math" panose="02040503050406030204" pitchFamily="18" charset="0"/>
                      </a:rPr>
                      <m:t>−2</m:t>
                    </m:r>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7</m:t>
                        </m:r>
                      </m:sup>
                    </m:sSup>
                    <m:r>
                      <a:rPr lang="en-US" b="0" i="1" smtClean="0">
                        <a:latin typeface="Cambria Math" panose="02040503050406030204" pitchFamily="18" charset="0"/>
                      </a:rPr>
                      <m:t>−2=126</m:t>
                    </m:r>
                  </m:oMath>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801041" y="2286620"/>
                <a:ext cx="5287723" cy="1224887"/>
              </a:xfrm>
              <a:prstGeom prst="rect">
                <a:avLst/>
              </a:prstGeom>
              <a:blipFill>
                <a:blip r:embed="rId4"/>
                <a:stretch>
                  <a:fillRect l="-1038" t="-2488" r="-692" b="-5473"/>
                </a:stretch>
              </a:blipFill>
            </p:spPr>
            <p:txBody>
              <a:bodyPr/>
              <a:lstStyle/>
              <a:p>
                <a:r>
                  <a:rPr lang="en-US">
                    <a:noFill/>
                  </a:rPr>
                  <a:t> </a:t>
                </a:r>
              </a:p>
            </p:txBody>
          </p:sp>
        </mc:Fallback>
      </mc:AlternateContent>
    </p:spTree>
    <p:extLst>
      <p:ext uri="{BB962C8B-B14F-4D97-AF65-F5344CB8AC3E}">
        <p14:creationId xmlns:p14="http://schemas.microsoft.com/office/powerpoint/2010/main" val="3755926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a:solidFill>
                  <a:srgbClr val="0070C0"/>
                </a:solidFill>
                <a:cs typeface="Helvetica World" panose="020B0500040000020004" pitchFamily="34" charset="0"/>
              </a:rPr>
              <a:t>KỸ THUẬT</a:t>
            </a:r>
            <a:r>
              <a:rPr kumimoji="0" lang="en-US" sz="1800" b="1" i="0" u="none" strike="noStrike" kern="1200" cap="none" spc="0" normalizeH="0">
                <a:ln>
                  <a:noFill/>
                </a:ln>
                <a:solidFill>
                  <a:srgbClr val="0070C0"/>
                </a:solidFill>
                <a:effectLst/>
                <a:uLnTx/>
                <a:uFillTx/>
                <a:cs typeface="Helvetica World" panose="020B0500040000020004" pitchFamily="34" charset="0"/>
              </a:rPr>
              <a:t> CIDR &amp; CƠ BẢN VỀ CHIA MẠNG CON</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baseline="0" noProof="0">
                <a:solidFill>
                  <a:srgbClr val="FFC000"/>
                </a:solidFill>
                <a:cs typeface="Helvetica World" panose="020B0500040000020004" pitchFamily="34" charset="0"/>
              </a:rPr>
              <a:t>TRƯỜNG</a:t>
            </a:r>
            <a:r>
              <a:rPr lang="en-US" sz="1800" noProof="0">
                <a:solidFill>
                  <a:srgbClr val="FFC000"/>
                </a:solidFill>
                <a:cs typeface="Helvetica World" panose="020B0500040000020004" pitchFamily="34" charset="0"/>
              </a:rPr>
              <a:t> HỢP MƯỢN 2 BIT</a:t>
            </a:r>
            <a:endParaRPr kumimoji="0" lang="en-US" sz="1800" b="1" i="0" u="none" strike="noStrike" kern="1200" cap="none" spc="0" normalizeH="0" baseline="0" noProof="0">
              <a:ln>
                <a:noFill/>
              </a:ln>
              <a:solidFill>
                <a:srgbClr val="FFC000"/>
              </a:solidFill>
              <a:effectLst/>
              <a:uLnTx/>
              <a:uFillTx/>
              <a:cs typeface="Helvetica World" panose="020B05000400000200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8760" y="1699856"/>
            <a:ext cx="3491225" cy="1345345"/>
          </a:xfrm>
          <a:prstGeom prst="rect">
            <a:avLst/>
          </a:prstGeom>
        </p:spPr>
      </p:pic>
      <p:sp>
        <p:nvSpPr>
          <p:cNvPr id="5" name="TextBox 4"/>
          <p:cNvSpPr txBox="1"/>
          <p:nvPr/>
        </p:nvSpPr>
        <p:spPr>
          <a:xfrm>
            <a:off x="2241757" y="1755057"/>
            <a:ext cx="1851789" cy="369332"/>
          </a:xfrm>
          <a:prstGeom prst="rect">
            <a:avLst/>
          </a:prstGeom>
          <a:noFill/>
        </p:spPr>
        <p:txBody>
          <a:bodyPr wrap="none" rtlCol="0">
            <a:spAutoFit/>
          </a:bodyPr>
          <a:lstStyle/>
          <a:p>
            <a:r>
              <a:rPr lang="en-US"/>
              <a:t>205.10.152.0/26</a:t>
            </a:r>
          </a:p>
        </p:txBody>
      </p:sp>
      <p:graphicFrame>
        <p:nvGraphicFramePr>
          <p:cNvPr id="7" name="Table 6"/>
          <p:cNvGraphicFramePr>
            <a:graphicFrameLocks noGrp="1"/>
          </p:cNvGraphicFramePr>
          <p:nvPr>
            <p:extLst>
              <p:ext uri="{D42A27DB-BD31-4B8C-83A1-F6EECF244321}">
                <p14:modId xmlns:p14="http://schemas.microsoft.com/office/powerpoint/2010/main" val="3848909085"/>
              </p:ext>
            </p:extLst>
          </p:nvPr>
        </p:nvGraphicFramePr>
        <p:xfrm>
          <a:off x="71207" y="3146803"/>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dirty="0">
                          <a:solidFill>
                            <a:srgbClr val="FFC000"/>
                          </a:solidFill>
                        </a:rPr>
                        <a:t>1 1 0 0 1 1 0 1 . 0 0 0 0 1 0 1 0 . 1 0 0 1 1 0 0 0 . </a:t>
                      </a:r>
                      <a:r>
                        <a:rPr lang="en-US" b="1" dirty="0">
                          <a:solidFill>
                            <a:srgbClr val="FF0000"/>
                          </a:solidFill>
                        </a:rPr>
                        <a:t>0 0 </a:t>
                      </a:r>
                      <a:r>
                        <a:rPr lang="en-US" b="1" dirty="0">
                          <a:solidFill>
                            <a:srgbClr val="00B0F0"/>
                          </a:solidFill>
                        </a:rPr>
                        <a:t>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286411794"/>
              </p:ext>
            </p:extLst>
          </p:nvPr>
        </p:nvGraphicFramePr>
        <p:xfrm>
          <a:off x="90875" y="4434829"/>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dirty="0">
                          <a:solidFill>
                            <a:srgbClr val="FFC000"/>
                          </a:solidFill>
                        </a:rPr>
                        <a:t>1 1 1 1 1 1 1 1 . 1 1 1 1 1 1 1 1 . 1 1 1 1 1 1 1 1 . </a:t>
                      </a:r>
                      <a:r>
                        <a:rPr lang="en-US" b="1" dirty="0">
                          <a:solidFill>
                            <a:srgbClr val="FF0000"/>
                          </a:solidFill>
                        </a:rPr>
                        <a:t>1 1</a:t>
                      </a:r>
                      <a:r>
                        <a:rPr lang="en-US" b="1" dirty="0">
                          <a:solidFill>
                            <a:srgbClr val="00B0F0"/>
                          </a:solidFill>
                        </a:rPr>
                        <a:t> 0 0 0 0 0 0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4" name="TextBox 3"/>
          <p:cNvSpPr txBox="1"/>
          <p:nvPr/>
        </p:nvSpPr>
        <p:spPr>
          <a:xfrm>
            <a:off x="90875" y="3687099"/>
            <a:ext cx="6917278" cy="369332"/>
          </a:xfrm>
          <a:prstGeom prst="rect">
            <a:avLst/>
          </a:prstGeom>
          <a:noFill/>
        </p:spPr>
        <p:txBody>
          <a:bodyPr wrap="none" rtlCol="0">
            <a:spAutoFit/>
          </a:bodyPr>
          <a:lstStyle/>
          <a:p>
            <a:r>
              <a:rPr lang="en-US" dirty="0"/>
              <a:t>     </a:t>
            </a:r>
            <a:r>
              <a:rPr lang="en-US" b="1" dirty="0"/>
              <a:t>205             .       10              .    152               .           0             </a:t>
            </a:r>
          </a:p>
        </p:txBody>
      </p:sp>
      <p:sp>
        <p:nvSpPr>
          <p:cNvPr id="10" name="TextBox 9"/>
          <p:cNvSpPr txBox="1"/>
          <p:nvPr/>
        </p:nvSpPr>
        <p:spPr>
          <a:xfrm>
            <a:off x="110543" y="5107857"/>
            <a:ext cx="6981398" cy="369332"/>
          </a:xfrm>
          <a:prstGeom prst="rect">
            <a:avLst/>
          </a:prstGeom>
          <a:noFill/>
        </p:spPr>
        <p:txBody>
          <a:bodyPr wrap="none" rtlCol="0">
            <a:spAutoFit/>
          </a:bodyPr>
          <a:lstStyle/>
          <a:p>
            <a:r>
              <a:rPr lang="en-US"/>
              <a:t>     </a:t>
            </a:r>
            <a:r>
              <a:rPr lang="en-US" b="1"/>
              <a:t>255             .       255             .    255               .          192            </a:t>
            </a:r>
          </a:p>
        </p:txBody>
      </p:sp>
      <p:cxnSp>
        <p:nvCxnSpPr>
          <p:cNvPr id="9" name="Straight Connector 8"/>
          <p:cNvCxnSpPr/>
          <p:nvPr/>
        </p:nvCxnSpPr>
        <p:spPr>
          <a:xfrm>
            <a:off x="5468790" y="4289683"/>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461819" y="2964426"/>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 y="5412659"/>
            <a:ext cx="1531188" cy="369332"/>
          </a:xfrm>
          <a:prstGeom prst="rect">
            <a:avLst/>
          </a:prstGeom>
          <a:noFill/>
        </p:spPr>
        <p:txBody>
          <a:bodyPr wrap="none" rtlCol="0">
            <a:spAutoFit/>
          </a:bodyPr>
          <a:lstStyle/>
          <a:p>
            <a:r>
              <a:rPr lang="en-US"/>
              <a:t>Subnet mask</a:t>
            </a:r>
          </a:p>
        </p:txBody>
      </p:sp>
      <p:sp>
        <p:nvSpPr>
          <p:cNvPr id="3" name="TextBox 2"/>
          <p:cNvSpPr txBox="1"/>
          <p:nvPr/>
        </p:nvSpPr>
        <p:spPr>
          <a:xfrm>
            <a:off x="6813762" y="1926236"/>
            <a:ext cx="4918334" cy="5109091"/>
          </a:xfrm>
          <a:prstGeom prst="rect">
            <a:avLst/>
          </a:prstGeom>
          <a:noFill/>
        </p:spPr>
        <p:txBody>
          <a:bodyPr wrap="none" rtlCol="0">
            <a:spAutoFit/>
          </a:bodyPr>
          <a:lstStyle/>
          <a:p>
            <a:r>
              <a:rPr lang="en-US" sz="1600" b="1" u="sng" dirty="0"/>
              <a:t>Subnet 1:</a:t>
            </a:r>
            <a:r>
              <a:rPr lang="en-US" sz="1600" dirty="0"/>
              <a:t> </a:t>
            </a:r>
            <a:r>
              <a:rPr lang="en-US" sz="1600" b="1" dirty="0"/>
              <a:t>205.10.152.0/26</a:t>
            </a:r>
            <a:endParaRPr lang="en-US" sz="1600" b="1" u="sng" dirty="0"/>
          </a:p>
          <a:p>
            <a:r>
              <a:rPr lang="en-US" sz="1600" dirty="0"/>
              <a:t>Đ/c </a:t>
            </a:r>
            <a:r>
              <a:rPr lang="en-US" sz="1600" dirty="0" err="1"/>
              <a:t>mạng</a:t>
            </a:r>
            <a:r>
              <a:rPr lang="en-US" sz="1600" dirty="0"/>
              <a:t>: 205.10.152.0</a:t>
            </a:r>
          </a:p>
          <a:p>
            <a:r>
              <a:rPr lang="en-US" sz="1600" dirty="0"/>
              <a:t>Đ/c broadcast: 205.10.152.63</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205.10.152.1 – 205.10.152.62</a:t>
            </a:r>
          </a:p>
          <a:p>
            <a:endParaRPr lang="en-US" sz="1600" dirty="0"/>
          </a:p>
          <a:p>
            <a:r>
              <a:rPr lang="en-US" sz="1600" b="1" u="sng" dirty="0"/>
              <a:t>Subnet 2:</a:t>
            </a:r>
            <a:r>
              <a:rPr lang="en-US" sz="1600" dirty="0"/>
              <a:t> </a:t>
            </a:r>
            <a:r>
              <a:rPr lang="en-US" sz="1600" b="1" dirty="0"/>
              <a:t>205.10.152.64/26</a:t>
            </a:r>
            <a:endParaRPr lang="en-US" sz="1600" b="1" u="sng" dirty="0"/>
          </a:p>
          <a:p>
            <a:r>
              <a:rPr lang="en-US" sz="1600" dirty="0"/>
              <a:t>Đ/c </a:t>
            </a:r>
            <a:r>
              <a:rPr lang="en-US" sz="1600" dirty="0" err="1"/>
              <a:t>mạng</a:t>
            </a:r>
            <a:r>
              <a:rPr lang="en-US" sz="1600" dirty="0"/>
              <a:t>: 205.10.152.64</a:t>
            </a:r>
          </a:p>
          <a:p>
            <a:r>
              <a:rPr lang="en-US" sz="1600" dirty="0"/>
              <a:t>Đ/c broadcast: 205.10.152.127</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205.10.152.65 – 205.10.152.126</a:t>
            </a:r>
          </a:p>
          <a:p>
            <a:endParaRPr lang="en-US" sz="1600" dirty="0"/>
          </a:p>
          <a:p>
            <a:r>
              <a:rPr lang="en-US" sz="1600" b="1" u="sng" dirty="0"/>
              <a:t>Subnet 3:</a:t>
            </a:r>
            <a:r>
              <a:rPr lang="en-US" sz="1600" dirty="0"/>
              <a:t> </a:t>
            </a:r>
            <a:r>
              <a:rPr lang="en-US" sz="1600" b="1" dirty="0"/>
              <a:t>205.10.152.128/26</a:t>
            </a:r>
            <a:endParaRPr lang="en-US" sz="1600" b="1" u="sng" dirty="0"/>
          </a:p>
          <a:p>
            <a:r>
              <a:rPr lang="en-US" sz="1600" dirty="0"/>
              <a:t>Đ/c </a:t>
            </a:r>
            <a:r>
              <a:rPr lang="en-US" sz="1600" dirty="0" err="1"/>
              <a:t>mạng</a:t>
            </a:r>
            <a:r>
              <a:rPr lang="en-US" sz="1600" dirty="0"/>
              <a:t>: 205.10.152.128</a:t>
            </a:r>
          </a:p>
          <a:p>
            <a:r>
              <a:rPr lang="en-US" sz="1600" dirty="0"/>
              <a:t>Đ/c broadcast: 205.10.152.191</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205.10.152.129 – 205.10.152.190</a:t>
            </a:r>
          </a:p>
          <a:p>
            <a:r>
              <a:rPr lang="en-US" b="1" u="sng" dirty="0"/>
              <a:t>Subnet 4:</a:t>
            </a:r>
            <a:r>
              <a:rPr lang="en-US" dirty="0"/>
              <a:t> </a:t>
            </a:r>
            <a:r>
              <a:rPr lang="en-US" b="1" dirty="0"/>
              <a:t>205.10.152.192/26</a:t>
            </a:r>
            <a:endParaRPr lang="en-US" b="1" u="sng" dirty="0"/>
          </a:p>
          <a:p>
            <a:r>
              <a:rPr lang="en-US" sz="1600" dirty="0"/>
              <a:t>Đ/c </a:t>
            </a:r>
            <a:r>
              <a:rPr lang="en-US" sz="1600" dirty="0" err="1"/>
              <a:t>mạng</a:t>
            </a:r>
            <a:r>
              <a:rPr lang="en-US" sz="1600" dirty="0"/>
              <a:t>: 205.10.152.192</a:t>
            </a:r>
          </a:p>
          <a:p>
            <a:r>
              <a:rPr lang="en-US" sz="1600" dirty="0"/>
              <a:t>Đ/c broadcast: 205.10.152.255</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205.10.152.193 – 205.10.152.254</a:t>
            </a:r>
          </a:p>
          <a:p>
            <a:endParaRPr lang="en-US" dirty="0"/>
          </a:p>
          <a:p>
            <a:endParaRPr lang="en-US" dirty="0"/>
          </a:p>
        </p:txBody>
      </p:sp>
      <mc:AlternateContent xmlns:mc="http://schemas.openxmlformats.org/markup-compatibility/2006" xmlns:a14="http://schemas.microsoft.com/office/drawing/2010/main">
        <mc:Choice Requires="a14">
          <p:sp>
            <p:nvSpPr>
              <p:cNvPr id="13" name="TextBox 12"/>
              <p:cNvSpPr txBox="1"/>
              <p:nvPr/>
            </p:nvSpPr>
            <p:spPr>
              <a:xfrm>
                <a:off x="6902239" y="1277691"/>
                <a:ext cx="5165069" cy="646331"/>
              </a:xfrm>
              <a:prstGeom prst="rect">
                <a:avLst/>
              </a:prstGeom>
              <a:solidFill>
                <a:schemeClr val="accent3">
                  <a:lumMod val="60000"/>
                  <a:lumOff val="40000"/>
                </a:schemeClr>
              </a:solidFill>
            </p:spPr>
            <p:txBody>
              <a:bodyPr wrap="square" rtlCol="0">
                <a:spAutoFit/>
              </a:bodyPr>
              <a:lstStyle/>
              <a:p>
                <a:r>
                  <a:rPr lang="en-US"/>
                  <a:t>Số subnet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m:t>
                    </m:r>
                  </m:oMath>
                </a14:m>
                <a:endParaRPr lang="en-US" b="0"/>
              </a:p>
              <a:p>
                <a:r>
                  <a:rPr lang="en-US"/>
                  <a:t>Số host trong mỗi subnet: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6</m:t>
                        </m:r>
                      </m:sup>
                    </m:sSup>
                    <m:r>
                      <a:rPr lang="en-US" i="1">
                        <a:latin typeface="Cambria Math" panose="02040503050406030204" pitchFamily="18" charset="0"/>
                      </a:rPr>
                      <m:t>−2=</m:t>
                    </m:r>
                    <m:r>
                      <a:rPr lang="en-US" b="0" i="1" smtClean="0">
                        <a:latin typeface="Cambria Math" panose="02040503050406030204" pitchFamily="18" charset="0"/>
                      </a:rPr>
                      <m:t>62</m:t>
                    </m:r>
                  </m:oMath>
                </a14:m>
                <a:endParaRPr lang="en-US"/>
              </a:p>
            </p:txBody>
          </p:sp>
        </mc:Choice>
        <mc:Fallback xmlns="">
          <p:sp>
            <p:nvSpPr>
              <p:cNvPr id="13" name="TextBox 12"/>
              <p:cNvSpPr txBox="1">
                <a:spLocks noRot="1" noChangeAspect="1" noMove="1" noResize="1" noEditPoints="1" noAdjustHandles="1" noChangeArrowheads="1" noChangeShapeType="1" noTextEdit="1"/>
              </p:cNvSpPr>
              <p:nvPr/>
            </p:nvSpPr>
            <p:spPr>
              <a:xfrm>
                <a:off x="6902239" y="1277691"/>
                <a:ext cx="5165069" cy="646331"/>
              </a:xfrm>
              <a:prstGeom prst="rect">
                <a:avLst/>
              </a:prstGeom>
              <a:blipFill>
                <a:blip r:embed="rId4"/>
                <a:stretch>
                  <a:fillRect l="-943"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114214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dirty="0">
                <a:solidFill>
                  <a:srgbClr val="0070C0"/>
                </a:solidFill>
                <a:cs typeface="Helvetica World" panose="020B0500040000020004" pitchFamily="34" charset="0"/>
              </a:rPr>
              <a:t>KỸ THUẬT</a:t>
            </a:r>
            <a:r>
              <a:rPr kumimoji="0" lang="en-US" sz="1800" b="1" i="0" u="none" strike="noStrike" kern="1200" cap="none" spc="0" normalizeH="0" dirty="0">
                <a:ln>
                  <a:noFill/>
                </a:ln>
                <a:solidFill>
                  <a:srgbClr val="0070C0"/>
                </a:solidFill>
                <a:effectLst/>
                <a:uLnTx/>
                <a:uFillTx/>
                <a:cs typeface="Helvetica World" panose="020B0500040000020004" pitchFamily="34" charset="0"/>
              </a:rPr>
              <a:t> CIDR &amp; CƠ BẢN VỀ CHIA MẠNG CON</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baseline="0" noProof="0" dirty="0">
                <a:solidFill>
                  <a:srgbClr val="FFC000"/>
                </a:solidFill>
                <a:cs typeface="Helvetica World" panose="020B0500040000020004" pitchFamily="34" charset="0"/>
              </a:rPr>
              <a:t>TRƯỜNG</a:t>
            </a:r>
            <a:r>
              <a:rPr lang="en-US" sz="1800" noProof="0" dirty="0">
                <a:solidFill>
                  <a:srgbClr val="FFC000"/>
                </a:solidFill>
                <a:cs typeface="Helvetica World" panose="020B0500040000020004" pitchFamily="34" charset="0"/>
              </a:rPr>
              <a:t> HỢP MƯỢN 6 BIT</a:t>
            </a:r>
            <a:endParaRPr kumimoji="0" lang="en-US" sz="1800" b="1" i="0" u="none" strike="noStrike" kern="1200" cap="none" spc="0" normalizeH="0" baseline="0" noProof="0" dirty="0">
              <a:ln>
                <a:noFill/>
              </a:ln>
              <a:solidFill>
                <a:srgbClr val="FFC000"/>
              </a:solidFill>
              <a:effectLst/>
              <a:uLnTx/>
              <a:uFillTx/>
              <a:cs typeface="Helvetica World" panose="020B05000400000200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531" y="1714595"/>
            <a:ext cx="3491225" cy="1345345"/>
          </a:xfrm>
          <a:prstGeom prst="rect">
            <a:avLst/>
          </a:prstGeom>
        </p:spPr>
      </p:pic>
      <p:sp>
        <p:nvSpPr>
          <p:cNvPr id="5" name="TextBox 4"/>
          <p:cNvSpPr txBox="1"/>
          <p:nvPr/>
        </p:nvSpPr>
        <p:spPr>
          <a:xfrm>
            <a:off x="2020528" y="1784561"/>
            <a:ext cx="1851789" cy="369332"/>
          </a:xfrm>
          <a:prstGeom prst="rect">
            <a:avLst/>
          </a:prstGeom>
          <a:noFill/>
        </p:spPr>
        <p:txBody>
          <a:bodyPr wrap="none" rtlCol="0">
            <a:spAutoFit/>
          </a:bodyPr>
          <a:lstStyle/>
          <a:p>
            <a:r>
              <a:rPr lang="en-US"/>
              <a:t>205.10.152.0/30</a:t>
            </a:r>
          </a:p>
        </p:txBody>
      </p:sp>
      <p:graphicFrame>
        <p:nvGraphicFramePr>
          <p:cNvPr id="7" name="Table 6"/>
          <p:cNvGraphicFramePr>
            <a:graphicFrameLocks noGrp="1"/>
          </p:cNvGraphicFramePr>
          <p:nvPr>
            <p:extLst>
              <p:ext uri="{D42A27DB-BD31-4B8C-83A1-F6EECF244321}">
                <p14:modId xmlns:p14="http://schemas.microsoft.com/office/powerpoint/2010/main" val="3835961729"/>
              </p:ext>
            </p:extLst>
          </p:nvPr>
        </p:nvGraphicFramePr>
        <p:xfrm>
          <a:off x="26959" y="3146803"/>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a:solidFill>
                            <a:srgbClr val="FFC000"/>
                          </a:solidFill>
                        </a:rPr>
                        <a:t>1 1 0 0 1 1 0 1 . 0 0 0 0 1 0 1 0 . 1 0 0 1 1 0 0 0 . </a:t>
                      </a:r>
                      <a:r>
                        <a:rPr lang="en-US" b="1">
                          <a:solidFill>
                            <a:srgbClr val="FF0000"/>
                          </a:solidFill>
                        </a:rPr>
                        <a:t>0</a:t>
                      </a:r>
                      <a:r>
                        <a:rPr lang="en-US" b="1">
                          <a:solidFill>
                            <a:srgbClr val="00B0F0"/>
                          </a:solidFill>
                        </a:rPr>
                        <a:t> </a:t>
                      </a:r>
                      <a:r>
                        <a:rPr lang="en-US" b="1">
                          <a:solidFill>
                            <a:srgbClr val="FF0000"/>
                          </a:solidFill>
                        </a:rPr>
                        <a:t>0</a:t>
                      </a:r>
                      <a:r>
                        <a:rPr lang="en-US" b="1">
                          <a:solidFill>
                            <a:srgbClr val="00B0F0"/>
                          </a:solidFill>
                        </a:rPr>
                        <a:t> </a:t>
                      </a:r>
                      <a:r>
                        <a:rPr lang="en-US" b="1">
                          <a:solidFill>
                            <a:srgbClr val="FF0000"/>
                          </a:solidFill>
                        </a:rPr>
                        <a:t>0 0 0 0 </a:t>
                      </a:r>
                      <a:r>
                        <a:rPr lang="en-US" b="1">
                          <a:solidFill>
                            <a:srgbClr val="00B0F0"/>
                          </a:solidFill>
                        </a:rPr>
                        <a:t>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11879340"/>
              </p:ext>
            </p:extLst>
          </p:nvPr>
        </p:nvGraphicFramePr>
        <p:xfrm>
          <a:off x="46627" y="4434829"/>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a:solidFill>
                            <a:srgbClr val="FFC000"/>
                          </a:solidFill>
                        </a:rPr>
                        <a:t>1 1 1 1 1 1 1 1 . 1 1 1 1 1 1 1 1 . 1 1 1 1 1 1 1 1 . </a:t>
                      </a:r>
                      <a:r>
                        <a:rPr lang="en-US" b="1">
                          <a:solidFill>
                            <a:srgbClr val="FF0000"/>
                          </a:solidFill>
                        </a:rPr>
                        <a:t>1 1</a:t>
                      </a:r>
                      <a:r>
                        <a:rPr lang="en-US" b="1">
                          <a:solidFill>
                            <a:srgbClr val="00B0F0"/>
                          </a:solidFill>
                        </a:rPr>
                        <a:t> </a:t>
                      </a:r>
                      <a:r>
                        <a:rPr lang="en-US" b="1">
                          <a:solidFill>
                            <a:srgbClr val="FF0000"/>
                          </a:solidFill>
                        </a:rPr>
                        <a:t>1 1 1 1 </a:t>
                      </a:r>
                      <a:r>
                        <a:rPr lang="en-US" b="1">
                          <a:solidFill>
                            <a:srgbClr val="00B0F0"/>
                          </a:solidFill>
                        </a:rPr>
                        <a:t>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4" name="TextBox 3"/>
          <p:cNvSpPr txBox="1"/>
          <p:nvPr/>
        </p:nvSpPr>
        <p:spPr>
          <a:xfrm>
            <a:off x="46627" y="3687099"/>
            <a:ext cx="6724918" cy="369332"/>
          </a:xfrm>
          <a:prstGeom prst="rect">
            <a:avLst/>
          </a:prstGeom>
          <a:noFill/>
        </p:spPr>
        <p:txBody>
          <a:bodyPr wrap="none" rtlCol="0">
            <a:spAutoFit/>
          </a:bodyPr>
          <a:lstStyle/>
          <a:p>
            <a:r>
              <a:rPr lang="en-US"/>
              <a:t>     </a:t>
            </a:r>
            <a:r>
              <a:rPr lang="en-US" b="1"/>
              <a:t>205             .       10              .    152               .           0             </a:t>
            </a:r>
          </a:p>
        </p:txBody>
      </p:sp>
      <p:sp>
        <p:nvSpPr>
          <p:cNvPr id="10" name="TextBox 9"/>
          <p:cNvSpPr txBox="1"/>
          <p:nvPr/>
        </p:nvSpPr>
        <p:spPr>
          <a:xfrm>
            <a:off x="66295" y="5107857"/>
            <a:ext cx="6663885" cy="369332"/>
          </a:xfrm>
          <a:prstGeom prst="rect">
            <a:avLst/>
          </a:prstGeom>
          <a:noFill/>
        </p:spPr>
        <p:txBody>
          <a:bodyPr wrap="square" rtlCol="0">
            <a:spAutoFit/>
          </a:bodyPr>
          <a:lstStyle/>
          <a:p>
            <a:r>
              <a:rPr lang="en-US"/>
              <a:t>     </a:t>
            </a:r>
            <a:r>
              <a:rPr lang="en-US" b="1"/>
              <a:t>255             .       255             .    255               .          252           </a:t>
            </a:r>
          </a:p>
        </p:txBody>
      </p:sp>
      <p:cxnSp>
        <p:nvCxnSpPr>
          <p:cNvPr id="9" name="Straight Connector 8"/>
          <p:cNvCxnSpPr/>
          <p:nvPr/>
        </p:nvCxnSpPr>
        <p:spPr>
          <a:xfrm>
            <a:off x="6184486" y="4311444"/>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199246" y="2969340"/>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 y="5515906"/>
            <a:ext cx="1531188" cy="369332"/>
          </a:xfrm>
          <a:prstGeom prst="rect">
            <a:avLst/>
          </a:prstGeom>
          <a:noFill/>
        </p:spPr>
        <p:txBody>
          <a:bodyPr wrap="none" rtlCol="0">
            <a:spAutoFit/>
          </a:bodyPr>
          <a:lstStyle/>
          <a:p>
            <a:r>
              <a:rPr lang="en-US"/>
              <a:t>Subnet mask</a:t>
            </a:r>
          </a:p>
        </p:txBody>
      </p:sp>
      <mc:AlternateContent xmlns:mc="http://schemas.openxmlformats.org/markup-compatibility/2006" xmlns:a14="http://schemas.microsoft.com/office/drawing/2010/main">
        <mc:Choice Requires="a14">
          <p:sp>
            <p:nvSpPr>
              <p:cNvPr id="13" name="TextBox 12"/>
              <p:cNvSpPr txBox="1"/>
              <p:nvPr/>
            </p:nvSpPr>
            <p:spPr>
              <a:xfrm>
                <a:off x="6902239" y="1142785"/>
                <a:ext cx="5165069" cy="669992"/>
              </a:xfrm>
              <a:prstGeom prst="rect">
                <a:avLst/>
              </a:prstGeom>
              <a:solidFill>
                <a:schemeClr val="accent3">
                  <a:lumMod val="60000"/>
                  <a:lumOff val="40000"/>
                </a:schemeClr>
              </a:solidFill>
            </p:spPr>
            <p:txBody>
              <a:bodyPr wrap="square" rtlCol="0">
                <a:spAutoFit/>
              </a:bodyPr>
              <a:lstStyle/>
              <a:p>
                <a:r>
                  <a:rPr lang="en-US"/>
                  <a:t>Số subnet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6</m:t>
                        </m:r>
                      </m:sup>
                    </m:sSup>
                    <m:r>
                      <a:rPr lang="en-US" b="0" i="1" smtClean="0">
                        <a:latin typeface="Cambria Math" panose="02040503050406030204" pitchFamily="18" charset="0"/>
                      </a:rPr>
                      <m:t>=64</m:t>
                    </m:r>
                  </m:oMath>
                </a14:m>
                <a:endParaRPr lang="en-US" b="0"/>
              </a:p>
              <a:p>
                <a:r>
                  <a:rPr lang="en-US"/>
                  <a:t>Số host trong mỗi subnet: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sup>
                    </m:sSup>
                    <m:r>
                      <a:rPr lang="en-US" i="1">
                        <a:latin typeface="Cambria Math" panose="02040503050406030204" pitchFamily="18" charset="0"/>
                      </a:rPr>
                      <m:t>−2=</m:t>
                    </m:r>
                    <m:r>
                      <a:rPr lang="en-US" b="0" i="1" smtClean="0">
                        <a:latin typeface="Cambria Math" panose="02040503050406030204" pitchFamily="18" charset="0"/>
                      </a:rPr>
                      <m:t>2</m:t>
                    </m:r>
                  </m:oMath>
                </a14:m>
                <a:endParaRPr lang="en-US"/>
              </a:p>
            </p:txBody>
          </p:sp>
        </mc:Choice>
        <mc:Fallback xmlns="">
          <p:sp>
            <p:nvSpPr>
              <p:cNvPr id="13" name="TextBox 12"/>
              <p:cNvSpPr txBox="1">
                <a:spLocks noRot="1" noChangeAspect="1" noMove="1" noResize="1" noEditPoints="1" noAdjustHandles="1" noChangeArrowheads="1" noChangeShapeType="1" noTextEdit="1"/>
              </p:cNvSpPr>
              <p:nvPr/>
            </p:nvSpPr>
            <p:spPr>
              <a:xfrm>
                <a:off x="6902239" y="1142785"/>
                <a:ext cx="5165069" cy="669992"/>
              </a:xfrm>
              <a:prstGeom prst="rect">
                <a:avLst/>
              </a:prstGeom>
              <a:blipFill>
                <a:blip r:embed="rId4"/>
                <a:stretch>
                  <a:fillRect l="-943" t="-4545" b="-10000"/>
                </a:stretch>
              </a:blipFill>
            </p:spPr>
            <p:txBody>
              <a:bodyPr/>
              <a:lstStyle/>
              <a:p>
                <a:r>
                  <a:rPr lang="en-US">
                    <a:noFill/>
                  </a:rPr>
                  <a:t> </a:t>
                </a:r>
              </a:p>
            </p:txBody>
          </p:sp>
        </mc:Fallback>
      </mc:AlternateContent>
      <p:sp>
        <p:nvSpPr>
          <p:cNvPr id="14" name="TextBox 13"/>
          <p:cNvSpPr txBox="1"/>
          <p:nvPr/>
        </p:nvSpPr>
        <p:spPr>
          <a:xfrm>
            <a:off x="6813762" y="1776336"/>
            <a:ext cx="4918334" cy="5324535"/>
          </a:xfrm>
          <a:prstGeom prst="rect">
            <a:avLst/>
          </a:prstGeom>
          <a:noFill/>
        </p:spPr>
        <p:txBody>
          <a:bodyPr wrap="none" rtlCol="0">
            <a:spAutoFit/>
          </a:bodyPr>
          <a:lstStyle/>
          <a:p>
            <a:r>
              <a:rPr lang="en-US" sz="1600" b="1" u="sng" dirty="0"/>
              <a:t>Subnet 1:</a:t>
            </a:r>
            <a:r>
              <a:rPr lang="en-US" sz="1600" dirty="0"/>
              <a:t> </a:t>
            </a:r>
            <a:r>
              <a:rPr lang="en-US" sz="1600" b="1" dirty="0"/>
              <a:t>205.10.152.0/30</a:t>
            </a:r>
            <a:endParaRPr lang="en-US" sz="1600" b="1" u="sng" dirty="0"/>
          </a:p>
          <a:p>
            <a:r>
              <a:rPr lang="en-US" sz="1600" dirty="0"/>
              <a:t>Đ/c </a:t>
            </a:r>
            <a:r>
              <a:rPr lang="en-US" sz="1600" dirty="0" err="1"/>
              <a:t>mạng</a:t>
            </a:r>
            <a:r>
              <a:rPr lang="en-US" sz="1600" dirty="0"/>
              <a:t>: 205.10.152.0</a:t>
            </a:r>
          </a:p>
          <a:p>
            <a:r>
              <a:rPr lang="en-US" sz="1600" dirty="0"/>
              <a:t>Đ/c broadcast: 205.10.152.3</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205.10.152.1 – 205.10.152.2</a:t>
            </a:r>
          </a:p>
          <a:p>
            <a:endParaRPr lang="en-US" sz="1600" dirty="0"/>
          </a:p>
          <a:p>
            <a:r>
              <a:rPr lang="en-US" sz="1600" b="1" u="sng" dirty="0"/>
              <a:t>Subnet 2:</a:t>
            </a:r>
            <a:r>
              <a:rPr lang="en-US" sz="1600" dirty="0"/>
              <a:t> </a:t>
            </a:r>
            <a:r>
              <a:rPr lang="en-US" sz="1600" b="1" dirty="0"/>
              <a:t>205.10.152.4/30</a:t>
            </a:r>
            <a:endParaRPr lang="en-US" sz="1600" b="1" u="sng" dirty="0"/>
          </a:p>
          <a:p>
            <a:r>
              <a:rPr lang="en-US" sz="1600" dirty="0"/>
              <a:t>Đ/c </a:t>
            </a:r>
            <a:r>
              <a:rPr lang="en-US" sz="1600" dirty="0" err="1"/>
              <a:t>mạng</a:t>
            </a:r>
            <a:r>
              <a:rPr lang="en-US" sz="1600" dirty="0"/>
              <a:t>: 205.10.152.4</a:t>
            </a:r>
          </a:p>
          <a:p>
            <a:r>
              <a:rPr lang="en-US" sz="1600" dirty="0"/>
              <a:t>Đ/c broadcast: 205.10.152.7</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205.10.152.5 – 205.10.152.6</a:t>
            </a:r>
          </a:p>
          <a:p>
            <a:endParaRPr lang="en-US" sz="1600" dirty="0"/>
          </a:p>
          <a:p>
            <a:r>
              <a:rPr lang="en-US" sz="1600" b="1" u="sng" dirty="0"/>
              <a:t>Subnet 3:</a:t>
            </a:r>
            <a:r>
              <a:rPr lang="en-US" sz="1600" dirty="0"/>
              <a:t> </a:t>
            </a:r>
            <a:r>
              <a:rPr lang="en-US" sz="1600" b="1" dirty="0"/>
              <a:t>205.10.152.8/30</a:t>
            </a:r>
            <a:endParaRPr lang="en-US" sz="1600" b="1" u="sng" dirty="0"/>
          </a:p>
          <a:p>
            <a:r>
              <a:rPr lang="en-US" sz="1600" dirty="0"/>
              <a:t>Đ/c </a:t>
            </a:r>
            <a:r>
              <a:rPr lang="en-US" sz="1600" dirty="0" err="1"/>
              <a:t>mạng</a:t>
            </a:r>
            <a:r>
              <a:rPr lang="en-US" sz="1600" dirty="0"/>
              <a:t>: 205.10.152.8</a:t>
            </a:r>
          </a:p>
          <a:p>
            <a:r>
              <a:rPr lang="en-US" sz="1600" dirty="0"/>
              <a:t>Đ/c broadcast: 205.10.152.11</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205.10.152.9 – 205.10.152.10</a:t>
            </a:r>
          </a:p>
          <a:p>
            <a:r>
              <a:rPr lang="en-US" sz="1600" dirty="0"/>
              <a:t>………</a:t>
            </a:r>
          </a:p>
          <a:p>
            <a:r>
              <a:rPr lang="en-US" sz="1600" b="1" u="sng" dirty="0"/>
              <a:t>Subnet 64:</a:t>
            </a:r>
            <a:r>
              <a:rPr lang="en-US" sz="1600" dirty="0"/>
              <a:t> </a:t>
            </a:r>
            <a:r>
              <a:rPr lang="en-US" sz="1600" b="1" dirty="0"/>
              <a:t>205.10.152.252/30</a:t>
            </a:r>
            <a:endParaRPr lang="en-US" sz="1600" b="1" u="sng" dirty="0"/>
          </a:p>
          <a:p>
            <a:r>
              <a:rPr lang="en-US" sz="1600" dirty="0"/>
              <a:t>Đ/c </a:t>
            </a:r>
            <a:r>
              <a:rPr lang="en-US" sz="1600" dirty="0" err="1"/>
              <a:t>mạng</a:t>
            </a:r>
            <a:r>
              <a:rPr lang="en-US" sz="1600" dirty="0"/>
              <a:t>: 205.10.152.252</a:t>
            </a:r>
          </a:p>
          <a:p>
            <a:r>
              <a:rPr lang="en-US" sz="1600" dirty="0"/>
              <a:t>Đ/c broadcast: 205.10.152.255</a:t>
            </a:r>
          </a:p>
          <a:p>
            <a:r>
              <a:rPr lang="en-US" sz="1600" dirty="0" err="1"/>
              <a:t>Dải</a:t>
            </a:r>
            <a:r>
              <a:rPr lang="en-US" sz="1600" dirty="0"/>
              <a:t> đ/c </a:t>
            </a:r>
            <a:r>
              <a:rPr lang="en-US" sz="1600" dirty="0" err="1"/>
              <a:t>khả</a:t>
            </a:r>
            <a:r>
              <a:rPr lang="en-US" sz="1600" dirty="0"/>
              <a:t> </a:t>
            </a:r>
            <a:r>
              <a:rPr lang="en-US" sz="1600" dirty="0" err="1"/>
              <a:t>dụng</a:t>
            </a:r>
            <a:r>
              <a:rPr lang="en-US" sz="1600" dirty="0"/>
              <a:t>: 205.10.152.253 – 205.10.152.254</a:t>
            </a:r>
          </a:p>
          <a:p>
            <a:endParaRPr lang="en-US" dirty="0"/>
          </a:p>
          <a:p>
            <a:endParaRPr lang="en-US" dirty="0"/>
          </a:p>
        </p:txBody>
      </p:sp>
    </p:spTree>
    <p:extLst>
      <p:ext uri="{BB962C8B-B14F-4D97-AF65-F5344CB8AC3E}">
        <p14:creationId xmlns:p14="http://schemas.microsoft.com/office/powerpoint/2010/main" val="3416262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a:solidFill>
                  <a:srgbClr val="0070C0"/>
                </a:solidFill>
                <a:cs typeface="Helvetica World" panose="020B0500040000020004" pitchFamily="34" charset="0"/>
              </a:rPr>
              <a:t>KỸ THUẬT</a:t>
            </a:r>
            <a:r>
              <a:rPr kumimoji="0" lang="en-US" sz="1800" b="1" i="0" u="none" strike="noStrike" kern="1200" cap="none" spc="0" normalizeH="0">
                <a:ln>
                  <a:noFill/>
                </a:ln>
                <a:solidFill>
                  <a:srgbClr val="0070C0"/>
                </a:solidFill>
                <a:effectLst/>
                <a:uLnTx/>
                <a:uFillTx/>
                <a:cs typeface="Helvetica World" panose="020B0500040000020004" pitchFamily="34" charset="0"/>
              </a:rPr>
              <a:t> CIDR &amp; CƠ BẢN VỀ CHIA MẠNG CON</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baseline="0" noProof="0">
                <a:solidFill>
                  <a:srgbClr val="FFC000"/>
                </a:solidFill>
                <a:cs typeface="Helvetica World" panose="020B0500040000020004" pitchFamily="34" charset="0"/>
              </a:rPr>
              <a:t>TRƯỜNG</a:t>
            </a:r>
            <a:r>
              <a:rPr lang="en-US" sz="1800" noProof="0">
                <a:solidFill>
                  <a:srgbClr val="FFC000"/>
                </a:solidFill>
                <a:cs typeface="Helvetica World" panose="020B0500040000020004" pitchFamily="34" charset="0"/>
              </a:rPr>
              <a:t> HỢP MƯỢN 7 BIT</a:t>
            </a:r>
            <a:endParaRPr kumimoji="0" lang="en-US" sz="1800" b="1" i="0" u="none" strike="noStrike" kern="1200" cap="none" spc="0" normalizeH="0" baseline="0" noProof="0">
              <a:ln>
                <a:noFill/>
              </a:ln>
              <a:solidFill>
                <a:srgbClr val="FFC000"/>
              </a:solidFill>
              <a:effectLst/>
              <a:uLnTx/>
              <a:uFillTx/>
              <a:cs typeface="Helvetica World" panose="020B05000400000200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553" y="1729344"/>
            <a:ext cx="3491225" cy="1345345"/>
          </a:xfrm>
          <a:prstGeom prst="rect">
            <a:avLst/>
          </a:prstGeom>
        </p:spPr>
      </p:pic>
      <p:sp>
        <p:nvSpPr>
          <p:cNvPr id="5" name="TextBox 4"/>
          <p:cNvSpPr txBox="1"/>
          <p:nvPr/>
        </p:nvSpPr>
        <p:spPr>
          <a:xfrm>
            <a:off x="1902550" y="1784559"/>
            <a:ext cx="1851789" cy="369332"/>
          </a:xfrm>
          <a:prstGeom prst="rect">
            <a:avLst/>
          </a:prstGeom>
          <a:noFill/>
        </p:spPr>
        <p:txBody>
          <a:bodyPr wrap="none" rtlCol="0">
            <a:spAutoFit/>
          </a:bodyPr>
          <a:lstStyle/>
          <a:p>
            <a:r>
              <a:rPr lang="en-US"/>
              <a:t>205.10.152.0/31</a:t>
            </a:r>
          </a:p>
        </p:txBody>
      </p:sp>
      <p:graphicFrame>
        <p:nvGraphicFramePr>
          <p:cNvPr id="7" name="Table 6"/>
          <p:cNvGraphicFramePr>
            <a:graphicFrameLocks noGrp="1"/>
          </p:cNvGraphicFramePr>
          <p:nvPr>
            <p:extLst>
              <p:ext uri="{D42A27DB-BD31-4B8C-83A1-F6EECF244321}">
                <p14:modId xmlns:p14="http://schemas.microsoft.com/office/powerpoint/2010/main" val="1502308357"/>
              </p:ext>
            </p:extLst>
          </p:nvPr>
        </p:nvGraphicFramePr>
        <p:xfrm>
          <a:off x="100714" y="3146803"/>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a:solidFill>
                            <a:srgbClr val="FFC000"/>
                          </a:solidFill>
                        </a:rPr>
                        <a:t>1 1 0 0 1 1 0 1 . 0 0 0 0 1 0 1 0 . 1 0 0 1 1 0 0 0 . </a:t>
                      </a:r>
                      <a:r>
                        <a:rPr lang="en-US" b="1">
                          <a:solidFill>
                            <a:srgbClr val="FF0000"/>
                          </a:solidFill>
                        </a:rPr>
                        <a:t>0</a:t>
                      </a:r>
                      <a:r>
                        <a:rPr lang="en-US" b="1">
                          <a:solidFill>
                            <a:srgbClr val="00B0F0"/>
                          </a:solidFill>
                        </a:rPr>
                        <a:t> </a:t>
                      </a:r>
                      <a:r>
                        <a:rPr lang="en-US" b="1">
                          <a:solidFill>
                            <a:srgbClr val="FF0000"/>
                          </a:solidFill>
                        </a:rPr>
                        <a:t>0</a:t>
                      </a:r>
                      <a:r>
                        <a:rPr lang="en-US" b="1">
                          <a:solidFill>
                            <a:srgbClr val="00B0F0"/>
                          </a:solidFill>
                        </a:rPr>
                        <a:t> </a:t>
                      </a:r>
                      <a:r>
                        <a:rPr lang="en-US" b="1">
                          <a:solidFill>
                            <a:srgbClr val="FF0000"/>
                          </a:solidFill>
                        </a:rPr>
                        <a:t>0 0 0 0 0</a:t>
                      </a:r>
                      <a:r>
                        <a:rPr lang="en-US" b="1">
                          <a:solidFill>
                            <a:srgbClr val="00B0F0"/>
                          </a:solidFill>
                        </a:rPr>
                        <a:t>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89538396"/>
              </p:ext>
            </p:extLst>
          </p:nvPr>
        </p:nvGraphicFramePr>
        <p:xfrm>
          <a:off x="120382" y="4434829"/>
          <a:ext cx="6683553" cy="370840"/>
        </p:xfrm>
        <a:graphic>
          <a:graphicData uri="http://schemas.openxmlformats.org/drawingml/2006/table">
            <a:tbl>
              <a:tblPr firstRow="1" bandRow="1">
                <a:tableStyleId>{2D5ABB26-0587-4C30-8999-92F81FD0307C}</a:tableStyleId>
              </a:tblPr>
              <a:tblGrid>
                <a:gridCol w="6683553">
                  <a:extLst>
                    <a:ext uri="{9D8B030D-6E8A-4147-A177-3AD203B41FA5}">
                      <a16:colId xmlns:a16="http://schemas.microsoft.com/office/drawing/2014/main" val="1091541952"/>
                    </a:ext>
                  </a:extLst>
                </a:gridCol>
              </a:tblGrid>
              <a:tr h="370840">
                <a:tc>
                  <a:txBody>
                    <a:bodyPr/>
                    <a:lstStyle/>
                    <a:p>
                      <a:r>
                        <a:rPr lang="en-US" b="1">
                          <a:solidFill>
                            <a:srgbClr val="FFC000"/>
                          </a:solidFill>
                        </a:rPr>
                        <a:t>1 1 1 1 1 1 1 1 . 1 1 1 1 1 1 1 1 . 1 1 1 1 1 1 1 1 . </a:t>
                      </a:r>
                      <a:r>
                        <a:rPr lang="en-US" b="1">
                          <a:solidFill>
                            <a:srgbClr val="FF0000"/>
                          </a:solidFill>
                        </a:rPr>
                        <a:t>1 1</a:t>
                      </a:r>
                      <a:r>
                        <a:rPr lang="en-US" b="1">
                          <a:solidFill>
                            <a:srgbClr val="00B0F0"/>
                          </a:solidFill>
                        </a:rPr>
                        <a:t> </a:t>
                      </a:r>
                      <a:r>
                        <a:rPr lang="en-US" b="1">
                          <a:solidFill>
                            <a:srgbClr val="FF0000"/>
                          </a:solidFill>
                        </a:rPr>
                        <a:t>1 1 1 1 1</a:t>
                      </a:r>
                      <a:r>
                        <a:rPr lang="en-US" b="1">
                          <a:solidFill>
                            <a:srgbClr val="00B0F0"/>
                          </a:solidFill>
                        </a:rPr>
                        <a:t>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691793"/>
                  </a:ext>
                </a:extLst>
              </a:tr>
            </a:tbl>
          </a:graphicData>
        </a:graphic>
      </p:graphicFrame>
      <p:sp>
        <p:nvSpPr>
          <p:cNvPr id="4" name="TextBox 3"/>
          <p:cNvSpPr txBox="1"/>
          <p:nvPr/>
        </p:nvSpPr>
        <p:spPr>
          <a:xfrm>
            <a:off x="120382" y="3687099"/>
            <a:ext cx="6724918" cy="369332"/>
          </a:xfrm>
          <a:prstGeom prst="rect">
            <a:avLst/>
          </a:prstGeom>
          <a:noFill/>
        </p:spPr>
        <p:txBody>
          <a:bodyPr wrap="none" rtlCol="0">
            <a:spAutoFit/>
          </a:bodyPr>
          <a:lstStyle/>
          <a:p>
            <a:r>
              <a:rPr lang="en-US"/>
              <a:t>     </a:t>
            </a:r>
            <a:r>
              <a:rPr lang="en-US" b="1"/>
              <a:t>205             .       10              .    152               .           0             </a:t>
            </a:r>
          </a:p>
        </p:txBody>
      </p:sp>
      <p:sp>
        <p:nvSpPr>
          <p:cNvPr id="10" name="TextBox 9"/>
          <p:cNvSpPr txBox="1"/>
          <p:nvPr/>
        </p:nvSpPr>
        <p:spPr>
          <a:xfrm>
            <a:off x="140050" y="5107857"/>
            <a:ext cx="6705250" cy="369332"/>
          </a:xfrm>
          <a:prstGeom prst="rect">
            <a:avLst/>
          </a:prstGeom>
          <a:noFill/>
        </p:spPr>
        <p:txBody>
          <a:bodyPr wrap="square" rtlCol="0">
            <a:spAutoFit/>
          </a:bodyPr>
          <a:lstStyle/>
          <a:p>
            <a:r>
              <a:rPr lang="en-US"/>
              <a:t>     </a:t>
            </a:r>
            <a:r>
              <a:rPr lang="en-US" b="1"/>
              <a:t>255             .       255             .    255               .          254          </a:t>
            </a:r>
          </a:p>
        </p:txBody>
      </p:sp>
      <p:cxnSp>
        <p:nvCxnSpPr>
          <p:cNvPr id="9" name="Straight Connector 8"/>
          <p:cNvCxnSpPr/>
          <p:nvPr/>
        </p:nvCxnSpPr>
        <p:spPr>
          <a:xfrm>
            <a:off x="6468038" y="4316845"/>
            <a:ext cx="0" cy="6730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464718" y="2969340"/>
            <a:ext cx="0" cy="7226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 y="5412659"/>
            <a:ext cx="1531188" cy="369332"/>
          </a:xfrm>
          <a:prstGeom prst="rect">
            <a:avLst/>
          </a:prstGeom>
          <a:noFill/>
        </p:spPr>
        <p:txBody>
          <a:bodyPr wrap="none" rtlCol="0">
            <a:spAutoFit/>
          </a:bodyPr>
          <a:lstStyle/>
          <a:p>
            <a:r>
              <a:rPr lang="en-US"/>
              <a:t>Subnet mask</a:t>
            </a:r>
          </a:p>
        </p:txBody>
      </p:sp>
      <mc:AlternateContent xmlns:mc="http://schemas.openxmlformats.org/markup-compatibility/2006" xmlns:a14="http://schemas.microsoft.com/office/drawing/2010/main">
        <mc:Choice Requires="a14">
          <p:sp>
            <p:nvSpPr>
              <p:cNvPr id="13" name="TextBox 12"/>
              <p:cNvSpPr txBox="1"/>
              <p:nvPr/>
            </p:nvSpPr>
            <p:spPr>
              <a:xfrm>
                <a:off x="6813752" y="1549209"/>
                <a:ext cx="5253557" cy="1754326"/>
              </a:xfrm>
              <a:prstGeom prst="rect">
                <a:avLst/>
              </a:prstGeom>
              <a:solidFill>
                <a:schemeClr val="accent3">
                  <a:lumMod val="60000"/>
                  <a:lumOff val="40000"/>
                </a:schemeClr>
              </a:solidFill>
            </p:spPr>
            <p:txBody>
              <a:bodyPr wrap="square" rtlCol="0">
                <a:spAutoFit/>
              </a:bodyPr>
              <a:lstStyle/>
              <a:p>
                <a:r>
                  <a:rPr lang="en-US" dirty="0" err="1"/>
                  <a:t>Số</a:t>
                </a:r>
                <a:r>
                  <a:rPr lang="en-US" dirty="0"/>
                  <a:t> subnet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7</m:t>
                        </m:r>
                      </m:sup>
                    </m:sSup>
                    <m:r>
                      <a:rPr lang="en-US" b="0" i="1" smtClean="0">
                        <a:latin typeface="Cambria Math" panose="02040503050406030204" pitchFamily="18" charset="0"/>
                      </a:rPr>
                      <m:t>=128</m:t>
                    </m:r>
                  </m:oMath>
                </a14:m>
                <a:endParaRPr lang="en-US" b="0" dirty="0"/>
              </a:p>
              <a:p>
                <a:r>
                  <a:rPr lang="en-US" dirty="0" err="1"/>
                  <a:t>Số</a:t>
                </a:r>
                <a:r>
                  <a:rPr lang="en-US" dirty="0"/>
                  <a:t> host </a:t>
                </a:r>
                <a:r>
                  <a:rPr lang="en-US" dirty="0" err="1"/>
                  <a:t>trong</a:t>
                </a:r>
                <a:r>
                  <a:rPr lang="en-US" dirty="0"/>
                  <a:t> </a:t>
                </a:r>
                <a:r>
                  <a:rPr lang="en-US" dirty="0" err="1"/>
                  <a:t>mỗi</a:t>
                </a:r>
                <a:r>
                  <a:rPr lang="en-US" dirty="0"/>
                  <a:t> subnet: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 </m:t>
                        </m:r>
                        <m:r>
                          <a:rPr lang="en-US" i="1">
                            <a:latin typeface="Cambria Math" panose="02040503050406030204" pitchFamily="18" charset="0"/>
                          </a:rPr>
                          <m:t>2</m:t>
                        </m:r>
                      </m:e>
                      <m:sup>
                        <m:r>
                          <a:rPr lang="en-US" b="0" i="1" smtClean="0">
                            <a:latin typeface="Cambria Math" panose="02040503050406030204" pitchFamily="18" charset="0"/>
                          </a:rPr>
                          <m:t>1</m:t>
                        </m:r>
                      </m:sup>
                    </m:sSup>
                    <m:r>
                      <a:rPr lang="en-US" i="1">
                        <a:latin typeface="Cambria Math" panose="02040503050406030204" pitchFamily="18" charset="0"/>
                      </a:rPr>
                      <m:t>−2=</m:t>
                    </m:r>
                    <m:r>
                      <a:rPr lang="en-US" b="0" i="1" smtClean="0">
                        <a:latin typeface="Cambria Math" panose="02040503050406030204" pitchFamily="18" charset="0"/>
                      </a:rPr>
                      <m:t>0</m:t>
                    </m:r>
                  </m:oMath>
                </a14:m>
                <a:endParaRPr lang="en-US" dirty="0"/>
              </a:p>
              <a:p>
                <a:endParaRPr lang="en-US" dirty="0"/>
              </a:p>
              <a:p>
                <a:r>
                  <a:rPr lang="en-US" dirty="0"/>
                  <a:t>Subnet mask /31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gán</a:t>
                </a:r>
                <a:r>
                  <a:rPr lang="en-US" dirty="0"/>
                  <a:t> </a:t>
                </a:r>
                <a:r>
                  <a:rPr lang="en-US" dirty="0" err="1"/>
                  <a:t>địa</a:t>
                </a:r>
                <a:r>
                  <a:rPr lang="en-US" dirty="0"/>
                  <a:t> </a:t>
                </a:r>
                <a:r>
                  <a:rPr lang="en-US" dirty="0" err="1"/>
                  <a:t>chỉ</a:t>
                </a:r>
                <a:r>
                  <a:rPr lang="en-US" dirty="0"/>
                  <a:t> </a:t>
                </a:r>
                <a:r>
                  <a:rPr lang="en-US" dirty="0" err="1"/>
                  <a:t>cho</a:t>
                </a:r>
                <a:r>
                  <a:rPr lang="en-US" dirty="0"/>
                  <a:t> </a:t>
                </a:r>
                <a:r>
                  <a:rPr lang="en-US" dirty="0" err="1"/>
                  <a:t>kết</a:t>
                </a:r>
                <a:r>
                  <a:rPr lang="en-US" dirty="0"/>
                  <a:t> </a:t>
                </a:r>
                <a:r>
                  <a:rPr lang="en-US" dirty="0" err="1"/>
                  <a:t>nối</a:t>
                </a:r>
                <a:r>
                  <a:rPr lang="en-US" dirty="0"/>
                  <a:t> point-to-point </a:t>
                </a:r>
                <a:r>
                  <a:rPr lang="en-US" dirty="0" err="1"/>
                  <a:t>giữa</a:t>
                </a:r>
                <a:r>
                  <a:rPr lang="en-US" dirty="0"/>
                  <a:t> </a:t>
                </a:r>
                <a:r>
                  <a:rPr lang="en-US" dirty="0" err="1"/>
                  <a:t>hai</a:t>
                </a:r>
                <a:r>
                  <a:rPr lang="en-US" dirty="0"/>
                  <a:t> router (RFC 3021). </a:t>
                </a:r>
              </a:p>
            </p:txBody>
          </p:sp>
        </mc:Choice>
        <mc:Fallback xmlns="">
          <p:sp>
            <p:nvSpPr>
              <p:cNvPr id="13" name="TextBox 12"/>
              <p:cNvSpPr txBox="1">
                <a:spLocks noRot="1" noChangeAspect="1" noMove="1" noResize="1" noEditPoints="1" noAdjustHandles="1" noChangeArrowheads="1" noChangeShapeType="1" noTextEdit="1"/>
              </p:cNvSpPr>
              <p:nvPr/>
            </p:nvSpPr>
            <p:spPr>
              <a:xfrm>
                <a:off x="6813752" y="1549209"/>
                <a:ext cx="5253557" cy="1754326"/>
              </a:xfrm>
              <a:prstGeom prst="rect">
                <a:avLst/>
              </a:prstGeom>
              <a:blipFill>
                <a:blip r:embed="rId4"/>
                <a:stretch>
                  <a:fillRect l="-1044" t="-1736" b="-4514"/>
                </a:stretch>
              </a:blipFill>
            </p:spPr>
            <p:txBody>
              <a:bodyPr/>
              <a:lstStyle/>
              <a:p>
                <a:r>
                  <a:rPr lang="en-US">
                    <a:noFill/>
                  </a:rPr>
                  <a:t> </a:t>
                </a:r>
              </a:p>
            </p:txBody>
          </p:sp>
        </mc:Fallback>
      </mc:AlternateContent>
    </p:spTree>
    <p:extLst>
      <p:ext uri="{BB962C8B-B14F-4D97-AF65-F5344CB8AC3E}">
        <p14:creationId xmlns:p14="http://schemas.microsoft.com/office/powerpoint/2010/main" val="674316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a:solidFill>
                  <a:srgbClr val="0070C0"/>
                </a:solidFill>
                <a:cs typeface="Helvetica World" panose="020B0500040000020004" pitchFamily="34" charset="0"/>
              </a:rPr>
              <a:t>KỸ THUẬT</a:t>
            </a:r>
            <a:r>
              <a:rPr kumimoji="0" lang="en-US" sz="1800" b="1" i="0" u="none" strike="noStrike" kern="1200" cap="none" spc="0" normalizeH="0">
                <a:ln>
                  <a:noFill/>
                </a:ln>
                <a:solidFill>
                  <a:srgbClr val="0070C0"/>
                </a:solidFill>
                <a:effectLst/>
                <a:uLnTx/>
                <a:uFillTx/>
                <a:cs typeface="Helvetica World" panose="020B0500040000020004" pitchFamily="34" charset="0"/>
              </a:rPr>
              <a:t> CIDR &amp; CƠ BẢN VỀ CHIA MẠNG CON</a:t>
            </a:r>
            <a:endParaRPr lang="en-US" sz="1800">
              <a:solidFill>
                <a:srgbClr val="0070C0"/>
              </a:solidFill>
              <a:ea typeface="+mn-ea"/>
              <a:cs typeface="Helvetica World" panose="020B0500040000020004" pitchFamily="34" charset="0"/>
            </a:endParaRPr>
          </a:p>
          <a:p>
            <a:pPr lvl="0">
              <a:defRPr/>
            </a:pPr>
            <a:r>
              <a:rPr lang="en-US" sz="1800">
                <a:solidFill>
                  <a:srgbClr val="FFC000"/>
                </a:solidFill>
                <a:cs typeface="Helvetica World" panose="020B0500040000020004" pitchFamily="34" charset="0"/>
              </a:rPr>
              <a:t>BẢNG GHI NHỚ DÙNG ĐỂ CHIA NHANH MẠNG CON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94032011"/>
              </p:ext>
            </p:extLst>
          </p:nvPr>
        </p:nvGraphicFramePr>
        <p:xfrm>
          <a:off x="566738" y="2185988"/>
          <a:ext cx="9358927" cy="3881120"/>
        </p:xfrm>
        <a:graphic>
          <a:graphicData uri="http://schemas.openxmlformats.org/drawingml/2006/table">
            <a:tbl>
              <a:tblPr firstRow="1" bandRow="1">
                <a:tableStyleId>{5C22544A-7EE6-4342-B048-85BDC9FD1C3A}</a:tableStyleId>
              </a:tblPr>
              <a:tblGrid>
                <a:gridCol w="1341213">
                  <a:extLst>
                    <a:ext uri="{9D8B030D-6E8A-4147-A177-3AD203B41FA5}">
                      <a16:colId xmlns:a16="http://schemas.microsoft.com/office/drawing/2014/main" val="3986678672"/>
                    </a:ext>
                  </a:extLst>
                </a:gridCol>
                <a:gridCol w="1625376">
                  <a:extLst>
                    <a:ext uri="{9D8B030D-6E8A-4147-A177-3AD203B41FA5}">
                      <a16:colId xmlns:a16="http://schemas.microsoft.com/office/drawing/2014/main" val="3789701546"/>
                    </a:ext>
                  </a:extLst>
                </a:gridCol>
                <a:gridCol w="1698154">
                  <a:extLst>
                    <a:ext uri="{9D8B030D-6E8A-4147-A177-3AD203B41FA5}">
                      <a16:colId xmlns:a16="http://schemas.microsoft.com/office/drawing/2014/main" val="2242633531"/>
                    </a:ext>
                  </a:extLst>
                </a:gridCol>
                <a:gridCol w="4694184">
                  <a:extLst>
                    <a:ext uri="{9D8B030D-6E8A-4147-A177-3AD203B41FA5}">
                      <a16:colId xmlns:a16="http://schemas.microsoft.com/office/drawing/2014/main" val="1715036110"/>
                    </a:ext>
                  </a:extLst>
                </a:gridCol>
              </a:tblGrid>
              <a:tr h="370840">
                <a:tc>
                  <a:txBody>
                    <a:bodyPr/>
                    <a:lstStyle/>
                    <a:p>
                      <a:pPr algn="ctr"/>
                      <a:r>
                        <a:rPr lang="en-US"/>
                        <a:t>Số</a:t>
                      </a:r>
                      <a:r>
                        <a:rPr lang="en-US" baseline="0"/>
                        <a:t> bit mượn</a:t>
                      </a:r>
                      <a:endParaRPr lang="en-US"/>
                    </a:p>
                  </a:txBody>
                  <a:tcPr/>
                </a:tc>
                <a:tc>
                  <a:txBody>
                    <a:bodyPr/>
                    <a:lstStyle/>
                    <a:p>
                      <a:pPr algn="ctr"/>
                      <a:r>
                        <a:rPr lang="en-US"/>
                        <a:t>Bước</a:t>
                      </a:r>
                      <a:r>
                        <a:rPr lang="en-US" baseline="0"/>
                        <a:t> nhảy</a:t>
                      </a:r>
                      <a:endParaRPr lang="en-US"/>
                    </a:p>
                  </a:txBody>
                  <a:tcPr/>
                </a:tc>
                <a:tc>
                  <a:txBody>
                    <a:bodyPr/>
                    <a:lstStyle/>
                    <a:p>
                      <a:pPr algn="ctr"/>
                      <a:r>
                        <a:rPr lang="en-US"/>
                        <a:t>Mặt nạ</a:t>
                      </a:r>
                      <a:r>
                        <a:rPr lang="en-US" baseline="0"/>
                        <a:t> mạng biểu diễn theo </a:t>
                      </a:r>
                      <a:r>
                        <a:rPr lang="en-US"/>
                        <a:t>CIDR</a:t>
                      </a:r>
                    </a:p>
                  </a:txBody>
                  <a:tcPr/>
                </a:tc>
                <a:tc>
                  <a:txBody>
                    <a:bodyPr/>
                    <a:lstStyle/>
                    <a:p>
                      <a:pPr algn="ctr"/>
                      <a:r>
                        <a:rPr lang="en-US"/>
                        <a:t>Mặt</a:t>
                      </a:r>
                      <a:r>
                        <a:rPr lang="en-US" baseline="0"/>
                        <a:t> nạ mạng biểu diễn dạng thập phân</a:t>
                      </a:r>
                      <a:endParaRPr lang="en-US"/>
                    </a:p>
                  </a:txBody>
                  <a:tcPr/>
                </a:tc>
                <a:extLst>
                  <a:ext uri="{0D108BD9-81ED-4DB2-BD59-A6C34878D82A}">
                    <a16:rowId xmlns:a16="http://schemas.microsoft.com/office/drawing/2014/main" val="4253796857"/>
                  </a:ext>
                </a:extLst>
              </a:tr>
              <a:tr h="370840">
                <a:tc>
                  <a:txBody>
                    <a:bodyPr/>
                    <a:lstStyle/>
                    <a:p>
                      <a:pPr algn="ctr"/>
                      <a:r>
                        <a:rPr lang="en-US" dirty="0"/>
                        <a:t>1</a:t>
                      </a:r>
                    </a:p>
                  </a:txBody>
                  <a:tcPr/>
                </a:tc>
                <a:tc>
                  <a:txBody>
                    <a:bodyPr/>
                    <a:lstStyle/>
                    <a:p>
                      <a:pPr algn="ctr"/>
                      <a:r>
                        <a:rPr lang="en-US"/>
                        <a:t>128</a:t>
                      </a:r>
                    </a:p>
                  </a:txBody>
                  <a:tcPr/>
                </a:tc>
                <a:tc>
                  <a:txBody>
                    <a:bodyPr/>
                    <a:lstStyle/>
                    <a:p>
                      <a:pPr algn="ctr"/>
                      <a:r>
                        <a:rPr lang="en-US" dirty="0"/>
                        <a:t>/25</a:t>
                      </a:r>
                    </a:p>
                  </a:txBody>
                  <a:tcPr/>
                </a:tc>
                <a:tc>
                  <a:txBody>
                    <a:bodyPr/>
                    <a:lstStyle/>
                    <a:p>
                      <a:pPr algn="ctr"/>
                      <a:r>
                        <a:rPr lang="en-US" dirty="0"/>
                        <a:t>255.255.255.128</a:t>
                      </a:r>
                    </a:p>
                  </a:txBody>
                  <a:tcPr/>
                </a:tc>
                <a:extLst>
                  <a:ext uri="{0D108BD9-81ED-4DB2-BD59-A6C34878D82A}">
                    <a16:rowId xmlns:a16="http://schemas.microsoft.com/office/drawing/2014/main" val="3004810422"/>
                  </a:ext>
                </a:extLst>
              </a:tr>
              <a:tr h="370840">
                <a:tc>
                  <a:txBody>
                    <a:bodyPr/>
                    <a:lstStyle/>
                    <a:p>
                      <a:pPr algn="ctr"/>
                      <a:r>
                        <a:rPr lang="en-US" dirty="0"/>
                        <a:t>2</a:t>
                      </a:r>
                    </a:p>
                  </a:txBody>
                  <a:tcPr/>
                </a:tc>
                <a:tc>
                  <a:txBody>
                    <a:bodyPr/>
                    <a:lstStyle/>
                    <a:p>
                      <a:pPr algn="ctr"/>
                      <a:r>
                        <a:rPr lang="en-US"/>
                        <a:t>64</a:t>
                      </a:r>
                    </a:p>
                  </a:txBody>
                  <a:tcPr/>
                </a:tc>
                <a:tc>
                  <a:txBody>
                    <a:bodyPr/>
                    <a:lstStyle/>
                    <a:p>
                      <a:pPr algn="ctr"/>
                      <a:r>
                        <a:rPr lang="en-US" dirty="0"/>
                        <a:t>/26</a:t>
                      </a:r>
                    </a:p>
                  </a:txBody>
                  <a:tcPr/>
                </a:tc>
                <a:tc>
                  <a:txBody>
                    <a:bodyPr/>
                    <a:lstStyle/>
                    <a:p>
                      <a:pPr algn="ctr"/>
                      <a:r>
                        <a:rPr lang="en-US" dirty="0"/>
                        <a:t>255.255.255.192</a:t>
                      </a:r>
                    </a:p>
                  </a:txBody>
                  <a:tcPr/>
                </a:tc>
                <a:extLst>
                  <a:ext uri="{0D108BD9-81ED-4DB2-BD59-A6C34878D82A}">
                    <a16:rowId xmlns:a16="http://schemas.microsoft.com/office/drawing/2014/main" val="4078588773"/>
                  </a:ext>
                </a:extLst>
              </a:tr>
              <a:tr h="370840">
                <a:tc>
                  <a:txBody>
                    <a:bodyPr/>
                    <a:lstStyle/>
                    <a:p>
                      <a:pPr algn="ctr"/>
                      <a:r>
                        <a:rPr lang="en-US" dirty="0"/>
                        <a:t>3</a:t>
                      </a:r>
                    </a:p>
                  </a:txBody>
                  <a:tcPr/>
                </a:tc>
                <a:tc>
                  <a:txBody>
                    <a:bodyPr/>
                    <a:lstStyle/>
                    <a:p>
                      <a:pPr algn="ctr"/>
                      <a:r>
                        <a:rPr lang="en-US"/>
                        <a:t>32</a:t>
                      </a:r>
                    </a:p>
                  </a:txBody>
                  <a:tcPr/>
                </a:tc>
                <a:tc>
                  <a:txBody>
                    <a:bodyPr/>
                    <a:lstStyle/>
                    <a:p>
                      <a:pPr algn="ctr"/>
                      <a:r>
                        <a:rPr lang="en-US"/>
                        <a:t>/27</a:t>
                      </a:r>
                    </a:p>
                  </a:txBody>
                  <a:tcPr/>
                </a:tc>
                <a:tc>
                  <a:txBody>
                    <a:bodyPr/>
                    <a:lstStyle/>
                    <a:p>
                      <a:pPr algn="ctr"/>
                      <a:r>
                        <a:rPr lang="en-US" dirty="0"/>
                        <a:t>255.255.255.224</a:t>
                      </a:r>
                    </a:p>
                  </a:txBody>
                  <a:tcPr/>
                </a:tc>
                <a:extLst>
                  <a:ext uri="{0D108BD9-81ED-4DB2-BD59-A6C34878D82A}">
                    <a16:rowId xmlns:a16="http://schemas.microsoft.com/office/drawing/2014/main" val="2639034000"/>
                  </a:ext>
                </a:extLst>
              </a:tr>
              <a:tr h="370840">
                <a:tc>
                  <a:txBody>
                    <a:bodyPr/>
                    <a:lstStyle/>
                    <a:p>
                      <a:pPr algn="ctr"/>
                      <a:r>
                        <a:rPr lang="en-US"/>
                        <a:t>4</a:t>
                      </a:r>
                    </a:p>
                  </a:txBody>
                  <a:tcPr/>
                </a:tc>
                <a:tc>
                  <a:txBody>
                    <a:bodyPr/>
                    <a:lstStyle/>
                    <a:p>
                      <a:pPr algn="ctr"/>
                      <a:r>
                        <a:rPr lang="en-US"/>
                        <a:t>16</a:t>
                      </a:r>
                    </a:p>
                  </a:txBody>
                  <a:tcPr/>
                </a:tc>
                <a:tc>
                  <a:txBody>
                    <a:bodyPr/>
                    <a:lstStyle/>
                    <a:p>
                      <a:pPr algn="ctr"/>
                      <a:r>
                        <a:rPr lang="en-US"/>
                        <a:t>/28</a:t>
                      </a:r>
                    </a:p>
                  </a:txBody>
                  <a:tcPr/>
                </a:tc>
                <a:tc>
                  <a:txBody>
                    <a:bodyPr/>
                    <a:lstStyle/>
                    <a:p>
                      <a:pPr algn="ctr"/>
                      <a:r>
                        <a:rPr lang="en-US" dirty="0"/>
                        <a:t>255.255.255.240</a:t>
                      </a:r>
                    </a:p>
                  </a:txBody>
                  <a:tcPr/>
                </a:tc>
                <a:extLst>
                  <a:ext uri="{0D108BD9-81ED-4DB2-BD59-A6C34878D82A}">
                    <a16:rowId xmlns:a16="http://schemas.microsoft.com/office/drawing/2014/main" val="2696894610"/>
                  </a:ext>
                </a:extLst>
              </a:tr>
              <a:tr h="370840">
                <a:tc>
                  <a:txBody>
                    <a:bodyPr/>
                    <a:lstStyle/>
                    <a:p>
                      <a:pPr algn="ctr"/>
                      <a:r>
                        <a:rPr lang="en-US"/>
                        <a:t>5</a:t>
                      </a:r>
                    </a:p>
                  </a:txBody>
                  <a:tcPr/>
                </a:tc>
                <a:tc>
                  <a:txBody>
                    <a:bodyPr/>
                    <a:lstStyle/>
                    <a:p>
                      <a:pPr algn="ctr"/>
                      <a:r>
                        <a:rPr lang="en-US"/>
                        <a:t>8</a:t>
                      </a:r>
                    </a:p>
                  </a:txBody>
                  <a:tcPr/>
                </a:tc>
                <a:tc>
                  <a:txBody>
                    <a:bodyPr/>
                    <a:lstStyle/>
                    <a:p>
                      <a:pPr algn="ctr"/>
                      <a:r>
                        <a:rPr lang="en-US"/>
                        <a:t>/29</a:t>
                      </a:r>
                    </a:p>
                  </a:txBody>
                  <a:tcPr/>
                </a:tc>
                <a:tc>
                  <a:txBody>
                    <a:bodyPr/>
                    <a:lstStyle/>
                    <a:p>
                      <a:pPr algn="ctr"/>
                      <a:r>
                        <a:rPr lang="en-US" dirty="0"/>
                        <a:t>255.255.255.248</a:t>
                      </a:r>
                    </a:p>
                  </a:txBody>
                  <a:tcPr/>
                </a:tc>
                <a:extLst>
                  <a:ext uri="{0D108BD9-81ED-4DB2-BD59-A6C34878D82A}">
                    <a16:rowId xmlns:a16="http://schemas.microsoft.com/office/drawing/2014/main" val="2933277295"/>
                  </a:ext>
                </a:extLst>
              </a:tr>
              <a:tr h="370840">
                <a:tc>
                  <a:txBody>
                    <a:bodyPr/>
                    <a:lstStyle/>
                    <a:p>
                      <a:pPr algn="ctr"/>
                      <a:r>
                        <a:rPr lang="en-US"/>
                        <a:t>6</a:t>
                      </a:r>
                    </a:p>
                  </a:txBody>
                  <a:tcPr/>
                </a:tc>
                <a:tc>
                  <a:txBody>
                    <a:bodyPr/>
                    <a:lstStyle/>
                    <a:p>
                      <a:pPr algn="ctr"/>
                      <a:r>
                        <a:rPr lang="en-US"/>
                        <a:t>4</a:t>
                      </a:r>
                    </a:p>
                  </a:txBody>
                  <a:tcPr/>
                </a:tc>
                <a:tc>
                  <a:txBody>
                    <a:bodyPr/>
                    <a:lstStyle/>
                    <a:p>
                      <a:pPr algn="ctr"/>
                      <a:r>
                        <a:rPr lang="en-US"/>
                        <a:t>/30</a:t>
                      </a:r>
                    </a:p>
                  </a:txBody>
                  <a:tcPr/>
                </a:tc>
                <a:tc>
                  <a:txBody>
                    <a:bodyPr/>
                    <a:lstStyle/>
                    <a:p>
                      <a:pPr algn="ctr"/>
                      <a:r>
                        <a:rPr lang="en-US" dirty="0"/>
                        <a:t>255.255.255.252</a:t>
                      </a:r>
                    </a:p>
                  </a:txBody>
                  <a:tcPr/>
                </a:tc>
                <a:extLst>
                  <a:ext uri="{0D108BD9-81ED-4DB2-BD59-A6C34878D82A}">
                    <a16:rowId xmlns:a16="http://schemas.microsoft.com/office/drawing/2014/main" val="3521871843"/>
                  </a:ext>
                </a:extLst>
              </a:tr>
              <a:tr h="370840">
                <a:tc>
                  <a:txBody>
                    <a:bodyPr/>
                    <a:lstStyle/>
                    <a:p>
                      <a:pPr algn="ctr"/>
                      <a:r>
                        <a:rPr lang="en-US"/>
                        <a:t>7</a:t>
                      </a:r>
                    </a:p>
                  </a:txBody>
                  <a:tcPr/>
                </a:tc>
                <a:tc>
                  <a:txBody>
                    <a:bodyPr/>
                    <a:lstStyle/>
                    <a:p>
                      <a:pPr algn="ctr"/>
                      <a:r>
                        <a:rPr lang="en-US"/>
                        <a:t>2</a:t>
                      </a:r>
                    </a:p>
                  </a:txBody>
                  <a:tcPr/>
                </a:tc>
                <a:tc>
                  <a:txBody>
                    <a:bodyPr/>
                    <a:lstStyle/>
                    <a:p>
                      <a:pPr algn="ctr"/>
                      <a:r>
                        <a:rPr lang="en-US"/>
                        <a:t>/31</a:t>
                      </a:r>
                    </a:p>
                  </a:txBody>
                  <a:tcPr/>
                </a:tc>
                <a:tc>
                  <a:txBody>
                    <a:bodyPr/>
                    <a:lstStyle/>
                    <a:p>
                      <a:pPr algn="ctr"/>
                      <a:r>
                        <a:rPr lang="en-US" dirty="0"/>
                        <a:t>255.255.255.254</a:t>
                      </a:r>
                    </a:p>
                  </a:txBody>
                  <a:tcPr/>
                </a:tc>
                <a:extLst>
                  <a:ext uri="{0D108BD9-81ED-4DB2-BD59-A6C34878D82A}">
                    <a16:rowId xmlns:a16="http://schemas.microsoft.com/office/drawing/2014/main" val="1173653388"/>
                  </a:ext>
                </a:extLst>
              </a:tr>
              <a:tr h="370840">
                <a:tc>
                  <a:txBody>
                    <a:bodyPr/>
                    <a:lstStyle/>
                    <a:p>
                      <a:pPr algn="ctr"/>
                      <a:r>
                        <a:rPr lang="en-US"/>
                        <a:t>8</a:t>
                      </a:r>
                    </a:p>
                  </a:txBody>
                  <a:tcPr/>
                </a:tc>
                <a:tc>
                  <a:txBody>
                    <a:bodyPr/>
                    <a:lstStyle/>
                    <a:p>
                      <a:pPr algn="ctr"/>
                      <a:r>
                        <a:rPr lang="en-US"/>
                        <a:t>1</a:t>
                      </a:r>
                    </a:p>
                  </a:txBody>
                  <a:tcPr/>
                </a:tc>
                <a:tc>
                  <a:txBody>
                    <a:bodyPr/>
                    <a:lstStyle/>
                    <a:p>
                      <a:pPr algn="ctr"/>
                      <a:r>
                        <a:rPr lang="en-US"/>
                        <a:t>/32</a:t>
                      </a:r>
                    </a:p>
                  </a:txBody>
                  <a:tcPr/>
                </a:tc>
                <a:tc>
                  <a:txBody>
                    <a:bodyPr/>
                    <a:lstStyle/>
                    <a:p>
                      <a:pPr algn="ctr"/>
                      <a:r>
                        <a:rPr lang="en-US" dirty="0"/>
                        <a:t>255.255.255.255</a:t>
                      </a:r>
                    </a:p>
                  </a:txBody>
                  <a:tcPr/>
                </a:tc>
                <a:extLst>
                  <a:ext uri="{0D108BD9-81ED-4DB2-BD59-A6C34878D82A}">
                    <a16:rowId xmlns:a16="http://schemas.microsoft.com/office/drawing/2014/main" val="1352911905"/>
                  </a:ext>
                </a:extLst>
              </a:tr>
            </a:tbl>
          </a:graphicData>
        </a:graphic>
      </p:graphicFrame>
    </p:spTree>
    <p:extLst>
      <p:ext uri="{BB962C8B-B14F-4D97-AF65-F5344CB8AC3E}">
        <p14:creationId xmlns:p14="http://schemas.microsoft.com/office/powerpoint/2010/main" val="3791421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a:defRPr/>
            </a:pPr>
            <a:r>
              <a:rPr lang="en-US" sz="1800">
                <a:solidFill>
                  <a:srgbClr val="0070C0"/>
                </a:solidFill>
                <a:cs typeface="Helvetica World" panose="020B0500040000020004" pitchFamily="34" charset="0"/>
              </a:rPr>
              <a:t>KỸ THUẬT</a:t>
            </a:r>
            <a:r>
              <a:rPr kumimoji="0" lang="en-US" sz="1800" b="1" i="0" u="none" strike="noStrike" kern="1200" cap="none" spc="0" normalizeH="0">
                <a:ln>
                  <a:noFill/>
                </a:ln>
                <a:solidFill>
                  <a:srgbClr val="0070C0"/>
                </a:solidFill>
                <a:effectLst/>
                <a:uLnTx/>
                <a:uFillTx/>
                <a:cs typeface="Helvetica World" panose="020B0500040000020004" pitchFamily="34" charset="0"/>
              </a:rPr>
              <a:t> CIDR &amp; CƠ BẢN VỀ CHIA MẠNG CON</a:t>
            </a:r>
            <a:endParaRPr lang="en-US" sz="1800">
              <a:solidFill>
                <a:srgbClr val="0070C0"/>
              </a:solidFill>
              <a:ea typeface="+mn-ea"/>
              <a:cs typeface="Helvetica World" panose="020B0500040000020004" pitchFamily="34" charset="0"/>
            </a:endParaRPr>
          </a:p>
          <a:p>
            <a:pPr lvl="0">
              <a:defRPr/>
            </a:pPr>
            <a:r>
              <a:rPr lang="en-US" sz="1800">
                <a:solidFill>
                  <a:srgbClr val="FFC000"/>
                </a:solidFill>
                <a:cs typeface="Helvetica World" panose="020B0500040000020004" pitchFamily="34" charset="0"/>
              </a:rPr>
              <a:t>TÍNH NHANH CÁC MẠNG CON DỰA TRÊN PHƯƠNG PHÁP ĐẠI SỐ SỬ DỤNG BƯỚC NHẢY</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80229" y="1474845"/>
                <a:ext cx="11987079" cy="2890684"/>
              </a:xfrm>
            </p:spPr>
            <p:txBody>
              <a:bodyPr/>
              <a:lstStyle/>
              <a:p>
                <a:pPr marL="0" indent="0">
                  <a:buNone/>
                </a:pPr>
                <a:r>
                  <a:rPr lang="en-US" dirty="0">
                    <a:latin typeface="+mj-lt"/>
                  </a:rPr>
                  <a:t>Xét </a:t>
                </a:r>
                <a:r>
                  <a:rPr lang="en-US" dirty="0" err="1">
                    <a:latin typeface="+mj-lt"/>
                  </a:rPr>
                  <a:t>lại</a:t>
                </a:r>
                <a:r>
                  <a:rPr lang="en-US" dirty="0">
                    <a:latin typeface="+mj-lt"/>
                  </a:rPr>
                  <a:t> </a:t>
                </a:r>
                <a:r>
                  <a:rPr lang="en-US" dirty="0" err="1">
                    <a:latin typeface="+mj-lt"/>
                  </a:rPr>
                  <a:t>trường</a:t>
                </a:r>
                <a:r>
                  <a:rPr lang="en-US" dirty="0">
                    <a:latin typeface="+mj-lt"/>
                  </a:rPr>
                  <a:t> </a:t>
                </a:r>
                <a:r>
                  <a:rPr lang="en-US" dirty="0" err="1">
                    <a:latin typeface="+mj-lt"/>
                  </a:rPr>
                  <a:t>hợp</a:t>
                </a:r>
                <a:r>
                  <a:rPr lang="en-US" dirty="0">
                    <a:latin typeface="+mj-lt"/>
                  </a:rPr>
                  <a:t> </a:t>
                </a:r>
                <a:r>
                  <a:rPr lang="en-US" dirty="0" err="1">
                    <a:latin typeface="+mj-lt"/>
                  </a:rPr>
                  <a:t>mượn</a:t>
                </a:r>
                <a:r>
                  <a:rPr lang="en-US" dirty="0">
                    <a:latin typeface="+mj-lt"/>
                  </a:rPr>
                  <a:t> 2 bit </a:t>
                </a:r>
                <a:r>
                  <a:rPr lang="en-US" dirty="0" err="1">
                    <a:latin typeface="+mj-lt"/>
                  </a:rPr>
                  <a:t>để</a:t>
                </a:r>
                <a:r>
                  <a:rPr lang="en-US" dirty="0">
                    <a:latin typeface="+mj-lt"/>
                  </a:rPr>
                  <a:t> chia </a:t>
                </a:r>
                <a:r>
                  <a:rPr lang="en-US" dirty="0" err="1">
                    <a:latin typeface="+mj-lt"/>
                  </a:rPr>
                  <a:t>mạng</a:t>
                </a:r>
                <a:r>
                  <a:rPr lang="en-US" dirty="0">
                    <a:latin typeface="+mj-lt"/>
                  </a:rPr>
                  <a:t> con </a:t>
                </a:r>
                <a:r>
                  <a:rPr lang="en-US" dirty="0" err="1">
                    <a:latin typeface="+mj-lt"/>
                  </a:rPr>
                  <a:t>cho</a:t>
                </a:r>
                <a:r>
                  <a:rPr lang="en-US" dirty="0">
                    <a:latin typeface="+mj-lt"/>
                  </a:rPr>
                  <a:t> </a:t>
                </a:r>
                <a:r>
                  <a:rPr lang="en-US" dirty="0"/>
                  <a:t>205.10.152.0/24</a:t>
                </a:r>
                <a:r>
                  <a:rPr lang="en-US" dirty="0">
                    <a:latin typeface="+mj-lt"/>
                  </a:rPr>
                  <a:t> </a:t>
                </a:r>
                <a:r>
                  <a:rPr lang="en-US" dirty="0" err="1">
                    <a:latin typeface="+mj-lt"/>
                  </a:rPr>
                  <a:t>trong</a:t>
                </a:r>
                <a:r>
                  <a:rPr lang="en-US" dirty="0">
                    <a:latin typeface="+mj-lt"/>
                  </a:rPr>
                  <a:t> Slide 31.</a:t>
                </a:r>
              </a:p>
              <a:p>
                <a:pPr marL="0" lvl="0" indent="0">
                  <a:lnSpc>
                    <a:spcPct val="100000"/>
                  </a:lnSpc>
                  <a:spcBef>
                    <a:spcPts val="0"/>
                  </a:spcBef>
                  <a:buClrTx/>
                  <a:buSzTx/>
                  <a:buNone/>
                </a:pPr>
                <a:r>
                  <a:rPr lang="en-US" dirty="0" err="1">
                    <a:solidFill>
                      <a:srgbClr val="666666"/>
                    </a:solidFill>
                    <a:latin typeface="+mj-lt"/>
                  </a:rPr>
                  <a:t>Số</a:t>
                </a:r>
                <a:r>
                  <a:rPr lang="en-US" dirty="0">
                    <a:solidFill>
                      <a:srgbClr val="666666"/>
                    </a:solidFill>
                    <a:latin typeface="+mj-lt"/>
                  </a:rPr>
                  <a:t> bit </a:t>
                </a:r>
                <a:r>
                  <a:rPr lang="en-US" dirty="0" err="1">
                    <a:solidFill>
                      <a:srgbClr val="666666"/>
                    </a:solidFill>
                    <a:latin typeface="+mj-lt"/>
                  </a:rPr>
                  <a:t>mượn</a:t>
                </a:r>
                <a:r>
                  <a:rPr lang="en-US" dirty="0">
                    <a:solidFill>
                      <a:srgbClr val="666666"/>
                    </a:solidFill>
                    <a:latin typeface="+mj-lt"/>
                  </a:rPr>
                  <a:t>: S = 2 =&gt; </a:t>
                </a:r>
                <a:r>
                  <a:rPr lang="en-US" dirty="0" err="1">
                    <a:solidFill>
                      <a:srgbClr val="666666"/>
                    </a:solidFill>
                    <a:latin typeface="+mj-lt"/>
                  </a:rPr>
                  <a:t>số</a:t>
                </a:r>
                <a:r>
                  <a:rPr lang="en-US" dirty="0">
                    <a:solidFill>
                      <a:srgbClr val="666666"/>
                    </a:solidFill>
                    <a:latin typeface="+mj-lt"/>
                  </a:rPr>
                  <a:t> </a:t>
                </a:r>
                <a:r>
                  <a:rPr lang="en-US" b="1" dirty="0">
                    <a:solidFill>
                      <a:srgbClr val="666666"/>
                    </a:solidFill>
                    <a:latin typeface="+mj-lt"/>
                  </a:rPr>
                  <a:t>prefix</a:t>
                </a:r>
                <a:r>
                  <a:rPr lang="en-US" dirty="0">
                    <a:solidFill>
                      <a:srgbClr val="666666"/>
                    </a:solidFill>
                    <a:latin typeface="+mj-lt"/>
                  </a:rPr>
                  <a:t> = 24 +2 =26 =&gt; subnet mask: 255.255.255.192</a:t>
                </a:r>
              </a:p>
              <a:p>
                <a:pPr marL="0" lvl="0" indent="0">
                  <a:lnSpc>
                    <a:spcPct val="100000"/>
                  </a:lnSpc>
                  <a:spcBef>
                    <a:spcPts val="0"/>
                  </a:spcBef>
                  <a:buClrTx/>
                  <a:buSzTx/>
                  <a:buNone/>
                </a:pPr>
                <a:r>
                  <a:rPr lang="en-US" dirty="0" err="1">
                    <a:solidFill>
                      <a:srgbClr val="666666"/>
                    </a:solidFill>
                    <a:latin typeface="+mj-lt"/>
                  </a:rPr>
                  <a:t>Số</a:t>
                </a:r>
                <a:r>
                  <a:rPr lang="en-US" dirty="0">
                    <a:solidFill>
                      <a:srgbClr val="666666"/>
                    </a:solidFill>
                    <a:latin typeface="+mj-lt"/>
                  </a:rPr>
                  <a:t> subnet: </a:t>
                </a:r>
                <a14:m>
                  <m:oMath xmlns:m="http://schemas.openxmlformats.org/officeDocument/2006/math">
                    <m:sSup>
                      <m:sSupPr>
                        <m:ctrlPr>
                          <a:rPr lang="en-US" i="1">
                            <a:solidFill>
                              <a:srgbClr val="666666"/>
                            </a:solidFill>
                            <a:latin typeface="Cambria Math" panose="02040503050406030204" pitchFamily="18" charset="0"/>
                          </a:rPr>
                        </m:ctrlPr>
                      </m:sSupPr>
                      <m:e>
                        <m:r>
                          <a:rPr lang="en-US" i="1">
                            <a:solidFill>
                              <a:srgbClr val="666666"/>
                            </a:solidFill>
                            <a:latin typeface="Cambria Math" panose="02040503050406030204" pitchFamily="18" charset="0"/>
                          </a:rPr>
                          <m:t>2</m:t>
                        </m:r>
                      </m:e>
                      <m:sup>
                        <m:r>
                          <a:rPr lang="en-US" i="1">
                            <a:solidFill>
                              <a:srgbClr val="666666"/>
                            </a:solidFill>
                            <a:latin typeface="Cambria Math" panose="02040503050406030204" pitchFamily="18" charset="0"/>
                          </a:rPr>
                          <m:t>𝑆</m:t>
                        </m:r>
                      </m:sup>
                    </m:sSup>
                    <m:r>
                      <a:rPr lang="en-US" i="1">
                        <a:solidFill>
                          <a:srgbClr val="666666"/>
                        </a:solidFill>
                        <a:latin typeface="Cambria Math" panose="02040503050406030204" pitchFamily="18" charset="0"/>
                      </a:rPr>
                      <m:t>=</m:t>
                    </m:r>
                    <m:sSup>
                      <m:sSupPr>
                        <m:ctrlPr>
                          <a:rPr lang="en-US" i="1">
                            <a:solidFill>
                              <a:srgbClr val="666666"/>
                            </a:solidFill>
                            <a:latin typeface="Cambria Math" panose="02040503050406030204" pitchFamily="18" charset="0"/>
                          </a:rPr>
                        </m:ctrlPr>
                      </m:sSupPr>
                      <m:e>
                        <m:r>
                          <a:rPr lang="en-US" i="1">
                            <a:solidFill>
                              <a:srgbClr val="666666"/>
                            </a:solidFill>
                            <a:latin typeface="Cambria Math" panose="02040503050406030204" pitchFamily="18" charset="0"/>
                          </a:rPr>
                          <m:t>2</m:t>
                        </m:r>
                      </m:e>
                      <m:sup>
                        <m:r>
                          <a:rPr lang="en-US" b="0" i="1" smtClean="0">
                            <a:solidFill>
                              <a:srgbClr val="666666"/>
                            </a:solidFill>
                            <a:latin typeface="Cambria Math" panose="02040503050406030204" pitchFamily="18" charset="0"/>
                          </a:rPr>
                          <m:t>2</m:t>
                        </m:r>
                      </m:sup>
                    </m:sSup>
                    <m:r>
                      <a:rPr lang="en-US" i="1">
                        <a:solidFill>
                          <a:srgbClr val="666666"/>
                        </a:solidFill>
                        <a:latin typeface="Cambria Math" panose="02040503050406030204" pitchFamily="18" charset="0"/>
                      </a:rPr>
                      <m:t>=</m:t>
                    </m:r>
                    <m:r>
                      <a:rPr lang="en-US" b="0" i="1" smtClean="0">
                        <a:solidFill>
                          <a:srgbClr val="666666"/>
                        </a:solidFill>
                        <a:latin typeface="Cambria Math" panose="02040503050406030204" pitchFamily="18" charset="0"/>
                      </a:rPr>
                      <m:t>4</m:t>
                    </m:r>
                  </m:oMath>
                </a14:m>
                <a:endParaRPr lang="en-US" dirty="0">
                  <a:solidFill>
                    <a:srgbClr val="666666"/>
                  </a:solidFill>
                  <a:latin typeface="+mj-lt"/>
                </a:endParaRPr>
              </a:p>
              <a:p>
                <a:pPr marL="0" lvl="0" indent="0">
                  <a:lnSpc>
                    <a:spcPct val="100000"/>
                  </a:lnSpc>
                  <a:spcBef>
                    <a:spcPts val="0"/>
                  </a:spcBef>
                  <a:buClrTx/>
                  <a:buSzTx/>
                  <a:buNone/>
                </a:pPr>
                <a:r>
                  <a:rPr lang="en-US" dirty="0" err="1">
                    <a:solidFill>
                      <a:srgbClr val="666666"/>
                    </a:solidFill>
                    <a:latin typeface="+mj-lt"/>
                  </a:rPr>
                  <a:t>Số</a:t>
                </a:r>
                <a:r>
                  <a:rPr lang="en-US" dirty="0">
                    <a:solidFill>
                      <a:srgbClr val="666666"/>
                    </a:solidFill>
                    <a:latin typeface="+mj-lt"/>
                  </a:rPr>
                  <a:t> bit </a:t>
                </a:r>
                <a:r>
                  <a:rPr lang="en-US" dirty="0" err="1">
                    <a:solidFill>
                      <a:srgbClr val="666666"/>
                    </a:solidFill>
                    <a:latin typeface="+mj-lt"/>
                  </a:rPr>
                  <a:t>còn</a:t>
                </a:r>
                <a:r>
                  <a:rPr lang="en-US" dirty="0">
                    <a:solidFill>
                      <a:srgbClr val="666666"/>
                    </a:solidFill>
                    <a:latin typeface="+mj-lt"/>
                  </a:rPr>
                  <a:t> </a:t>
                </a:r>
                <a:r>
                  <a:rPr lang="en-US" dirty="0" err="1">
                    <a:solidFill>
                      <a:srgbClr val="666666"/>
                    </a:solidFill>
                    <a:latin typeface="+mj-lt"/>
                  </a:rPr>
                  <a:t>lại</a:t>
                </a:r>
                <a:r>
                  <a:rPr lang="en-US" dirty="0">
                    <a:solidFill>
                      <a:srgbClr val="666666"/>
                    </a:solidFill>
                    <a:latin typeface="+mj-lt"/>
                  </a:rPr>
                  <a:t> </a:t>
                </a:r>
                <a:r>
                  <a:rPr lang="en-US" dirty="0" err="1">
                    <a:solidFill>
                      <a:srgbClr val="666666"/>
                    </a:solidFill>
                    <a:latin typeface="+mj-lt"/>
                  </a:rPr>
                  <a:t>trong</a:t>
                </a:r>
                <a:r>
                  <a:rPr lang="en-US" dirty="0">
                    <a:solidFill>
                      <a:srgbClr val="666666"/>
                    </a:solidFill>
                    <a:latin typeface="+mj-lt"/>
                  </a:rPr>
                  <a:t> </a:t>
                </a:r>
                <a:r>
                  <a:rPr lang="en-US" dirty="0" err="1">
                    <a:solidFill>
                      <a:srgbClr val="666666"/>
                    </a:solidFill>
                    <a:latin typeface="+mj-lt"/>
                  </a:rPr>
                  <a:t>phần</a:t>
                </a:r>
                <a:r>
                  <a:rPr lang="en-US" dirty="0">
                    <a:solidFill>
                      <a:srgbClr val="666666"/>
                    </a:solidFill>
                    <a:latin typeface="+mj-lt"/>
                  </a:rPr>
                  <a:t> host: H = 8 – S = 8 - 2 = 6</a:t>
                </a:r>
              </a:p>
              <a:p>
                <a:pPr marL="0" lvl="0" indent="0">
                  <a:lnSpc>
                    <a:spcPct val="100000"/>
                  </a:lnSpc>
                  <a:spcBef>
                    <a:spcPts val="0"/>
                  </a:spcBef>
                  <a:buClrTx/>
                  <a:buSzTx/>
                  <a:buNone/>
                </a:pPr>
                <a:r>
                  <a:rPr lang="en-US" dirty="0" err="1">
                    <a:solidFill>
                      <a:srgbClr val="666666"/>
                    </a:solidFill>
                    <a:latin typeface="+mj-lt"/>
                  </a:rPr>
                  <a:t>Số</a:t>
                </a:r>
                <a:r>
                  <a:rPr lang="en-US" dirty="0">
                    <a:solidFill>
                      <a:srgbClr val="666666"/>
                    </a:solidFill>
                    <a:latin typeface="+mj-lt"/>
                  </a:rPr>
                  <a:t> host </a:t>
                </a:r>
                <a:r>
                  <a:rPr lang="en-US" dirty="0" err="1">
                    <a:solidFill>
                      <a:srgbClr val="666666"/>
                    </a:solidFill>
                    <a:latin typeface="+mj-lt"/>
                  </a:rPr>
                  <a:t>trong</a:t>
                </a:r>
                <a:r>
                  <a:rPr lang="en-US" dirty="0">
                    <a:solidFill>
                      <a:srgbClr val="666666"/>
                    </a:solidFill>
                    <a:latin typeface="+mj-lt"/>
                  </a:rPr>
                  <a:t> </a:t>
                </a:r>
                <a:r>
                  <a:rPr lang="en-US" dirty="0" err="1">
                    <a:solidFill>
                      <a:srgbClr val="666666"/>
                    </a:solidFill>
                    <a:latin typeface="+mj-lt"/>
                  </a:rPr>
                  <a:t>mỗi</a:t>
                </a:r>
                <a:r>
                  <a:rPr lang="en-US" dirty="0">
                    <a:solidFill>
                      <a:srgbClr val="666666"/>
                    </a:solidFill>
                    <a:latin typeface="+mj-lt"/>
                  </a:rPr>
                  <a:t> subnet: </a:t>
                </a:r>
                <a14:m>
                  <m:oMath xmlns:m="http://schemas.openxmlformats.org/officeDocument/2006/math">
                    <m:sSup>
                      <m:sSupPr>
                        <m:ctrlPr>
                          <a:rPr lang="en-US" i="1">
                            <a:solidFill>
                              <a:srgbClr val="666666"/>
                            </a:solidFill>
                            <a:latin typeface="Cambria Math" panose="02040503050406030204" pitchFamily="18" charset="0"/>
                          </a:rPr>
                        </m:ctrlPr>
                      </m:sSupPr>
                      <m:e>
                        <m:r>
                          <a:rPr lang="en-US" i="1">
                            <a:solidFill>
                              <a:srgbClr val="666666"/>
                            </a:solidFill>
                            <a:latin typeface="Cambria Math" panose="02040503050406030204" pitchFamily="18" charset="0"/>
                          </a:rPr>
                          <m:t>2</m:t>
                        </m:r>
                      </m:e>
                      <m:sup>
                        <m:r>
                          <a:rPr lang="en-US" i="1">
                            <a:solidFill>
                              <a:srgbClr val="666666"/>
                            </a:solidFill>
                            <a:latin typeface="Cambria Math" panose="02040503050406030204" pitchFamily="18" charset="0"/>
                          </a:rPr>
                          <m:t>𝐻</m:t>
                        </m:r>
                      </m:sup>
                    </m:sSup>
                    <m:r>
                      <a:rPr lang="en-US" i="1">
                        <a:solidFill>
                          <a:srgbClr val="666666"/>
                        </a:solidFill>
                        <a:latin typeface="Cambria Math" panose="02040503050406030204" pitchFamily="18" charset="0"/>
                      </a:rPr>
                      <m:t>−2=</m:t>
                    </m:r>
                    <m:sSup>
                      <m:sSupPr>
                        <m:ctrlPr>
                          <a:rPr lang="en-US" i="1">
                            <a:solidFill>
                              <a:srgbClr val="666666"/>
                            </a:solidFill>
                            <a:latin typeface="Cambria Math" panose="02040503050406030204" pitchFamily="18" charset="0"/>
                          </a:rPr>
                        </m:ctrlPr>
                      </m:sSupPr>
                      <m:e>
                        <m:r>
                          <a:rPr lang="en-US" i="1">
                            <a:solidFill>
                              <a:srgbClr val="666666"/>
                            </a:solidFill>
                            <a:latin typeface="Cambria Math" panose="02040503050406030204" pitchFamily="18" charset="0"/>
                          </a:rPr>
                          <m:t>2</m:t>
                        </m:r>
                      </m:e>
                      <m:sup>
                        <m:r>
                          <a:rPr lang="en-US" b="0" i="1" smtClean="0">
                            <a:solidFill>
                              <a:srgbClr val="666666"/>
                            </a:solidFill>
                            <a:latin typeface="Cambria Math" panose="02040503050406030204" pitchFamily="18" charset="0"/>
                          </a:rPr>
                          <m:t>6</m:t>
                        </m:r>
                      </m:sup>
                    </m:sSup>
                    <m:r>
                      <a:rPr lang="en-US" i="1">
                        <a:solidFill>
                          <a:srgbClr val="666666"/>
                        </a:solidFill>
                        <a:latin typeface="Cambria Math" panose="02040503050406030204" pitchFamily="18" charset="0"/>
                      </a:rPr>
                      <m:t>−2=</m:t>
                    </m:r>
                    <m:r>
                      <a:rPr lang="en-US" b="0" i="1" smtClean="0">
                        <a:solidFill>
                          <a:srgbClr val="666666"/>
                        </a:solidFill>
                        <a:latin typeface="Cambria Math" panose="02040503050406030204" pitchFamily="18" charset="0"/>
                      </a:rPr>
                      <m:t>62</m:t>
                    </m:r>
                  </m:oMath>
                </a14:m>
                <a:endParaRPr lang="en-US" b="0" dirty="0">
                  <a:solidFill>
                    <a:srgbClr val="666666"/>
                  </a:solidFill>
                  <a:latin typeface="+mj-lt"/>
                </a:endParaRPr>
              </a:p>
              <a:p>
                <a:pPr marL="0" lvl="0" indent="0">
                  <a:lnSpc>
                    <a:spcPct val="100000"/>
                  </a:lnSpc>
                  <a:spcBef>
                    <a:spcPts val="0"/>
                  </a:spcBef>
                  <a:buClrTx/>
                  <a:buSzTx/>
                  <a:buNone/>
                </a:pPr>
                <a:r>
                  <a:rPr lang="en-US" b="1" dirty="0" err="1">
                    <a:solidFill>
                      <a:srgbClr val="666666"/>
                    </a:solidFill>
                    <a:latin typeface="+mj-lt"/>
                  </a:rPr>
                  <a:t>Bước</a:t>
                </a:r>
                <a:r>
                  <a:rPr lang="en-US" b="1" dirty="0">
                    <a:solidFill>
                      <a:srgbClr val="666666"/>
                    </a:solidFill>
                    <a:latin typeface="+mj-lt"/>
                  </a:rPr>
                  <a:t> </a:t>
                </a:r>
                <a:r>
                  <a:rPr lang="en-US" b="1" dirty="0" err="1">
                    <a:solidFill>
                      <a:srgbClr val="666666"/>
                    </a:solidFill>
                    <a:latin typeface="+mj-lt"/>
                  </a:rPr>
                  <a:t>nhảy</a:t>
                </a:r>
                <a:r>
                  <a:rPr lang="en-US" dirty="0">
                    <a:solidFill>
                      <a:srgbClr val="666666"/>
                    </a:solidFill>
                    <a:latin typeface="+mj-lt"/>
                  </a:rPr>
                  <a:t>: 256 – 192 = 64</a:t>
                </a:r>
                <a:r>
                  <a:rPr lang="en-US" b="0" dirty="0">
                    <a:solidFill>
                      <a:srgbClr val="666666"/>
                    </a:solidFill>
                    <a:latin typeface="+mj-lt"/>
                  </a:rPr>
                  <a:t>, </a:t>
                </a:r>
                <a:r>
                  <a:rPr lang="en-US" b="0" dirty="0" err="1">
                    <a:solidFill>
                      <a:srgbClr val="666666"/>
                    </a:solidFill>
                    <a:latin typeface="+mj-lt"/>
                  </a:rPr>
                  <a:t>giá</a:t>
                </a:r>
                <a:r>
                  <a:rPr lang="en-US" b="0" dirty="0">
                    <a:solidFill>
                      <a:srgbClr val="666666"/>
                    </a:solidFill>
                    <a:latin typeface="+mj-lt"/>
                  </a:rPr>
                  <a:t> </a:t>
                </a:r>
                <a:r>
                  <a:rPr lang="en-US" b="0" dirty="0" err="1">
                    <a:solidFill>
                      <a:srgbClr val="666666"/>
                    </a:solidFill>
                    <a:latin typeface="+mj-lt"/>
                  </a:rPr>
                  <a:t>trị</a:t>
                </a:r>
                <a:r>
                  <a:rPr lang="en-US" b="0" dirty="0">
                    <a:solidFill>
                      <a:srgbClr val="666666"/>
                    </a:solidFill>
                    <a:latin typeface="+mj-lt"/>
                  </a:rPr>
                  <a:t> </a:t>
                </a:r>
                <a:r>
                  <a:rPr lang="en-US" b="0" dirty="0" err="1">
                    <a:solidFill>
                      <a:srgbClr val="666666"/>
                    </a:solidFill>
                    <a:latin typeface="+mj-lt"/>
                  </a:rPr>
                  <a:t>bước</a:t>
                </a:r>
                <a:r>
                  <a:rPr lang="en-US" b="0" dirty="0">
                    <a:solidFill>
                      <a:srgbClr val="666666"/>
                    </a:solidFill>
                    <a:latin typeface="+mj-lt"/>
                  </a:rPr>
                  <a:t> </a:t>
                </a:r>
                <a:r>
                  <a:rPr lang="en-US" b="0" dirty="0" err="1">
                    <a:solidFill>
                      <a:srgbClr val="666666"/>
                    </a:solidFill>
                    <a:latin typeface="+mj-lt"/>
                  </a:rPr>
                  <a:t>nhảy</a:t>
                </a:r>
                <a:r>
                  <a:rPr lang="en-US" b="0" dirty="0">
                    <a:solidFill>
                      <a:srgbClr val="666666"/>
                    </a:solidFill>
                    <a:latin typeface="+mj-lt"/>
                  </a:rPr>
                  <a:t> </a:t>
                </a:r>
                <a:r>
                  <a:rPr lang="en-US" b="0" dirty="0" err="1">
                    <a:solidFill>
                      <a:srgbClr val="666666"/>
                    </a:solidFill>
                    <a:latin typeface="+mj-lt"/>
                  </a:rPr>
                  <a:t>được</a:t>
                </a:r>
                <a:r>
                  <a:rPr lang="en-US" b="0" dirty="0">
                    <a:solidFill>
                      <a:srgbClr val="666666"/>
                    </a:solidFill>
                    <a:latin typeface="+mj-lt"/>
                  </a:rPr>
                  <a:t> </a:t>
                </a:r>
                <a:r>
                  <a:rPr lang="en-US" b="0" dirty="0" err="1">
                    <a:solidFill>
                      <a:srgbClr val="666666"/>
                    </a:solidFill>
                    <a:latin typeface="+mj-lt"/>
                  </a:rPr>
                  <a:t>dùng</a:t>
                </a:r>
                <a:r>
                  <a:rPr lang="en-US" b="0" dirty="0">
                    <a:solidFill>
                      <a:srgbClr val="666666"/>
                    </a:solidFill>
                    <a:latin typeface="+mj-lt"/>
                  </a:rPr>
                  <a:t> </a:t>
                </a:r>
                <a:r>
                  <a:rPr lang="en-US" b="0" dirty="0" err="1">
                    <a:solidFill>
                      <a:srgbClr val="666666"/>
                    </a:solidFill>
                    <a:latin typeface="+mj-lt"/>
                  </a:rPr>
                  <a:t>để</a:t>
                </a:r>
                <a:r>
                  <a:rPr lang="en-US" b="0" dirty="0">
                    <a:solidFill>
                      <a:srgbClr val="666666"/>
                    </a:solidFill>
                    <a:latin typeface="+mj-lt"/>
                  </a:rPr>
                  <a:t> </a:t>
                </a:r>
                <a:r>
                  <a:rPr lang="en-US" b="0" dirty="0" err="1">
                    <a:solidFill>
                      <a:srgbClr val="666666"/>
                    </a:solidFill>
                    <a:latin typeface="+mj-lt"/>
                  </a:rPr>
                  <a:t>xác</a:t>
                </a:r>
                <a:r>
                  <a:rPr lang="en-US" b="0" dirty="0">
                    <a:solidFill>
                      <a:srgbClr val="666666"/>
                    </a:solidFill>
                    <a:latin typeface="+mj-lt"/>
                  </a:rPr>
                  <a:t> </a:t>
                </a:r>
                <a:r>
                  <a:rPr lang="en-US" b="0" dirty="0" err="1">
                    <a:solidFill>
                      <a:srgbClr val="666666"/>
                    </a:solidFill>
                    <a:latin typeface="+mj-lt"/>
                  </a:rPr>
                  <a:t>định</a:t>
                </a:r>
                <a:r>
                  <a:rPr lang="en-US" b="0" dirty="0">
                    <a:solidFill>
                      <a:srgbClr val="666666"/>
                    </a:solidFill>
                    <a:latin typeface="+mj-lt"/>
                  </a:rPr>
                  <a:t> Subnet ID.</a:t>
                </a:r>
              </a:p>
              <a:p>
                <a:pPr lvl="0">
                  <a:lnSpc>
                    <a:spcPct val="100000"/>
                  </a:lnSpc>
                  <a:spcBef>
                    <a:spcPts val="0"/>
                  </a:spcBef>
                  <a:buClrTx/>
                  <a:buSzTx/>
                  <a:buFont typeface="Wingdings" panose="05000000000000000000" pitchFamily="2" charset="2"/>
                  <a:buChar char="Ø"/>
                </a:pPr>
                <a:r>
                  <a:rPr lang="en-US" b="0" dirty="0" err="1">
                    <a:solidFill>
                      <a:srgbClr val="666666"/>
                    </a:solidFill>
                    <a:latin typeface="+mj-lt"/>
                  </a:rPr>
                  <a:t>Giá</a:t>
                </a:r>
                <a:r>
                  <a:rPr lang="en-US" b="0" dirty="0">
                    <a:solidFill>
                      <a:srgbClr val="666666"/>
                    </a:solidFill>
                    <a:latin typeface="+mj-lt"/>
                  </a:rPr>
                  <a:t> </a:t>
                </a:r>
                <a:r>
                  <a:rPr lang="en-US" b="0" dirty="0" err="1">
                    <a:solidFill>
                      <a:srgbClr val="666666"/>
                    </a:solidFill>
                    <a:latin typeface="+mj-lt"/>
                  </a:rPr>
                  <a:t>trị</a:t>
                </a:r>
                <a:r>
                  <a:rPr lang="en-US" b="0" dirty="0">
                    <a:solidFill>
                      <a:srgbClr val="666666"/>
                    </a:solidFill>
                    <a:latin typeface="+mj-lt"/>
                  </a:rPr>
                  <a:t> </a:t>
                </a:r>
                <a:r>
                  <a:rPr lang="en-US" b="0" dirty="0" err="1">
                    <a:solidFill>
                      <a:srgbClr val="666666"/>
                    </a:solidFill>
                    <a:latin typeface="+mj-lt"/>
                  </a:rPr>
                  <a:t>của</a:t>
                </a:r>
                <a:r>
                  <a:rPr lang="en-US" b="0" dirty="0">
                    <a:solidFill>
                      <a:srgbClr val="666666"/>
                    </a:solidFill>
                    <a:latin typeface="+mj-lt"/>
                  </a:rPr>
                  <a:t> octet </a:t>
                </a:r>
                <a:r>
                  <a:rPr lang="en-US" b="0" dirty="0" err="1">
                    <a:solidFill>
                      <a:srgbClr val="666666"/>
                    </a:solidFill>
                    <a:latin typeface="+mj-lt"/>
                  </a:rPr>
                  <a:t>bị</a:t>
                </a:r>
                <a:r>
                  <a:rPr lang="en-US" b="0" dirty="0">
                    <a:solidFill>
                      <a:srgbClr val="666666"/>
                    </a:solidFill>
                    <a:latin typeface="+mj-lt"/>
                  </a:rPr>
                  <a:t> </a:t>
                </a:r>
                <a:r>
                  <a:rPr lang="en-US" b="0" dirty="0" err="1">
                    <a:solidFill>
                      <a:srgbClr val="666666"/>
                    </a:solidFill>
                    <a:latin typeface="+mj-lt"/>
                  </a:rPr>
                  <a:t>mượn</a:t>
                </a:r>
                <a:r>
                  <a:rPr lang="en-US" b="0" dirty="0">
                    <a:solidFill>
                      <a:srgbClr val="666666"/>
                    </a:solidFill>
                    <a:latin typeface="+mj-lt"/>
                  </a:rPr>
                  <a:t> bit </a:t>
                </a:r>
                <a:r>
                  <a:rPr lang="en-US" b="0" dirty="0" err="1">
                    <a:solidFill>
                      <a:srgbClr val="666666"/>
                    </a:solidFill>
                    <a:latin typeface="+mj-lt"/>
                  </a:rPr>
                  <a:t>được</a:t>
                </a:r>
                <a:r>
                  <a:rPr lang="en-US" b="0" dirty="0">
                    <a:solidFill>
                      <a:srgbClr val="666666"/>
                    </a:solidFill>
                    <a:latin typeface="+mj-lt"/>
                  </a:rPr>
                  <a:t> </a:t>
                </a:r>
                <a:r>
                  <a:rPr lang="en-US" b="0" dirty="0" err="1">
                    <a:solidFill>
                      <a:srgbClr val="666666"/>
                    </a:solidFill>
                    <a:latin typeface="+mj-lt"/>
                  </a:rPr>
                  <a:t>xác</a:t>
                </a:r>
                <a:r>
                  <a:rPr lang="en-US" b="0" dirty="0">
                    <a:solidFill>
                      <a:srgbClr val="666666"/>
                    </a:solidFill>
                    <a:latin typeface="+mj-lt"/>
                  </a:rPr>
                  <a:t> </a:t>
                </a:r>
                <a:r>
                  <a:rPr lang="en-US" b="0" dirty="0" err="1">
                    <a:solidFill>
                      <a:srgbClr val="666666"/>
                    </a:solidFill>
                    <a:latin typeface="+mj-lt"/>
                  </a:rPr>
                  <a:t>định</a:t>
                </a:r>
                <a:r>
                  <a:rPr lang="en-US" b="0" dirty="0">
                    <a:solidFill>
                      <a:srgbClr val="666666"/>
                    </a:solidFill>
                    <a:latin typeface="+mj-lt"/>
                  </a:rPr>
                  <a:t> </a:t>
                </a:r>
                <a:r>
                  <a:rPr lang="en-US" b="0" dirty="0" err="1">
                    <a:solidFill>
                      <a:srgbClr val="666666"/>
                    </a:solidFill>
                    <a:latin typeface="+mj-lt"/>
                  </a:rPr>
                  <a:t>bằng</a:t>
                </a:r>
                <a:r>
                  <a:rPr lang="en-US" b="0" dirty="0">
                    <a:solidFill>
                      <a:srgbClr val="666666"/>
                    </a:solidFill>
                    <a:latin typeface="+mj-lt"/>
                  </a:rPr>
                  <a:t> </a:t>
                </a:r>
                <a:r>
                  <a:rPr lang="en-US" b="0" dirty="0" err="1">
                    <a:solidFill>
                      <a:srgbClr val="666666"/>
                    </a:solidFill>
                    <a:latin typeface="+mj-lt"/>
                  </a:rPr>
                  <a:t>bội</a:t>
                </a:r>
                <a:r>
                  <a:rPr lang="en-US" b="0" dirty="0">
                    <a:solidFill>
                      <a:srgbClr val="666666"/>
                    </a:solidFill>
                    <a:latin typeface="+mj-lt"/>
                  </a:rPr>
                  <a:t> </a:t>
                </a:r>
                <a:r>
                  <a:rPr lang="en-US" b="0" dirty="0" err="1">
                    <a:solidFill>
                      <a:srgbClr val="666666"/>
                    </a:solidFill>
                    <a:latin typeface="+mj-lt"/>
                  </a:rPr>
                  <a:t>số</a:t>
                </a:r>
                <a:r>
                  <a:rPr lang="en-US" b="0" dirty="0">
                    <a:solidFill>
                      <a:srgbClr val="666666"/>
                    </a:solidFill>
                    <a:latin typeface="+mj-lt"/>
                  </a:rPr>
                  <a:t> </a:t>
                </a:r>
                <a:r>
                  <a:rPr lang="en-US" b="0" dirty="0" err="1">
                    <a:solidFill>
                      <a:srgbClr val="666666"/>
                    </a:solidFill>
                    <a:latin typeface="+mj-lt"/>
                  </a:rPr>
                  <a:t>của</a:t>
                </a:r>
                <a:r>
                  <a:rPr lang="en-US" b="0" dirty="0">
                    <a:solidFill>
                      <a:srgbClr val="666666"/>
                    </a:solidFill>
                    <a:latin typeface="+mj-lt"/>
                  </a:rPr>
                  <a:t> </a:t>
                </a:r>
                <a:r>
                  <a:rPr lang="en-US" b="0" dirty="0" err="1">
                    <a:solidFill>
                      <a:srgbClr val="666666"/>
                    </a:solidFill>
                    <a:latin typeface="+mj-lt"/>
                  </a:rPr>
                  <a:t>bước</a:t>
                </a:r>
                <a:r>
                  <a:rPr lang="en-US" b="0" dirty="0">
                    <a:solidFill>
                      <a:srgbClr val="666666"/>
                    </a:solidFill>
                    <a:latin typeface="+mj-lt"/>
                  </a:rPr>
                  <a:t> </a:t>
                </a:r>
                <a:r>
                  <a:rPr lang="en-US" b="0" dirty="0" err="1">
                    <a:solidFill>
                      <a:srgbClr val="666666"/>
                    </a:solidFill>
                    <a:latin typeface="+mj-lt"/>
                  </a:rPr>
                  <a:t>nhảy</a:t>
                </a:r>
                <a:r>
                  <a:rPr lang="en-US" b="0" dirty="0">
                    <a:solidFill>
                      <a:srgbClr val="666666"/>
                    </a:solidFill>
                    <a:latin typeface="+mj-lt"/>
                  </a:rPr>
                  <a:t>, </a:t>
                </a:r>
                <a:r>
                  <a:rPr lang="en-US" b="0" dirty="0" err="1">
                    <a:solidFill>
                      <a:srgbClr val="666666"/>
                    </a:solidFill>
                    <a:latin typeface="+mj-lt"/>
                  </a:rPr>
                  <a:t>nhận</a:t>
                </a:r>
                <a:r>
                  <a:rPr lang="en-US" b="0" dirty="0">
                    <a:solidFill>
                      <a:srgbClr val="666666"/>
                    </a:solidFill>
                    <a:latin typeface="+mj-lt"/>
                  </a:rPr>
                  <a:t> </a:t>
                </a:r>
                <a:r>
                  <a:rPr lang="en-US" b="0" dirty="0" err="1">
                    <a:solidFill>
                      <a:srgbClr val="666666"/>
                    </a:solidFill>
                    <a:latin typeface="+mj-lt"/>
                  </a:rPr>
                  <a:t>miền</a:t>
                </a:r>
                <a:r>
                  <a:rPr lang="en-US" b="0" dirty="0">
                    <a:solidFill>
                      <a:srgbClr val="666666"/>
                    </a:solidFill>
                    <a:latin typeface="+mj-lt"/>
                  </a:rPr>
                  <a:t> </a:t>
                </a:r>
                <a:r>
                  <a:rPr lang="en-US" b="0" dirty="0" err="1">
                    <a:solidFill>
                      <a:srgbClr val="666666"/>
                    </a:solidFill>
                    <a:latin typeface="+mj-lt"/>
                  </a:rPr>
                  <a:t>giá</a:t>
                </a:r>
                <a:r>
                  <a:rPr lang="en-US" b="0" dirty="0">
                    <a:solidFill>
                      <a:srgbClr val="666666"/>
                    </a:solidFill>
                    <a:latin typeface="+mj-lt"/>
                  </a:rPr>
                  <a:t> </a:t>
                </a:r>
                <a:r>
                  <a:rPr lang="en-US" b="0" dirty="0" err="1">
                    <a:solidFill>
                      <a:srgbClr val="666666"/>
                    </a:solidFill>
                    <a:latin typeface="+mj-lt"/>
                  </a:rPr>
                  <a:t>trị</a:t>
                </a:r>
                <a:r>
                  <a:rPr lang="en-US" b="0" dirty="0">
                    <a:solidFill>
                      <a:srgbClr val="666666"/>
                    </a:solidFill>
                    <a:latin typeface="+mj-lt"/>
                  </a:rPr>
                  <a:t> [0, 256)</a:t>
                </a:r>
              </a:p>
              <a:p>
                <a:pPr lvl="0">
                  <a:lnSpc>
                    <a:spcPct val="100000"/>
                  </a:lnSpc>
                  <a:spcBef>
                    <a:spcPts val="0"/>
                  </a:spcBef>
                  <a:buClrTx/>
                  <a:buSzTx/>
                  <a:buFont typeface="Wingdings" panose="05000000000000000000" pitchFamily="2" charset="2"/>
                  <a:buChar char="Ø"/>
                </a:pP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r>
                  <a:rPr lang="en-US" dirty="0">
                    <a:solidFill>
                      <a:srgbClr val="666666"/>
                    </a:solidFill>
                    <a:latin typeface="+mj-lt"/>
                  </a:rPr>
                  <a:t> host </a:t>
                </a:r>
                <a:r>
                  <a:rPr lang="en-US" dirty="0" err="1">
                    <a:solidFill>
                      <a:srgbClr val="666666"/>
                    </a:solidFill>
                    <a:latin typeface="+mj-lt"/>
                  </a:rPr>
                  <a:t>đầu</a:t>
                </a:r>
                <a:r>
                  <a:rPr lang="en-US" dirty="0">
                    <a:solidFill>
                      <a:srgbClr val="666666"/>
                    </a:solidFill>
                    <a:latin typeface="+mj-lt"/>
                  </a:rPr>
                  <a:t> </a:t>
                </a:r>
                <a:r>
                  <a:rPr lang="en-US" dirty="0" err="1">
                    <a:solidFill>
                      <a:srgbClr val="666666"/>
                    </a:solidFill>
                    <a:latin typeface="+mj-lt"/>
                  </a:rPr>
                  <a:t>là</a:t>
                </a:r>
                <a:r>
                  <a:rPr lang="en-US" dirty="0">
                    <a:solidFill>
                      <a:srgbClr val="666666"/>
                    </a:solidFill>
                    <a:latin typeface="+mj-lt"/>
                  </a:rPr>
                  <a:t> </a:t>
                </a: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r>
                  <a:rPr lang="en-US" dirty="0">
                    <a:solidFill>
                      <a:srgbClr val="666666"/>
                    </a:solidFill>
                    <a:latin typeface="+mj-lt"/>
                  </a:rPr>
                  <a:t> subnet </a:t>
                </a:r>
                <a:r>
                  <a:rPr lang="en-US" dirty="0" err="1">
                    <a:solidFill>
                      <a:srgbClr val="666666"/>
                    </a:solidFill>
                    <a:latin typeface="+mj-lt"/>
                  </a:rPr>
                  <a:t>tăng</a:t>
                </a:r>
                <a:r>
                  <a:rPr lang="en-US" dirty="0">
                    <a:solidFill>
                      <a:srgbClr val="666666"/>
                    </a:solidFill>
                    <a:latin typeface="+mj-lt"/>
                  </a:rPr>
                  <a:t> </a:t>
                </a:r>
                <a:r>
                  <a:rPr lang="en-US" dirty="0" err="1">
                    <a:solidFill>
                      <a:srgbClr val="666666"/>
                    </a:solidFill>
                    <a:latin typeface="+mj-lt"/>
                  </a:rPr>
                  <a:t>lên</a:t>
                </a:r>
                <a:r>
                  <a:rPr lang="en-US" dirty="0">
                    <a:solidFill>
                      <a:srgbClr val="666666"/>
                    </a:solidFill>
                    <a:latin typeface="+mj-lt"/>
                  </a:rPr>
                  <a:t> 1 </a:t>
                </a: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endParaRPr lang="en-US" dirty="0">
                  <a:solidFill>
                    <a:srgbClr val="666666"/>
                  </a:solidFill>
                  <a:latin typeface="+mj-lt"/>
                </a:endParaRPr>
              </a:p>
              <a:p>
                <a:pPr lvl="0">
                  <a:lnSpc>
                    <a:spcPct val="100000"/>
                  </a:lnSpc>
                  <a:spcBef>
                    <a:spcPts val="0"/>
                  </a:spcBef>
                  <a:buClrTx/>
                  <a:buSzTx/>
                  <a:buFont typeface="Wingdings" panose="05000000000000000000" pitchFamily="2" charset="2"/>
                  <a:buChar char="Ø"/>
                </a:pP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r>
                  <a:rPr lang="en-US" dirty="0">
                    <a:solidFill>
                      <a:srgbClr val="666666"/>
                    </a:solidFill>
                    <a:latin typeface="+mj-lt"/>
                  </a:rPr>
                  <a:t> host </a:t>
                </a:r>
                <a:r>
                  <a:rPr lang="en-US" dirty="0" err="1">
                    <a:solidFill>
                      <a:srgbClr val="666666"/>
                    </a:solidFill>
                    <a:latin typeface="+mj-lt"/>
                  </a:rPr>
                  <a:t>cuối</a:t>
                </a:r>
                <a:r>
                  <a:rPr lang="en-US" dirty="0">
                    <a:solidFill>
                      <a:srgbClr val="666666"/>
                    </a:solidFill>
                    <a:latin typeface="+mj-lt"/>
                  </a:rPr>
                  <a:t> </a:t>
                </a:r>
                <a:r>
                  <a:rPr lang="en-US" dirty="0" err="1">
                    <a:solidFill>
                      <a:srgbClr val="666666"/>
                    </a:solidFill>
                    <a:latin typeface="+mj-lt"/>
                  </a:rPr>
                  <a:t>sẽ</a:t>
                </a:r>
                <a:r>
                  <a:rPr lang="en-US" dirty="0">
                    <a:solidFill>
                      <a:srgbClr val="666666"/>
                    </a:solidFill>
                    <a:latin typeface="+mj-lt"/>
                  </a:rPr>
                  <a:t> </a:t>
                </a:r>
                <a:r>
                  <a:rPr lang="en-US" dirty="0" err="1">
                    <a:solidFill>
                      <a:srgbClr val="666666"/>
                    </a:solidFill>
                    <a:latin typeface="+mj-lt"/>
                  </a:rPr>
                  <a:t>bằng</a:t>
                </a:r>
                <a:r>
                  <a:rPr lang="en-US" dirty="0">
                    <a:solidFill>
                      <a:srgbClr val="666666"/>
                    </a:solidFill>
                    <a:latin typeface="+mj-lt"/>
                  </a:rPr>
                  <a:t> </a:t>
                </a: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r>
                  <a:rPr lang="en-US" dirty="0">
                    <a:solidFill>
                      <a:srgbClr val="666666"/>
                    </a:solidFill>
                    <a:latin typeface="+mj-lt"/>
                  </a:rPr>
                  <a:t> broadcast </a:t>
                </a:r>
                <a:r>
                  <a:rPr lang="en-US" dirty="0" err="1">
                    <a:solidFill>
                      <a:srgbClr val="666666"/>
                    </a:solidFill>
                    <a:latin typeface="+mj-lt"/>
                  </a:rPr>
                  <a:t>lùi</a:t>
                </a:r>
                <a:r>
                  <a:rPr lang="en-US" dirty="0">
                    <a:solidFill>
                      <a:srgbClr val="666666"/>
                    </a:solidFill>
                    <a:latin typeface="+mj-lt"/>
                  </a:rPr>
                  <a:t> </a:t>
                </a:r>
                <a:r>
                  <a:rPr lang="en-US" dirty="0" err="1">
                    <a:solidFill>
                      <a:srgbClr val="666666"/>
                    </a:solidFill>
                    <a:latin typeface="+mj-lt"/>
                  </a:rPr>
                  <a:t>về</a:t>
                </a:r>
                <a:r>
                  <a:rPr lang="en-US" dirty="0">
                    <a:solidFill>
                      <a:srgbClr val="666666"/>
                    </a:solidFill>
                    <a:latin typeface="+mj-lt"/>
                  </a:rPr>
                  <a:t> 1 </a:t>
                </a: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endParaRPr lang="en-US" dirty="0">
                  <a:solidFill>
                    <a:srgbClr val="666666"/>
                  </a:solidFill>
                  <a:latin typeface="+mj-lt"/>
                </a:endParaRPr>
              </a:p>
              <a:p>
                <a:pPr lvl="0">
                  <a:lnSpc>
                    <a:spcPct val="100000"/>
                  </a:lnSpc>
                  <a:spcBef>
                    <a:spcPts val="0"/>
                  </a:spcBef>
                  <a:buClrTx/>
                  <a:buSzTx/>
                  <a:buFont typeface="Wingdings" panose="05000000000000000000" pitchFamily="2" charset="2"/>
                  <a:buChar char="Ø"/>
                </a:pP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r>
                  <a:rPr lang="en-US" dirty="0">
                    <a:solidFill>
                      <a:srgbClr val="666666"/>
                    </a:solidFill>
                    <a:latin typeface="+mj-lt"/>
                  </a:rPr>
                  <a:t> broadcast </a:t>
                </a:r>
                <a:r>
                  <a:rPr lang="en-US" dirty="0" err="1">
                    <a:solidFill>
                      <a:srgbClr val="666666"/>
                    </a:solidFill>
                    <a:latin typeface="+mj-lt"/>
                  </a:rPr>
                  <a:t>bằng</a:t>
                </a:r>
                <a:r>
                  <a:rPr lang="en-US" dirty="0">
                    <a:solidFill>
                      <a:srgbClr val="666666"/>
                    </a:solidFill>
                    <a:latin typeface="+mj-lt"/>
                  </a:rPr>
                  <a:t> </a:t>
                </a: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r>
                  <a:rPr lang="en-US" dirty="0">
                    <a:solidFill>
                      <a:srgbClr val="666666"/>
                    </a:solidFill>
                    <a:latin typeface="+mj-lt"/>
                  </a:rPr>
                  <a:t> subnet </a:t>
                </a:r>
                <a:r>
                  <a:rPr lang="en-US" dirty="0" err="1">
                    <a:solidFill>
                      <a:srgbClr val="666666"/>
                    </a:solidFill>
                    <a:latin typeface="+mj-lt"/>
                  </a:rPr>
                  <a:t>tiếp</a:t>
                </a:r>
                <a:r>
                  <a:rPr lang="en-US" dirty="0">
                    <a:solidFill>
                      <a:srgbClr val="666666"/>
                    </a:solidFill>
                    <a:latin typeface="+mj-lt"/>
                  </a:rPr>
                  <a:t> </a:t>
                </a:r>
                <a:r>
                  <a:rPr lang="en-US" dirty="0" err="1">
                    <a:solidFill>
                      <a:srgbClr val="666666"/>
                    </a:solidFill>
                    <a:latin typeface="+mj-lt"/>
                  </a:rPr>
                  <a:t>theo</a:t>
                </a:r>
                <a:r>
                  <a:rPr lang="en-US" dirty="0">
                    <a:solidFill>
                      <a:srgbClr val="666666"/>
                    </a:solidFill>
                    <a:latin typeface="+mj-lt"/>
                  </a:rPr>
                  <a:t> </a:t>
                </a:r>
                <a:r>
                  <a:rPr lang="en-US" dirty="0" err="1">
                    <a:solidFill>
                      <a:srgbClr val="666666"/>
                    </a:solidFill>
                    <a:latin typeface="+mj-lt"/>
                  </a:rPr>
                  <a:t>lùi</a:t>
                </a:r>
                <a:r>
                  <a:rPr lang="en-US" dirty="0">
                    <a:solidFill>
                      <a:srgbClr val="666666"/>
                    </a:solidFill>
                    <a:latin typeface="+mj-lt"/>
                  </a:rPr>
                  <a:t> </a:t>
                </a:r>
                <a:r>
                  <a:rPr lang="en-US" dirty="0" err="1">
                    <a:solidFill>
                      <a:srgbClr val="666666"/>
                    </a:solidFill>
                    <a:latin typeface="+mj-lt"/>
                  </a:rPr>
                  <a:t>về</a:t>
                </a:r>
                <a:r>
                  <a:rPr lang="en-US" dirty="0">
                    <a:solidFill>
                      <a:srgbClr val="666666"/>
                    </a:solidFill>
                    <a:latin typeface="+mj-lt"/>
                  </a:rPr>
                  <a:t> 1 </a:t>
                </a:r>
                <a:r>
                  <a:rPr lang="en-US" dirty="0" err="1">
                    <a:solidFill>
                      <a:srgbClr val="666666"/>
                    </a:solidFill>
                    <a:latin typeface="+mj-lt"/>
                  </a:rPr>
                  <a:t>địa</a:t>
                </a:r>
                <a:r>
                  <a:rPr lang="en-US" dirty="0">
                    <a:solidFill>
                      <a:srgbClr val="666666"/>
                    </a:solidFill>
                    <a:latin typeface="+mj-lt"/>
                  </a:rPr>
                  <a:t> </a:t>
                </a:r>
                <a:r>
                  <a:rPr lang="en-US" dirty="0" err="1">
                    <a:solidFill>
                      <a:srgbClr val="666666"/>
                    </a:solidFill>
                    <a:latin typeface="+mj-lt"/>
                  </a:rPr>
                  <a:t>chỉ</a:t>
                </a:r>
                <a:endParaRPr lang="en-US" b="0" dirty="0">
                  <a:solidFill>
                    <a:srgbClr val="666666"/>
                  </a:solidFill>
                  <a:latin typeface="+mj-lt"/>
                </a:endParaRPr>
              </a:p>
              <a:p>
                <a:pPr marL="0" lvl="0" indent="0">
                  <a:lnSpc>
                    <a:spcPct val="100000"/>
                  </a:lnSpc>
                  <a:spcBef>
                    <a:spcPts val="0"/>
                  </a:spcBef>
                  <a:buClrTx/>
                  <a:buSzTx/>
                  <a:buNone/>
                </a:pPr>
                <a:endParaRPr lang="en-US" dirty="0">
                  <a:solidFill>
                    <a:srgbClr val="666666"/>
                  </a:solidFill>
                  <a:latin typeface="+mj-lt"/>
                </a:endParaRPr>
              </a:p>
              <a:p>
                <a:pPr marL="0" indent="0">
                  <a:buNone/>
                </a:pPr>
                <a:endParaRPr lang="en-US" dirty="0"/>
              </a:p>
              <a:p>
                <a:pPr marL="0" indent="0">
                  <a:buNone/>
                </a:pPr>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80229" y="1474845"/>
                <a:ext cx="11987079" cy="2890684"/>
              </a:xfrm>
              <a:blipFill>
                <a:blip r:embed="rId3"/>
                <a:stretch>
                  <a:fillRect l="-407" b="-4430"/>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4279464542"/>
              </p:ext>
            </p:extLst>
          </p:nvPr>
        </p:nvGraphicFramePr>
        <p:xfrm>
          <a:off x="226544" y="4365529"/>
          <a:ext cx="11694447" cy="1854200"/>
        </p:xfrm>
        <a:graphic>
          <a:graphicData uri="http://schemas.openxmlformats.org/drawingml/2006/table">
            <a:tbl>
              <a:tblPr firstRow="1" bandRow="1">
                <a:tableStyleId>{5C22544A-7EE6-4342-B048-85BDC9FD1C3A}</a:tableStyleId>
              </a:tblPr>
              <a:tblGrid>
                <a:gridCol w="1773552">
                  <a:extLst>
                    <a:ext uri="{9D8B030D-6E8A-4147-A177-3AD203B41FA5}">
                      <a16:colId xmlns:a16="http://schemas.microsoft.com/office/drawing/2014/main" val="246748038"/>
                    </a:ext>
                  </a:extLst>
                </a:gridCol>
                <a:gridCol w="1984179">
                  <a:extLst>
                    <a:ext uri="{9D8B030D-6E8A-4147-A177-3AD203B41FA5}">
                      <a16:colId xmlns:a16="http://schemas.microsoft.com/office/drawing/2014/main" val="645749282"/>
                    </a:ext>
                  </a:extLst>
                </a:gridCol>
                <a:gridCol w="1984179">
                  <a:extLst>
                    <a:ext uri="{9D8B030D-6E8A-4147-A177-3AD203B41FA5}">
                      <a16:colId xmlns:a16="http://schemas.microsoft.com/office/drawing/2014/main" val="2700431005"/>
                    </a:ext>
                  </a:extLst>
                </a:gridCol>
                <a:gridCol w="1984179">
                  <a:extLst>
                    <a:ext uri="{9D8B030D-6E8A-4147-A177-3AD203B41FA5}">
                      <a16:colId xmlns:a16="http://schemas.microsoft.com/office/drawing/2014/main" val="1019206509"/>
                    </a:ext>
                  </a:extLst>
                </a:gridCol>
                <a:gridCol w="2476333">
                  <a:extLst>
                    <a:ext uri="{9D8B030D-6E8A-4147-A177-3AD203B41FA5}">
                      <a16:colId xmlns:a16="http://schemas.microsoft.com/office/drawing/2014/main" val="1664222500"/>
                    </a:ext>
                  </a:extLst>
                </a:gridCol>
                <a:gridCol w="1492025">
                  <a:extLst>
                    <a:ext uri="{9D8B030D-6E8A-4147-A177-3AD203B41FA5}">
                      <a16:colId xmlns:a16="http://schemas.microsoft.com/office/drawing/2014/main" val="1192292857"/>
                    </a:ext>
                  </a:extLst>
                </a:gridCol>
              </a:tblGrid>
              <a:tr h="370840">
                <a:tc>
                  <a:txBody>
                    <a:bodyPr/>
                    <a:lstStyle/>
                    <a:p>
                      <a:r>
                        <a:rPr lang="en-US"/>
                        <a:t>Subnet-ID</a:t>
                      </a:r>
                    </a:p>
                  </a:txBody>
                  <a:tcPr/>
                </a:tc>
                <a:tc>
                  <a:txBody>
                    <a:bodyPr/>
                    <a:lstStyle/>
                    <a:p>
                      <a:r>
                        <a:rPr lang="en-US"/>
                        <a:t>Địa</a:t>
                      </a:r>
                      <a:r>
                        <a:rPr lang="en-US" baseline="0"/>
                        <a:t> chỉ đầu</a:t>
                      </a:r>
                      <a:endParaRPr lang="en-US"/>
                    </a:p>
                  </a:txBody>
                  <a:tcPr/>
                </a:tc>
                <a:tc>
                  <a:txBody>
                    <a:bodyPr/>
                    <a:lstStyle/>
                    <a:p>
                      <a:r>
                        <a:rPr lang="en-US"/>
                        <a:t>Địa</a:t>
                      </a:r>
                      <a:r>
                        <a:rPr lang="en-US" baseline="0"/>
                        <a:t> chỉ cuối</a:t>
                      </a:r>
                      <a:endParaRPr lang="en-US"/>
                    </a:p>
                  </a:txBody>
                  <a:tcPr/>
                </a:tc>
                <a:tc>
                  <a:txBody>
                    <a:bodyPr/>
                    <a:lstStyle/>
                    <a:p>
                      <a:r>
                        <a:rPr lang="en-US"/>
                        <a:t>Đ/c</a:t>
                      </a:r>
                      <a:r>
                        <a:rPr lang="en-US" baseline="0"/>
                        <a:t> broadcast</a:t>
                      </a:r>
                      <a:endParaRPr lang="en-US"/>
                    </a:p>
                  </a:txBody>
                  <a:tcPr/>
                </a:tc>
                <a:tc>
                  <a:txBody>
                    <a:bodyPr/>
                    <a:lstStyle/>
                    <a:p>
                      <a:r>
                        <a:rPr lang="en-US"/>
                        <a:t>Subnet</a:t>
                      </a:r>
                      <a:r>
                        <a:rPr lang="en-US" baseline="0"/>
                        <a:t> mask</a:t>
                      </a:r>
                      <a:endParaRPr lang="en-US"/>
                    </a:p>
                  </a:txBody>
                  <a:tcPr/>
                </a:tc>
                <a:tc>
                  <a:txBody>
                    <a:bodyPr/>
                    <a:lstStyle/>
                    <a:p>
                      <a:r>
                        <a:rPr lang="en-US"/>
                        <a:t>Prefix</a:t>
                      </a:r>
                    </a:p>
                  </a:txBody>
                  <a:tcPr/>
                </a:tc>
                <a:extLst>
                  <a:ext uri="{0D108BD9-81ED-4DB2-BD59-A6C34878D82A}">
                    <a16:rowId xmlns:a16="http://schemas.microsoft.com/office/drawing/2014/main" val="2296351057"/>
                  </a:ext>
                </a:extLst>
              </a:tr>
              <a:tr h="370840">
                <a:tc>
                  <a:txBody>
                    <a:bodyPr/>
                    <a:lstStyle/>
                    <a:p>
                      <a:r>
                        <a:rPr lang="en-US" dirty="0"/>
                        <a:t>205.10.152.0</a:t>
                      </a:r>
                    </a:p>
                  </a:txBody>
                  <a:tcPr/>
                </a:tc>
                <a:tc>
                  <a:txBody>
                    <a:bodyPr/>
                    <a:lstStyle/>
                    <a:p>
                      <a:r>
                        <a:rPr lang="en-US" dirty="0"/>
                        <a:t>205.10.152.1</a:t>
                      </a:r>
                    </a:p>
                  </a:txBody>
                  <a:tcPr/>
                </a:tc>
                <a:tc>
                  <a:txBody>
                    <a:bodyPr/>
                    <a:lstStyle/>
                    <a:p>
                      <a:r>
                        <a:rPr lang="en-US" dirty="0"/>
                        <a:t>205.10.152.62</a:t>
                      </a:r>
                    </a:p>
                  </a:txBody>
                  <a:tcPr/>
                </a:tc>
                <a:tc>
                  <a:txBody>
                    <a:bodyPr/>
                    <a:lstStyle/>
                    <a:p>
                      <a:r>
                        <a:rPr lang="en-US" dirty="0"/>
                        <a:t>205.10.152.63</a:t>
                      </a:r>
                    </a:p>
                  </a:txBody>
                  <a:tcPr/>
                </a:tc>
                <a:tc>
                  <a:txBody>
                    <a:bodyPr/>
                    <a:lstStyle/>
                    <a:p>
                      <a:r>
                        <a:rPr lang="en-US"/>
                        <a:t>255.255.255.192</a:t>
                      </a:r>
                    </a:p>
                  </a:txBody>
                  <a:tcPr/>
                </a:tc>
                <a:tc>
                  <a:txBody>
                    <a:bodyPr/>
                    <a:lstStyle/>
                    <a:p>
                      <a:r>
                        <a:rPr lang="en-US"/>
                        <a:t>/26</a:t>
                      </a:r>
                    </a:p>
                  </a:txBody>
                  <a:tcPr/>
                </a:tc>
                <a:extLst>
                  <a:ext uri="{0D108BD9-81ED-4DB2-BD59-A6C34878D82A}">
                    <a16:rowId xmlns:a16="http://schemas.microsoft.com/office/drawing/2014/main" val="854459274"/>
                  </a:ext>
                </a:extLst>
              </a:tr>
              <a:tr h="370840">
                <a:tc>
                  <a:txBody>
                    <a:bodyPr/>
                    <a:lstStyle/>
                    <a:p>
                      <a:r>
                        <a:rPr lang="en-US" dirty="0"/>
                        <a:t>205.10.152.64</a:t>
                      </a:r>
                    </a:p>
                  </a:txBody>
                  <a:tcPr/>
                </a:tc>
                <a:tc>
                  <a:txBody>
                    <a:bodyPr/>
                    <a:lstStyle/>
                    <a:p>
                      <a:r>
                        <a:rPr lang="en-US"/>
                        <a:t>205.10.152.65</a:t>
                      </a:r>
                    </a:p>
                  </a:txBody>
                  <a:tcPr/>
                </a:tc>
                <a:tc>
                  <a:txBody>
                    <a:bodyPr/>
                    <a:lstStyle/>
                    <a:p>
                      <a:r>
                        <a:rPr lang="en-US"/>
                        <a:t>205.10.152.126</a:t>
                      </a:r>
                    </a:p>
                  </a:txBody>
                  <a:tcPr/>
                </a:tc>
                <a:tc>
                  <a:txBody>
                    <a:bodyPr/>
                    <a:lstStyle/>
                    <a:p>
                      <a:r>
                        <a:rPr lang="en-US"/>
                        <a:t>205.10.152.127</a:t>
                      </a:r>
                    </a:p>
                  </a:txBody>
                  <a:tcPr/>
                </a:tc>
                <a:tc>
                  <a:txBody>
                    <a:bodyPr/>
                    <a:lstStyle/>
                    <a:p>
                      <a:r>
                        <a:rPr lang="en-US"/>
                        <a:t>255.255.255.192</a:t>
                      </a:r>
                    </a:p>
                  </a:txBody>
                  <a:tcPr/>
                </a:tc>
                <a:tc>
                  <a:txBody>
                    <a:bodyPr/>
                    <a:lstStyle/>
                    <a:p>
                      <a:r>
                        <a:rPr lang="en-US"/>
                        <a:t>/26</a:t>
                      </a:r>
                    </a:p>
                  </a:txBody>
                  <a:tcPr/>
                </a:tc>
                <a:extLst>
                  <a:ext uri="{0D108BD9-81ED-4DB2-BD59-A6C34878D82A}">
                    <a16:rowId xmlns:a16="http://schemas.microsoft.com/office/drawing/2014/main" val="904802657"/>
                  </a:ext>
                </a:extLst>
              </a:tr>
              <a:tr h="370840">
                <a:tc>
                  <a:txBody>
                    <a:bodyPr/>
                    <a:lstStyle/>
                    <a:p>
                      <a:r>
                        <a:rPr lang="en-US" dirty="0"/>
                        <a:t>205.10.152.128</a:t>
                      </a:r>
                    </a:p>
                  </a:txBody>
                  <a:tcPr/>
                </a:tc>
                <a:tc>
                  <a:txBody>
                    <a:bodyPr/>
                    <a:lstStyle/>
                    <a:p>
                      <a:r>
                        <a:rPr lang="en-US"/>
                        <a:t>205.10.152.129</a:t>
                      </a:r>
                    </a:p>
                  </a:txBody>
                  <a:tcPr/>
                </a:tc>
                <a:tc>
                  <a:txBody>
                    <a:bodyPr/>
                    <a:lstStyle/>
                    <a:p>
                      <a:r>
                        <a:rPr lang="en-US"/>
                        <a:t>205.10.152.190</a:t>
                      </a:r>
                    </a:p>
                  </a:txBody>
                  <a:tcPr/>
                </a:tc>
                <a:tc>
                  <a:txBody>
                    <a:bodyPr/>
                    <a:lstStyle/>
                    <a:p>
                      <a:r>
                        <a:rPr lang="en-US"/>
                        <a:t>205.10.152.191</a:t>
                      </a:r>
                    </a:p>
                  </a:txBody>
                  <a:tcPr/>
                </a:tc>
                <a:tc>
                  <a:txBody>
                    <a:bodyPr/>
                    <a:lstStyle/>
                    <a:p>
                      <a:r>
                        <a:rPr lang="en-US"/>
                        <a:t>255.255.255.192</a:t>
                      </a:r>
                    </a:p>
                  </a:txBody>
                  <a:tcPr/>
                </a:tc>
                <a:tc>
                  <a:txBody>
                    <a:bodyPr/>
                    <a:lstStyle/>
                    <a:p>
                      <a:r>
                        <a:rPr lang="en-US"/>
                        <a:t>/26</a:t>
                      </a:r>
                    </a:p>
                  </a:txBody>
                  <a:tcPr/>
                </a:tc>
                <a:extLst>
                  <a:ext uri="{0D108BD9-81ED-4DB2-BD59-A6C34878D82A}">
                    <a16:rowId xmlns:a16="http://schemas.microsoft.com/office/drawing/2014/main" val="4235569344"/>
                  </a:ext>
                </a:extLst>
              </a:tr>
              <a:tr h="370840">
                <a:tc>
                  <a:txBody>
                    <a:bodyPr/>
                    <a:lstStyle/>
                    <a:p>
                      <a:r>
                        <a:rPr lang="en-US" dirty="0"/>
                        <a:t>205.10.152.192</a:t>
                      </a:r>
                    </a:p>
                  </a:txBody>
                  <a:tcPr/>
                </a:tc>
                <a:tc>
                  <a:txBody>
                    <a:bodyPr/>
                    <a:lstStyle/>
                    <a:p>
                      <a:r>
                        <a:rPr lang="en-US"/>
                        <a:t>205.10.152.193</a:t>
                      </a:r>
                    </a:p>
                  </a:txBody>
                  <a:tcPr/>
                </a:tc>
                <a:tc>
                  <a:txBody>
                    <a:bodyPr/>
                    <a:lstStyle/>
                    <a:p>
                      <a:r>
                        <a:rPr lang="en-US"/>
                        <a:t>205.10.152.254</a:t>
                      </a:r>
                    </a:p>
                  </a:txBody>
                  <a:tcPr/>
                </a:tc>
                <a:tc>
                  <a:txBody>
                    <a:bodyPr/>
                    <a:lstStyle/>
                    <a:p>
                      <a:r>
                        <a:rPr lang="en-US"/>
                        <a:t>205.10.152.255</a:t>
                      </a:r>
                    </a:p>
                  </a:txBody>
                  <a:tcPr/>
                </a:tc>
                <a:tc>
                  <a:txBody>
                    <a:bodyPr/>
                    <a:lstStyle/>
                    <a:p>
                      <a:r>
                        <a:rPr lang="en-US"/>
                        <a:t>255.255.255.192</a:t>
                      </a:r>
                    </a:p>
                  </a:txBody>
                  <a:tcPr/>
                </a:tc>
                <a:tc>
                  <a:txBody>
                    <a:bodyPr/>
                    <a:lstStyle/>
                    <a:p>
                      <a:r>
                        <a:rPr lang="en-US" dirty="0"/>
                        <a:t>/26</a:t>
                      </a:r>
                    </a:p>
                  </a:txBody>
                  <a:tcPr/>
                </a:tc>
                <a:extLst>
                  <a:ext uri="{0D108BD9-81ED-4DB2-BD59-A6C34878D82A}">
                    <a16:rowId xmlns:a16="http://schemas.microsoft.com/office/drawing/2014/main" val="3547136057"/>
                  </a:ext>
                </a:extLst>
              </a:tr>
            </a:tbl>
          </a:graphicData>
        </a:graphic>
      </p:graphicFrame>
    </p:spTree>
    <p:extLst>
      <p:ext uri="{BB962C8B-B14F-4D97-AF65-F5344CB8AC3E}">
        <p14:creationId xmlns:p14="http://schemas.microsoft.com/office/powerpoint/2010/main" val="382779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SUBNET MASK DUY NHẤT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6" name="Content Placeholder 5"/>
          <p:cNvSpPr>
            <a:spLocks noGrp="1"/>
          </p:cNvSpPr>
          <p:nvPr>
            <p:ph idx="1"/>
          </p:nvPr>
        </p:nvSpPr>
        <p:spPr>
          <a:xfrm>
            <a:off x="137433" y="1381850"/>
            <a:ext cx="11929876" cy="3381879"/>
          </a:xfrm>
        </p:spPr>
        <p:txBody>
          <a:bodyPr/>
          <a:lstStyle/>
          <a:p>
            <a:pPr algn="just"/>
            <a:r>
              <a:rPr lang="en-US" dirty="0"/>
              <a:t>Chia </a:t>
            </a:r>
            <a:r>
              <a:rPr lang="en-US" dirty="0" err="1"/>
              <a:t>mạng</a:t>
            </a:r>
            <a:r>
              <a:rPr lang="en-US" dirty="0"/>
              <a:t> con (</a:t>
            </a:r>
            <a:r>
              <a:rPr lang="en-US" b="1" dirty="0"/>
              <a:t>subnetting</a:t>
            </a:r>
            <a:r>
              <a:rPr lang="en-US" dirty="0"/>
              <a:t>) </a:t>
            </a:r>
            <a:r>
              <a:rPr lang="en-US" dirty="0" err="1"/>
              <a:t>cho</a:t>
            </a:r>
            <a:r>
              <a:rPr lang="en-US" dirty="0"/>
              <a:t> </a:t>
            </a:r>
            <a:r>
              <a:rPr lang="en-US" dirty="0" err="1"/>
              <a:t>một</a:t>
            </a:r>
            <a:r>
              <a:rPr lang="en-US" dirty="0"/>
              <a:t> </a:t>
            </a:r>
            <a:r>
              <a:rPr lang="en-US" dirty="0" err="1"/>
              <a:t>mạng</a:t>
            </a:r>
            <a:r>
              <a:rPr lang="en-US" dirty="0"/>
              <a:t> </a:t>
            </a:r>
            <a:r>
              <a:rPr lang="en-US" dirty="0" err="1"/>
              <a:t>lớp</a:t>
            </a:r>
            <a:r>
              <a:rPr lang="en-US" dirty="0"/>
              <a:t> A, B, C </a:t>
            </a:r>
            <a:r>
              <a:rPr lang="en-US" dirty="0" err="1"/>
              <a:t>cho</a:t>
            </a:r>
            <a:r>
              <a:rPr lang="en-US" dirty="0"/>
              <a:t> </a:t>
            </a:r>
            <a:r>
              <a:rPr lang="en-US" dirty="0" err="1"/>
              <a:t>trước</a:t>
            </a:r>
            <a:r>
              <a:rPr lang="en-US" dirty="0"/>
              <a:t> </a:t>
            </a:r>
            <a:r>
              <a:rPr lang="en-US" dirty="0" err="1"/>
              <a:t>có</a:t>
            </a:r>
            <a:r>
              <a:rPr lang="en-US" dirty="0"/>
              <a:t> </a:t>
            </a:r>
            <a:r>
              <a:rPr lang="en-US" dirty="0" err="1"/>
              <a:t>thể</a:t>
            </a:r>
            <a:r>
              <a:rPr lang="en-US" dirty="0"/>
              <a:t> </a:t>
            </a:r>
            <a:r>
              <a:rPr lang="en-US" dirty="0" err="1"/>
              <a:t>thực</a:t>
            </a:r>
            <a:r>
              <a:rPr lang="en-US" dirty="0"/>
              <a:t> </a:t>
            </a:r>
            <a:r>
              <a:rPr lang="en-US" dirty="0" err="1"/>
              <a:t>hiện</a:t>
            </a:r>
            <a:r>
              <a:rPr lang="en-US" dirty="0"/>
              <a:t> </a:t>
            </a:r>
            <a:r>
              <a:rPr lang="en-US" dirty="0" err="1"/>
              <a:t>thông</a:t>
            </a:r>
            <a:r>
              <a:rPr lang="en-US" dirty="0"/>
              <a:t> qua </a:t>
            </a:r>
            <a:r>
              <a:rPr lang="en-US" dirty="0" err="1"/>
              <a:t>việc</a:t>
            </a:r>
            <a:r>
              <a:rPr lang="en-US" dirty="0"/>
              <a:t> </a:t>
            </a:r>
            <a:r>
              <a:rPr lang="en-US" dirty="0" err="1"/>
              <a:t>lựa</a:t>
            </a:r>
            <a:r>
              <a:rPr lang="en-US" dirty="0"/>
              <a:t> </a:t>
            </a:r>
            <a:r>
              <a:rPr lang="en-US" dirty="0" err="1"/>
              <a:t>chọn</a:t>
            </a:r>
            <a:r>
              <a:rPr lang="en-US" dirty="0"/>
              <a:t> </a:t>
            </a:r>
            <a:r>
              <a:rPr lang="en-US" dirty="0" err="1"/>
              <a:t>một</a:t>
            </a:r>
            <a:r>
              <a:rPr lang="en-US" dirty="0"/>
              <a:t> subnet mask </a:t>
            </a:r>
            <a:r>
              <a:rPr lang="en-US" dirty="0" err="1"/>
              <a:t>duy</a:t>
            </a:r>
            <a:r>
              <a:rPr lang="en-US" dirty="0"/>
              <a:t> </a:t>
            </a:r>
            <a:r>
              <a:rPr lang="en-US" dirty="0" err="1"/>
              <a:t>nhất</a:t>
            </a:r>
            <a:r>
              <a:rPr lang="en-US" dirty="0"/>
              <a:t> </a:t>
            </a:r>
            <a:r>
              <a:rPr lang="en-US" dirty="0" err="1"/>
              <a:t>cho</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mạng</a:t>
            </a:r>
            <a:r>
              <a:rPr lang="en-US" dirty="0"/>
              <a:t> con </a:t>
            </a:r>
            <a:r>
              <a:rPr lang="en-US" dirty="0" err="1"/>
              <a:t>hoặc</a:t>
            </a:r>
            <a:r>
              <a:rPr lang="en-US" dirty="0"/>
              <a:t> </a:t>
            </a:r>
            <a:r>
              <a:rPr lang="en-US" dirty="0" err="1"/>
              <a:t>có</a:t>
            </a:r>
            <a:r>
              <a:rPr lang="en-US" dirty="0"/>
              <a:t> </a:t>
            </a:r>
            <a:r>
              <a:rPr lang="en-US" dirty="0" err="1"/>
              <a:t>thể</a:t>
            </a:r>
            <a:r>
              <a:rPr lang="en-US" dirty="0"/>
              <a:t> </a:t>
            </a:r>
            <a:r>
              <a:rPr lang="en-US" dirty="0" err="1"/>
              <a:t>lựa</a:t>
            </a:r>
            <a:r>
              <a:rPr lang="en-US" dirty="0"/>
              <a:t> </a:t>
            </a:r>
            <a:r>
              <a:rPr lang="en-US" dirty="0" err="1"/>
              <a:t>chọn</a:t>
            </a:r>
            <a:r>
              <a:rPr lang="en-US" dirty="0"/>
              <a:t> subnet mask </a:t>
            </a:r>
            <a:r>
              <a:rPr lang="en-US" dirty="0" err="1"/>
              <a:t>có</a:t>
            </a:r>
            <a:r>
              <a:rPr lang="en-US" dirty="0"/>
              <a:t> </a:t>
            </a:r>
            <a:r>
              <a:rPr lang="en-US" dirty="0" err="1"/>
              <a:t>độ</a:t>
            </a:r>
            <a:r>
              <a:rPr lang="en-US" dirty="0"/>
              <a:t> </a:t>
            </a:r>
            <a:r>
              <a:rPr lang="en-US" dirty="0" err="1"/>
              <a:t>dài</a:t>
            </a:r>
            <a:r>
              <a:rPr lang="en-US" dirty="0"/>
              <a:t> </a:t>
            </a:r>
            <a:r>
              <a:rPr lang="en-US" dirty="0" err="1"/>
              <a:t>thay</a:t>
            </a:r>
            <a:r>
              <a:rPr lang="en-US" dirty="0"/>
              <a:t> </a:t>
            </a:r>
            <a:r>
              <a:rPr lang="en-US" dirty="0" err="1"/>
              <a:t>đổi</a:t>
            </a:r>
            <a:r>
              <a:rPr lang="en-US" dirty="0"/>
              <a:t>.</a:t>
            </a:r>
          </a:p>
          <a:p>
            <a:pPr algn="just"/>
            <a:r>
              <a:rPr lang="en-US" dirty="0"/>
              <a:t>Chia </a:t>
            </a:r>
            <a:r>
              <a:rPr lang="en-US" dirty="0" err="1"/>
              <a:t>mạng</a:t>
            </a:r>
            <a:r>
              <a:rPr lang="en-US" dirty="0"/>
              <a:t> con </a:t>
            </a:r>
            <a:r>
              <a:rPr lang="en-US" dirty="0" err="1"/>
              <a:t>sử</a:t>
            </a:r>
            <a:r>
              <a:rPr lang="en-US" dirty="0"/>
              <a:t> </a:t>
            </a:r>
            <a:r>
              <a:rPr lang="en-US" dirty="0" err="1"/>
              <a:t>dụng</a:t>
            </a:r>
            <a:r>
              <a:rPr lang="en-US" dirty="0"/>
              <a:t> subnet mask </a:t>
            </a:r>
            <a:r>
              <a:rPr lang="en-US" dirty="0" err="1"/>
              <a:t>duy</a:t>
            </a:r>
            <a:r>
              <a:rPr lang="en-US" dirty="0"/>
              <a:t> </a:t>
            </a:r>
            <a:r>
              <a:rPr lang="en-US" dirty="0" err="1"/>
              <a:t>nhất</a:t>
            </a:r>
            <a:r>
              <a:rPr lang="en-US" dirty="0"/>
              <a:t> </a:t>
            </a:r>
            <a:r>
              <a:rPr lang="en-US" dirty="0" err="1"/>
              <a:t>còn</a:t>
            </a:r>
            <a:r>
              <a:rPr lang="en-US" dirty="0"/>
              <a:t> </a:t>
            </a:r>
            <a:r>
              <a:rPr lang="en-US" dirty="0" err="1"/>
              <a:t>được</a:t>
            </a:r>
            <a:r>
              <a:rPr lang="en-US" dirty="0"/>
              <a:t> </a:t>
            </a:r>
            <a:r>
              <a:rPr lang="en-US" dirty="0" err="1"/>
              <a:t>biết</a:t>
            </a:r>
            <a:r>
              <a:rPr lang="en-US" dirty="0"/>
              <a:t> </a:t>
            </a:r>
            <a:r>
              <a:rPr lang="en-US" dirty="0" err="1"/>
              <a:t>đến</a:t>
            </a:r>
            <a:r>
              <a:rPr lang="en-US" dirty="0"/>
              <a:t> </a:t>
            </a:r>
            <a:r>
              <a:rPr lang="en-US" dirty="0" err="1"/>
              <a:t>với</a:t>
            </a:r>
            <a:r>
              <a:rPr lang="en-US" dirty="0"/>
              <a:t> </a:t>
            </a:r>
            <a:r>
              <a:rPr lang="en-US" dirty="0" err="1"/>
              <a:t>tên</a:t>
            </a:r>
            <a:r>
              <a:rPr lang="en-US" dirty="0"/>
              <a:t> </a:t>
            </a:r>
            <a:r>
              <a:rPr lang="en-US" dirty="0" err="1"/>
              <a:t>gọi</a:t>
            </a:r>
            <a:r>
              <a:rPr lang="en-US" dirty="0"/>
              <a:t> </a:t>
            </a:r>
            <a:r>
              <a:rPr lang="en-US" dirty="0">
                <a:solidFill>
                  <a:srgbClr val="FFC000"/>
                </a:solidFill>
              </a:rPr>
              <a:t>Fixed Length Subnet Mask (FLSM). </a:t>
            </a:r>
            <a:r>
              <a:rPr lang="en-US" dirty="0" err="1"/>
              <a:t>Sử</a:t>
            </a:r>
            <a:r>
              <a:rPr lang="en-US" dirty="0"/>
              <a:t> </a:t>
            </a:r>
            <a:r>
              <a:rPr lang="en-US" dirty="0" err="1"/>
              <a:t>dụng</a:t>
            </a:r>
            <a:r>
              <a:rPr lang="en-US" dirty="0"/>
              <a:t> FLSM </a:t>
            </a:r>
            <a:r>
              <a:rPr lang="en-US" dirty="0" err="1"/>
              <a:t>giúp</a:t>
            </a:r>
            <a:r>
              <a:rPr lang="en-US" dirty="0"/>
              <a:t> </a:t>
            </a:r>
            <a:r>
              <a:rPr lang="en-US" dirty="0" err="1"/>
              <a:t>việc</a:t>
            </a:r>
            <a:r>
              <a:rPr lang="en-US" dirty="0"/>
              <a:t> chia </a:t>
            </a:r>
            <a:r>
              <a:rPr lang="en-US" dirty="0" err="1"/>
              <a:t>mạng</a:t>
            </a:r>
            <a:r>
              <a:rPr lang="en-US" dirty="0"/>
              <a:t> con </a:t>
            </a:r>
            <a:r>
              <a:rPr lang="en-US" dirty="0" err="1"/>
              <a:t>trở</a:t>
            </a:r>
            <a:r>
              <a:rPr lang="en-US" dirty="0"/>
              <a:t> </a:t>
            </a:r>
            <a:r>
              <a:rPr lang="en-US" dirty="0" err="1"/>
              <a:t>nên</a:t>
            </a:r>
            <a:r>
              <a:rPr lang="en-US" dirty="0"/>
              <a:t> </a:t>
            </a:r>
            <a:r>
              <a:rPr lang="en-US" dirty="0" err="1"/>
              <a:t>đơn</a:t>
            </a:r>
            <a:r>
              <a:rPr lang="en-US" dirty="0"/>
              <a:t> </a:t>
            </a:r>
            <a:r>
              <a:rPr lang="en-US" dirty="0" err="1"/>
              <a:t>giản</a:t>
            </a:r>
            <a:r>
              <a:rPr lang="en-US" dirty="0"/>
              <a:t> </a:t>
            </a:r>
            <a:r>
              <a:rPr lang="en-US" dirty="0" err="1"/>
              <a:t>nhưng</a:t>
            </a:r>
            <a:r>
              <a:rPr lang="en-US" dirty="0"/>
              <a:t> </a:t>
            </a:r>
            <a:r>
              <a:rPr lang="en-US" dirty="0" err="1"/>
              <a:t>lại</a:t>
            </a:r>
            <a:r>
              <a:rPr lang="en-US" dirty="0"/>
              <a:t> </a:t>
            </a:r>
            <a:r>
              <a:rPr lang="en-US" dirty="0" err="1"/>
              <a:t>có</a:t>
            </a:r>
            <a:r>
              <a:rPr lang="en-US" dirty="0"/>
              <a:t> </a:t>
            </a:r>
            <a:r>
              <a:rPr lang="en-US" dirty="0" err="1"/>
              <a:t>hạn</a:t>
            </a:r>
            <a:r>
              <a:rPr lang="en-US" dirty="0"/>
              <a:t> </a:t>
            </a:r>
            <a:r>
              <a:rPr lang="en-US" dirty="0" err="1"/>
              <a:t>chế</a:t>
            </a:r>
            <a:r>
              <a:rPr lang="en-US" dirty="0"/>
              <a:t> </a:t>
            </a:r>
            <a:r>
              <a:rPr lang="en-US" dirty="0" err="1"/>
              <a:t>trong</a:t>
            </a:r>
            <a:r>
              <a:rPr lang="en-US" dirty="0"/>
              <a:t> </a:t>
            </a:r>
            <a:r>
              <a:rPr lang="en-US" dirty="0" err="1"/>
              <a:t>việc</a:t>
            </a:r>
            <a:r>
              <a:rPr lang="en-US" dirty="0"/>
              <a:t> </a:t>
            </a:r>
            <a:r>
              <a:rPr lang="en-US" dirty="0" err="1"/>
              <a:t>vẫn</a:t>
            </a:r>
            <a:r>
              <a:rPr lang="en-US" dirty="0"/>
              <a:t> </a:t>
            </a:r>
            <a:r>
              <a:rPr lang="en-US" dirty="0" err="1"/>
              <a:t>tồn</a:t>
            </a:r>
            <a:r>
              <a:rPr lang="en-US" dirty="0"/>
              <a:t> </a:t>
            </a:r>
            <a:r>
              <a:rPr lang="en-US" dirty="0" err="1"/>
              <a:t>tại</a:t>
            </a:r>
            <a:r>
              <a:rPr lang="en-US" dirty="0"/>
              <a:t> </a:t>
            </a:r>
            <a:r>
              <a:rPr lang="en-US" dirty="0" err="1"/>
              <a:t>vấn</a:t>
            </a:r>
            <a:r>
              <a:rPr lang="en-US" dirty="0"/>
              <a:t> </a:t>
            </a:r>
            <a:r>
              <a:rPr lang="en-US" dirty="0" err="1"/>
              <a:t>đề</a:t>
            </a:r>
            <a:r>
              <a:rPr lang="en-US" dirty="0"/>
              <a:t> </a:t>
            </a:r>
            <a:r>
              <a:rPr lang="en-US" dirty="0" err="1"/>
              <a:t>lãng</a:t>
            </a:r>
            <a:r>
              <a:rPr lang="en-US" dirty="0"/>
              <a:t> </a:t>
            </a:r>
            <a:r>
              <a:rPr lang="en-US" dirty="0" err="1"/>
              <a:t>phí</a:t>
            </a:r>
            <a:r>
              <a:rPr lang="en-US" dirty="0"/>
              <a:t> </a:t>
            </a:r>
            <a:r>
              <a:rPr lang="en-US" dirty="0" err="1"/>
              <a:t>không</a:t>
            </a:r>
            <a:r>
              <a:rPr lang="en-US" dirty="0"/>
              <a:t> </a:t>
            </a:r>
            <a:r>
              <a:rPr lang="en-US" dirty="0" err="1"/>
              <a:t>gian</a:t>
            </a:r>
            <a:r>
              <a:rPr lang="en-US" dirty="0"/>
              <a:t> </a:t>
            </a:r>
            <a:r>
              <a:rPr lang="en-US" dirty="0" err="1"/>
              <a:t>địa</a:t>
            </a:r>
            <a:r>
              <a:rPr lang="en-US" dirty="0"/>
              <a:t> </a:t>
            </a:r>
            <a:r>
              <a:rPr lang="en-US" dirty="0" err="1"/>
              <a:t>chỉ</a:t>
            </a:r>
            <a:r>
              <a:rPr lang="en-US" dirty="0"/>
              <a:t> IP.</a:t>
            </a:r>
          </a:p>
          <a:p>
            <a:pPr algn="just"/>
            <a:r>
              <a:rPr lang="en-US" dirty="0"/>
              <a:t>Phương </a:t>
            </a:r>
            <a:r>
              <a:rPr lang="en-US" dirty="0" err="1"/>
              <a:t>án</a:t>
            </a:r>
            <a:r>
              <a:rPr lang="en-US" dirty="0"/>
              <a:t> chia </a:t>
            </a:r>
            <a:r>
              <a:rPr lang="en-US" dirty="0" err="1"/>
              <a:t>mạng</a:t>
            </a:r>
            <a:r>
              <a:rPr lang="en-US" dirty="0"/>
              <a:t> con </a:t>
            </a:r>
            <a:r>
              <a:rPr lang="en-US" dirty="0" err="1"/>
              <a:t>phổ</a:t>
            </a:r>
            <a:r>
              <a:rPr lang="en-US" dirty="0"/>
              <a:t> </a:t>
            </a:r>
            <a:r>
              <a:rPr lang="en-US" dirty="0" err="1"/>
              <a:t>biến</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là</a:t>
            </a:r>
            <a:r>
              <a:rPr lang="en-US" dirty="0"/>
              <a:t> </a:t>
            </a:r>
            <a:r>
              <a:rPr lang="en-US" dirty="0" err="1"/>
              <a:t>dùng</a:t>
            </a:r>
            <a:r>
              <a:rPr lang="en-US" dirty="0"/>
              <a:t> </a:t>
            </a:r>
            <a:r>
              <a:rPr lang="en-US" dirty="0" err="1"/>
              <a:t>các</a:t>
            </a:r>
            <a:r>
              <a:rPr lang="en-US" dirty="0"/>
              <a:t> subnet mask </a:t>
            </a:r>
            <a:r>
              <a:rPr lang="en-US" dirty="0" err="1"/>
              <a:t>có</a:t>
            </a:r>
            <a:r>
              <a:rPr lang="en-US" dirty="0"/>
              <a:t> </a:t>
            </a:r>
            <a:r>
              <a:rPr lang="en-US" dirty="0" err="1"/>
              <a:t>độ</a:t>
            </a:r>
            <a:r>
              <a:rPr lang="en-US" dirty="0"/>
              <a:t> </a:t>
            </a:r>
            <a:r>
              <a:rPr lang="en-US" dirty="0" err="1"/>
              <a:t>dài</a:t>
            </a:r>
            <a:r>
              <a:rPr lang="en-US" dirty="0"/>
              <a:t> </a:t>
            </a:r>
            <a:r>
              <a:rPr lang="en-US" dirty="0" err="1"/>
              <a:t>thay</a:t>
            </a:r>
            <a:r>
              <a:rPr lang="en-US" dirty="0"/>
              <a:t> </a:t>
            </a:r>
            <a:r>
              <a:rPr lang="en-US" dirty="0" err="1"/>
              <a:t>đổi</a:t>
            </a:r>
            <a:r>
              <a:rPr lang="en-US" dirty="0"/>
              <a:t>. Phương </a:t>
            </a:r>
            <a:r>
              <a:rPr lang="en-US" dirty="0" err="1"/>
              <a:t>án</a:t>
            </a:r>
            <a:r>
              <a:rPr lang="en-US" dirty="0"/>
              <a:t> </a:t>
            </a:r>
            <a:r>
              <a:rPr lang="en-US" dirty="0" err="1"/>
              <a:t>này</a:t>
            </a:r>
            <a:r>
              <a:rPr lang="en-US" dirty="0"/>
              <a:t> </a:t>
            </a:r>
            <a:r>
              <a:rPr lang="en-US" dirty="0" err="1"/>
              <a:t>được</a:t>
            </a:r>
            <a:r>
              <a:rPr lang="en-US" dirty="0"/>
              <a:t> </a:t>
            </a:r>
            <a:r>
              <a:rPr lang="en-US" dirty="0" err="1"/>
              <a:t>biết</a:t>
            </a:r>
            <a:r>
              <a:rPr lang="en-US" dirty="0"/>
              <a:t> </a:t>
            </a:r>
            <a:r>
              <a:rPr lang="en-US" dirty="0" err="1"/>
              <a:t>đến</a:t>
            </a:r>
            <a:r>
              <a:rPr lang="en-US" dirty="0"/>
              <a:t> </a:t>
            </a:r>
            <a:r>
              <a:rPr lang="en-US" dirty="0" err="1"/>
              <a:t>với</a:t>
            </a:r>
            <a:r>
              <a:rPr lang="en-US" dirty="0"/>
              <a:t> </a:t>
            </a:r>
            <a:r>
              <a:rPr lang="en-US" dirty="0" err="1"/>
              <a:t>tên</a:t>
            </a:r>
            <a:r>
              <a:rPr lang="en-US" dirty="0"/>
              <a:t> </a:t>
            </a:r>
            <a:r>
              <a:rPr lang="en-US" dirty="0" err="1"/>
              <a:t>gọi</a:t>
            </a:r>
            <a:r>
              <a:rPr lang="en-US" dirty="0"/>
              <a:t> </a:t>
            </a:r>
            <a:r>
              <a:rPr lang="en-US" dirty="0">
                <a:solidFill>
                  <a:srgbClr val="FFC000"/>
                </a:solidFill>
              </a:rPr>
              <a:t>Variable Length Subnet Mask (VLSM)</a:t>
            </a:r>
            <a:r>
              <a:rPr lang="en-US" dirty="0"/>
              <a:t>.</a:t>
            </a:r>
          </a:p>
          <a:p>
            <a:pPr marL="0" indent="0" algn="just">
              <a:buNone/>
            </a:pPr>
            <a:endParaRPr lang="en-US" dirty="0"/>
          </a:p>
          <a:p>
            <a:pPr marL="0" indent="0" algn="just">
              <a:buNone/>
            </a:pPr>
            <a:endParaRPr lang="en-US" dirty="0"/>
          </a:p>
        </p:txBody>
      </p:sp>
      <p:sp>
        <p:nvSpPr>
          <p:cNvPr id="3" name="TextBox 2"/>
          <p:cNvSpPr txBox="1"/>
          <p:nvPr/>
        </p:nvSpPr>
        <p:spPr>
          <a:xfrm>
            <a:off x="4483508" y="4237628"/>
            <a:ext cx="1592826" cy="369332"/>
          </a:xfrm>
          <a:prstGeom prst="rect">
            <a:avLst/>
          </a:prstGeom>
          <a:solidFill>
            <a:srgbClr val="00B0F0"/>
          </a:solidFill>
        </p:spPr>
        <p:txBody>
          <a:bodyPr wrap="square" rtlCol="0">
            <a:spAutoFit/>
          </a:bodyPr>
          <a:lstStyle/>
          <a:p>
            <a:pPr algn="ctr"/>
            <a:r>
              <a:rPr lang="en-US" b="1"/>
              <a:t>Subnetting</a:t>
            </a:r>
          </a:p>
        </p:txBody>
      </p:sp>
      <p:sp>
        <p:nvSpPr>
          <p:cNvPr id="7" name="TextBox 6"/>
          <p:cNvSpPr txBox="1"/>
          <p:nvPr/>
        </p:nvSpPr>
        <p:spPr>
          <a:xfrm>
            <a:off x="5786284" y="5614148"/>
            <a:ext cx="1592826" cy="369332"/>
          </a:xfrm>
          <a:prstGeom prst="rect">
            <a:avLst/>
          </a:prstGeom>
          <a:solidFill>
            <a:srgbClr val="FFC000"/>
          </a:solidFill>
        </p:spPr>
        <p:txBody>
          <a:bodyPr wrap="square" rtlCol="0">
            <a:spAutoFit/>
          </a:bodyPr>
          <a:lstStyle/>
          <a:p>
            <a:pPr algn="ctr"/>
            <a:r>
              <a:rPr lang="en-US" b="1"/>
              <a:t>VLSM</a:t>
            </a:r>
          </a:p>
        </p:txBody>
      </p:sp>
      <p:sp>
        <p:nvSpPr>
          <p:cNvPr id="8" name="TextBox 7"/>
          <p:cNvSpPr txBox="1"/>
          <p:nvPr/>
        </p:nvSpPr>
        <p:spPr>
          <a:xfrm>
            <a:off x="3441298" y="5614138"/>
            <a:ext cx="1592826" cy="369332"/>
          </a:xfrm>
          <a:prstGeom prst="rect">
            <a:avLst/>
          </a:prstGeom>
          <a:solidFill>
            <a:srgbClr val="FFC000"/>
          </a:solidFill>
        </p:spPr>
        <p:txBody>
          <a:bodyPr wrap="square" rtlCol="0">
            <a:spAutoFit/>
          </a:bodyPr>
          <a:lstStyle/>
          <a:p>
            <a:pPr algn="ctr"/>
            <a:r>
              <a:rPr lang="en-US" b="1"/>
              <a:t>FLSM</a:t>
            </a:r>
          </a:p>
        </p:txBody>
      </p:sp>
      <p:cxnSp>
        <p:nvCxnSpPr>
          <p:cNvPr id="5" name="Straight Arrow Connector 4"/>
          <p:cNvCxnSpPr>
            <a:cxnSpLocks/>
          </p:cNvCxnSpPr>
          <p:nvPr/>
        </p:nvCxnSpPr>
        <p:spPr>
          <a:xfrm flipH="1">
            <a:off x="4365523" y="4695454"/>
            <a:ext cx="668601" cy="918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a:off x="5456420" y="4695454"/>
            <a:ext cx="944380" cy="918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902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dirty="0">
                <a:solidFill>
                  <a:srgbClr val="005BBB"/>
                </a:solidFill>
                <a:cs typeface="Helvetica World" panose="020B0500040000020004" pitchFamily="34" charset="0"/>
              </a:rPr>
              <a:t>CHIA MẠNG CON SỬ DỤNG SUBNET MASK DUY NHẤT </a:t>
            </a:r>
            <a:endParaRPr kumimoji="0" lang="en-US" sz="1800" b="1" i="0" u="none" strike="noStrike" kern="1200" cap="none" spc="0" normalizeH="0" baseline="0" noProof="0" dirty="0">
              <a:ln>
                <a:noFill/>
              </a:ln>
              <a:solidFill>
                <a:srgbClr val="005BBB"/>
              </a:solidFill>
              <a:effectLst/>
              <a:uLnTx/>
              <a:uFillTx/>
              <a:cs typeface="Helvetica World" panose="020B0500040000020004" pitchFamily="34" charset="0"/>
            </a:endParaRPr>
          </a:p>
        </p:txBody>
      </p:sp>
      <p:pic>
        <p:nvPicPr>
          <p:cNvPr id="5"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35704" y="3490560"/>
            <a:ext cx="6429375" cy="2371406"/>
          </a:xfrm>
        </p:spPr>
      </p:pic>
      <p:sp>
        <p:nvSpPr>
          <p:cNvPr id="7" name="TextBox 6"/>
          <p:cNvSpPr txBox="1"/>
          <p:nvPr/>
        </p:nvSpPr>
        <p:spPr>
          <a:xfrm>
            <a:off x="4545453" y="3456651"/>
            <a:ext cx="1015021" cy="338554"/>
          </a:xfrm>
          <a:prstGeom prst="rect">
            <a:avLst/>
          </a:prstGeom>
          <a:noFill/>
        </p:spPr>
        <p:txBody>
          <a:bodyPr wrap="none" rtlCol="0">
            <a:spAutoFit/>
          </a:bodyPr>
          <a:lstStyle/>
          <a:p>
            <a:r>
              <a:rPr lang="en-US" sz="1600" b="1" u="sng"/>
              <a:t>Đà Nẵng</a:t>
            </a:r>
            <a:endParaRPr lang="en-US" sz="1600" b="1" u="sng" dirty="0"/>
          </a:p>
        </p:txBody>
      </p:sp>
      <p:sp>
        <p:nvSpPr>
          <p:cNvPr id="8" name="TextBox 7"/>
          <p:cNvSpPr txBox="1"/>
          <p:nvPr/>
        </p:nvSpPr>
        <p:spPr>
          <a:xfrm>
            <a:off x="6309483" y="3427647"/>
            <a:ext cx="960519" cy="338554"/>
          </a:xfrm>
          <a:prstGeom prst="rect">
            <a:avLst/>
          </a:prstGeom>
          <a:noFill/>
        </p:spPr>
        <p:txBody>
          <a:bodyPr wrap="none" rtlCol="0">
            <a:spAutoFit/>
          </a:bodyPr>
          <a:lstStyle/>
          <a:p>
            <a:r>
              <a:rPr lang="en-US" sz="1600" b="1" u="sng"/>
              <a:t>Sài Gòn</a:t>
            </a:r>
            <a:endParaRPr lang="en-US" sz="1600" b="1" u="sng" dirty="0"/>
          </a:p>
        </p:txBody>
      </p:sp>
      <p:sp>
        <p:nvSpPr>
          <p:cNvPr id="9" name="TextBox 8"/>
          <p:cNvSpPr txBox="1"/>
          <p:nvPr/>
        </p:nvSpPr>
        <p:spPr>
          <a:xfrm>
            <a:off x="2127545" y="2463462"/>
            <a:ext cx="4046220" cy="584775"/>
          </a:xfrm>
          <a:prstGeom prst="rect">
            <a:avLst/>
          </a:prstGeom>
          <a:noFill/>
        </p:spPr>
        <p:txBody>
          <a:bodyPr wrap="square" rtlCol="0">
            <a:spAutoFit/>
          </a:bodyPr>
          <a:lstStyle/>
          <a:p>
            <a:r>
              <a:rPr lang="en-US" sz="1600" b="1" dirty="0"/>
              <a:t>LAN 1</a:t>
            </a:r>
          </a:p>
          <a:p>
            <a:r>
              <a:rPr lang="en-US" sz="1600" dirty="0"/>
              <a:t>15</a:t>
            </a:r>
            <a:r>
              <a:rPr lang="en-US" sz="1600" b="0" dirty="0"/>
              <a:t> </a:t>
            </a:r>
            <a:r>
              <a:rPr lang="en-US" sz="1600" dirty="0"/>
              <a:t>đ/c IP</a:t>
            </a:r>
            <a:endParaRPr lang="en-US" sz="1600" b="0" dirty="0"/>
          </a:p>
        </p:txBody>
      </p:sp>
      <p:sp>
        <p:nvSpPr>
          <p:cNvPr id="10" name="TextBox 9"/>
          <p:cNvSpPr txBox="1"/>
          <p:nvPr/>
        </p:nvSpPr>
        <p:spPr>
          <a:xfrm>
            <a:off x="2034663" y="4892163"/>
            <a:ext cx="995785" cy="584775"/>
          </a:xfrm>
          <a:prstGeom prst="rect">
            <a:avLst/>
          </a:prstGeom>
          <a:noFill/>
        </p:spPr>
        <p:txBody>
          <a:bodyPr wrap="none" rtlCol="0">
            <a:spAutoFit/>
          </a:bodyPr>
          <a:lstStyle/>
          <a:p>
            <a:r>
              <a:rPr lang="en-US" sz="1600" b="1" dirty="0"/>
              <a:t>LAN 2</a:t>
            </a:r>
          </a:p>
          <a:p>
            <a:r>
              <a:rPr lang="en-US" sz="1600" b="0" dirty="0"/>
              <a:t>22 </a:t>
            </a:r>
            <a:r>
              <a:rPr lang="en-US" sz="1600" dirty="0"/>
              <a:t>đ/c IP</a:t>
            </a:r>
            <a:endParaRPr lang="en-US" sz="1600" b="0" dirty="0"/>
          </a:p>
        </p:txBody>
      </p:sp>
      <p:sp>
        <p:nvSpPr>
          <p:cNvPr id="11" name="TextBox 10"/>
          <p:cNvSpPr txBox="1"/>
          <p:nvPr/>
        </p:nvSpPr>
        <p:spPr>
          <a:xfrm>
            <a:off x="8881233" y="2619876"/>
            <a:ext cx="995785" cy="584775"/>
          </a:xfrm>
          <a:prstGeom prst="rect">
            <a:avLst/>
          </a:prstGeom>
          <a:noFill/>
        </p:spPr>
        <p:txBody>
          <a:bodyPr wrap="none" rtlCol="0">
            <a:spAutoFit/>
          </a:bodyPr>
          <a:lstStyle/>
          <a:p>
            <a:r>
              <a:rPr lang="en-US" sz="1600" b="1" dirty="0"/>
              <a:t>LAN 3</a:t>
            </a:r>
          </a:p>
          <a:p>
            <a:r>
              <a:rPr lang="en-US" sz="1600" dirty="0"/>
              <a:t>15</a:t>
            </a:r>
            <a:r>
              <a:rPr lang="en-US" sz="1600" b="0" dirty="0"/>
              <a:t> </a:t>
            </a:r>
            <a:r>
              <a:rPr lang="en-US" sz="1600" dirty="0"/>
              <a:t>đ/c IP</a:t>
            </a:r>
            <a:endParaRPr lang="en-US" sz="1600" b="0" dirty="0"/>
          </a:p>
        </p:txBody>
      </p:sp>
      <p:sp>
        <p:nvSpPr>
          <p:cNvPr id="12" name="TextBox 11"/>
          <p:cNvSpPr txBox="1"/>
          <p:nvPr/>
        </p:nvSpPr>
        <p:spPr>
          <a:xfrm>
            <a:off x="8969721" y="4774179"/>
            <a:ext cx="881973" cy="584775"/>
          </a:xfrm>
          <a:prstGeom prst="rect">
            <a:avLst/>
          </a:prstGeom>
          <a:noFill/>
        </p:spPr>
        <p:txBody>
          <a:bodyPr wrap="none" rtlCol="0">
            <a:spAutoFit/>
          </a:bodyPr>
          <a:lstStyle/>
          <a:p>
            <a:r>
              <a:rPr lang="en-US" sz="1600" b="1" dirty="0"/>
              <a:t>LAN 4</a:t>
            </a:r>
          </a:p>
          <a:p>
            <a:r>
              <a:rPr lang="en-US" sz="1600" dirty="0"/>
              <a:t>7</a:t>
            </a:r>
            <a:r>
              <a:rPr lang="en-US" sz="1600" b="0" dirty="0"/>
              <a:t> </a:t>
            </a:r>
            <a:r>
              <a:rPr lang="en-US" sz="1600" dirty="0"/>
              <a:t>đ/c IP</a:t>
            </a:r>
            <a:endParaRPr lang="en-US" sz="1600" b="0" dirty="0"/>
          </a:p>
        </p:txBody>
      </p:sp>
      <p:sp>
        <p:nvSpPr>
          <p:cNvPr id="13" name="TextBox 12"/>
          <p:cNvSpPr txBox="1"/>
          <p:nvPr/>
        </p:nvSpPr>
        <p:spPr>
          <a:xfrm>
            <a:off x="4907403" y="5044563"/>
            <a:ext cx="2085979" cy="584775"/>
          </a:xfrm>
          <a:prstGeom prst="rect">
            <a:avLst/>
          </a:prstGeom>
          <a:noFill/>
        </p:spPr>
        <p:txBody>
          <a:bodyPr wrap="square" rtlCol="0">
            <a:spAutoFit/>
          </a:bodyPr>
          <a:lstStyle/>
          <a:p>
            <a:r>
              <a:rPr lang="en-US" sz="1600" b="1" dirty="0"/>
              <a:t>Point-to-point link</a:t>
            </a:r>
            <a:r>
              <a:rPr lang="en-US" sz="1600" b="0" dirty="0"/>
              <a:t>:</a:t>
            </a:r>
          </a:p>
          <a:p>
            <a:r>
              <a:rPr lang="en-US" sz="1600" b="0" dirty="0"/>
              <a:t>2 </a:t>
            </a:r>
            <a:r>
              <a:rPr lang="en-US" sz="1600" dirty="0"/>
              <a:t>đ/c IP</a:t>
            </a:r>
            <a:endParaRPr lang="en-US" sz="1600" b="0" dirty="0"/>
          </a:p>
        </p:txBody>
      </p:sp>
      <p:sp>
        <p:nvSpPr>
          <p:cNvPr id="3" name="TextBox 2"/>
          <p:cNvSpPr txBox="1"/>
          <p:nvPr/>
        </p:nvSpPr>
        <p:spPr>
          <a:xfrm>
            <a:off x="280220" y="1327358"/>
            <a:ext cx="11787090" cy="923330"/>
          </a:xfrm>
          <a:prstGeom prst="rect">
            <a:avLst/>
          </a:prstGeom>
          <a:solidFill>
            <a:schemeClr val="accent2">
              <a:lumMod val="20000"/>
              <a:lumOff val="80000"/>
            </a:schemeClr>
          </a:solidFill>
        </p:spPr>
        <p:txBody>
          <a:bodyPr wrap="square" rtlCol="0">
            <a:spAutoFit/>
          </a:bodyPr>
          <a:lstStyle/>
          <a:p>
            <a:pPr algn="just"/>
            <a:r>
              <a:rPr lang="en-US" b="1" u="sng" dirty="0" err="1">
                <a:solidFill>
                  <a:schemeClr val="tx1">
                    <a:lumMod val="50000"/>
                  </a:schemeClr>
                </a:solidFill>
              </a:rPr>
              <a:t>Yêu</a:t>
            </a:r>
            <a:r>
              <a:rPr lang="en-US" b="1" u="sng" dirty="0">
                <a:solidFill>
                  <a:schemeClr val="tx1">
                    <a:lumMod val="50000"/>
                  </a:schemeClr>
                </a:solidFill>
              </a:rPr>
              <a:t> </a:t>
            </a:r>
            <a:r>
              <a:rPr lang="en-US" b="1" u="sng" dirty="0" err="1">
                <a:solidFill>
                  <a:schemeClr val="tx1">
                    <a:lumMod val="50000"/>
                  </a:schemeClr>
                </a:solidFill>
              </a:rPr>
              <a:t>cầu</a:t>
            </a:r>
            <a:r>
              <a:rPr lang="en-US" b="1" u="sng" dirty="0">
                <a:solidFill>
                  <a:schemeClr val="tx1">
                    <a:lumMod val="50000"/>
                  </a:schemeClr>
                </a:solidFill>
              </a:rPr>
              <a:t>: </a:t>
            </a:r>
            <a:r>
              <a:rPr lang="en-US" dirty="0" err="1">
                <a:solidFill>
                  <a:schemeClr val="tx1">
                    <a:lumMod val="50000"/>
                  </a:schemeClr>
                </a:solidFill>
              </a:rPr>
              <a:t>Doanh</a:t>
            </a:r>
            <a:r>
              <a:rPr lang="en-US" dirty="0">
                <a:solidFill>
                  <a:schemeClr val="tx1">
                    <a:lumMod val="50000"/>
                  </a:schemeClr>
                </a:solidFill>
              </a:rPr>
              <a:t> </a:t>
            </a:r>
            <a:r>
              <a:rPr lang="en-US" dirty="0" err="1">
                <a:solidFill>
                  <a:schemeClr val="tx1">
                    <a:lumMod val="50000"/>
                  </a:schemeClr>
                </a:solidFill>
              </a:rPr>
              <a:t>nghiệp</a:t>
            </a:r>
            <a:r>
              <a:rPr lang="en-US" dirty="0">
                <a:solidFill>
                  <a:schemeClr val="tx1">
                    <a:lumMod val="50000"/>
                  </a:schemeClr>
                </a:solidFill>
              </a:rPr>
              <a:t> A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hai</a:t>
            </a:r>
            <a:r>
              <a:rPr lang="en-US" dirty="0">
                <a:solidFill>
                  <a:schemeClr val="tx1">
                    <a:lumMod val="50000"/>
                  </a:schemeClr>
                </a:solidFill>
              </a:rPr>
              <a:t> chi </a:t>
            </a:r>
            <a:r>
              <a:rPr lang="en-US" dirty="0" err="1">
                <a:solidFill>
                  <a:schemeClr val="tx1">
                    <a:lumMod val="50000"/>
                  </a:schemeClr>
                </a:solidFill>
              </a:rPr>
              <a:t>nhánh</a:t>
            </a:r>
            <a:r>
              <a:rPr lang="en-US" dirty="0">
                <a:solidFill>
                  <a:schemeClr val="tx1">
                    <a:lumMod val="50000"/>
                  </a:schemeClr>
                </a:solidFill>
              </a:rPr>
              <a:t> </a:t>
            </a:r>
            <a:r>
              <a:rPr lang="en-US" dirty="0" err="1">
                <a:solidFill>
                  <a:schemeClr val="tx1">
                    <a:lumMod val="50000"/>
                  </a:schemeClr>
                </a:solidFill>
              </a:rPr>
              <a:t>tại</a:t>
            </a:r>
            <a:r>
              <a:rPr lang="en-US" dirty="0">
                <a:solidFill>
                  <a:schemeClr val="tx1">
                    <a:lumMod val="50000"/>
                  </a:schemeClr>
                </a:solidFill>
              </a:rPr>
              <a:t> </a:t>
            </a:r>
            <a:r>
              <a:rPr lang="en-US" dirty="0" err="1">
                <a:solidFill>
                  <a:schemeClr val="tx1">
                    <a:lumMod val="50000"/>
                  </a:schemeClr>
                </a:solidFill>
              </a:rPr>
              <a:t>Đà</a:t>
            </a:r>
            <a:r>
              <a:rPr lang="en-US" dirty="0">
                <a:solidFill>
                  <a:schemeClr val="tx1">
                    <a:lumMod val="50000"/>
                  </a:schemeClr>
                </a:solidFill>
              </a:rPr>
              <a:t> </a:t>
            </a:r>
            <a:r>
              <a:rPr lang="en-US" dirty="0" err="1">
                <a:solidFill>
                  <a:schemeClr val="tx1">
                    <a:lumMod val="50000"/>
                  </a:schemeClr>
                </a:solidFill>
              </a:rPr>
              <a:t>Nẵng</a:t>
            </a:r>
            <a:r>
              <a:rPr lang="en-US" dirty="0">
                <a:solidFill>
                  <a:schemeClr val="tx1">
                    <a:lumMod val="50000"/>
                  </a:schemeClr>
                </a:solidFill>
              </a:rPr>
              <a:t>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Sài</a:t>
            </a:r>
            <a:r>
              <a:rPr lang="en-US" dirty="0">
                <a:solidFill>
                  <a:schemeClr val="tx1">
                    <a:lumMod val="50000"/>
                  </a:schemeClr>
                </a:solidFill>
              </a:rPr>
              <a:t> </a:t>
            </a:r>
            <a:r>
              <a:rPr lang="en-US" dirty="0" err="1">
                <a:solidFill>
                  <a:schemeClr val="tx1">
                    <a:lumMod val="50000"/>
                  </a:schemeClr>
                </a:solidFill>
              </a:rPr>
              <a:t>Gòn</a:t>
            </a:r>
            <a:r>
              <a:rPr lang="en-US" dirty="0">
                <a:solidFill>
                  <a:schemeClr val="tx1">
                    <a:lumMod val="50000"/>
                  </a:schemeClr>
                </a:solidFill>
              </a:rPr>
              <a:t>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sơ</a:t>
            </a:r>
            <a:r>
              <a:rPr lang="en-US" dirty="0">
                <a:solidFill>
                  <a:schemeClr val="tx1">
                    <a:lumMod val="50000"/>
                  </a:schemeClr>
                </a:solidFill>
              </a:rPr>
              <a:t> </a:t>
            </a:r>
            <a:r>
              <a:rPr lang="en-US" dirty="0" err="1">
                <a:solidFill>
                  <a:schemeClr val="tx1">
                    <a:lumMod val="50000"/>
                  </a:schemeClr>
                </a:solidFill>
              </a:rPr>
              <a:t>đồ</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như</a:t>
            </a:r>
            <a:r>
              <a:rPr lang="en-US" dirty="0">
                <a:solidFill>
                  <a:schemeClr val="tx1">
                    <a:lumMod val="50000"/>
                  </a:schemeClr>
                </a:solidFill>
              </a:rPr>
              <a:t> </a:t>
            </a:r>
            <a:r>
              <a:rPr lang="en-US" dirty="0" err="1">
                <a:solidFill>
                  <a:schemeClr val="tx1">
                    <a:lumMod val="50000"/>
                  </a:schemeClr>
                </a:solidFill>
              </a:rPr>
              <a:t>hình</a:t>
            </a:r>
            <a:r>
              <a:rPr lang="en-US" dirty="0">
                <a:solidFill>
                  <a:schemeClr val="tx1">
                    <a:lumMod val="50000"/>
                  </a:schemeClr>
                </a:solidFill>
              </a:rPr>
              <a:t> </a:t>
            </a:r>
            <a:r>
              <a:rPr lang="en-US" dirty="0" err="1">
                <a:solidFill>
                  <a:schemeClr val="tx1">
                    <a:lumMod val="50000"/>
                  </a:schemeClr>
                </a:solidFill>
              </a:rPr>
              <a:t>vẽ</a:t>
            </a:r>
            <a:r>
              <a:rPr lang="en-US" dirty="0">
                <a:solidFill>
                  <a:schemeClr val="tx1">
                    <a:lumMod val="50000"/>
                  </a:schemeClr>
                </a:solidFill>
              </a:rPr>
              <a:t>. Tiến </a:t>
            </a:r>
            <a:r>
              <a:rPr lang="en-US" dirty="0" err="1">
                <a:solidFill>
                  <a:schemeClr val="tx1">
                    <a:lumMod val="50000"/>
                  </a:schemeClr>
                </a:solidFill>
              </a:rPr>
              <a:t>hành</a:t>
            </a:r>
            <a:r>
              <a:rPr lang="en-US" dirty="0">
                <a:solidFill>
                  <a:schemeClr val="tx1">
                    <a:lumMod val="50000"/>
                  </a:schemeClr>
                </a:solidFill>
              </a:rPr>
              <a:t> chia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IP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phòng</a:t>
            </a:r>
            <a:r>
              <a:rPr lang="en-US" dirty="0">
                <a:solidFill>
                  <a:schemeClr val="tx1">
                    <a:lumMod val="50000"/>
                  </a:schemeClr>
                </a:solidFill>
              </a:rPr>
              <a:t> ban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doanh</a:t>
            </a:r>
            <a:r>
              <a:rPr lang="en-US" dirty="0">
                <a:solidFill>
                  <a:schemeClr val="tx1">
                    <a:lumMod val="50000"/>
                  </a:schemeClr>
                </a:solidFill>
              </a:rPr>
              <a:t> </a:t>
            </a:r>
            <a:r>
              <a:rPr lang="en-US" dirty="0" err="1">
                <a:solidFill>
                  <a:schemeClr val="tx1">
                    <a:lumMod val="50000"/>
                  </a:schemeClr>
                </a:solidFill>
              </a:rPr>
              <a:t>nghiệp</a:t>
            </a:r>
            <a:r>
              <a:rPr lang="en-US" dirty="0">
                <a:solidFill>
                  <a:schemeClr val="tx1">
                    <a:lumMod val="50000"/>
                  </a:schemeClr>
                </a:solidFill>
              </a:rPr>
              <a:t> (LAN 1, LAN 2, LAN 3, LAN 4) </a:t>
            </a:r>
            <a:r>
              <a:rPr lang="en-US" dirty="0" err="1">
                <a:solidFill>
                  <a:schemeClr val="tx1">
                    <a:lumMod val="50000"/>
                  </a:schemeClr>
                </a:solidFill>
              </a:rPr>
              <a:t>thỏa</a:t>
            </a:r>
            <a:r>
              <a:rPr lang="en-US" dirty="0">
                <a:solidFill>
                  <a:schemeClr val="tx1">
                    <a:lumMod val="50000"/>
                  </a:schemeClr>
                </a:solidFill>
              </a:rPr>
              <a:t> </a:t>
            </a:r>
            <a:r>
              <a:rPr lang="en-US" dirty="0" err="1">
                <a:solidFill>
                  <a:schemeClr val="tx1">
                    <a:lumMod val="50000"/>
                  </a:schemeClr>
                </a:solidFill>
              </a:rPr>
              <a:t>mãn</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yêu</a:t>
            </a:r>
            <a:r>
              <a:rPr lang="en-US" dirty="0">
                <a:solidFill>
                  <a:schemeClr val="tx1">
                    <a:lumMod val="50000"/>
                  </a:schemeClr>
                </a:solidFill>
              </a:rPr>
              <a:t> </a:t>
            </a:r>
            <a:r>
              <a:rPr lang="en-US" dirty="0" err="1">
                <a:solidFill>
                  <a:schemeClr val="tx1">
                    <a:lumMod val="50000"/>
                  </a:schemeClr>
                </a:solidFill>
              </a:rPr>
              <a:t>cầu</a:t>
            </a:r>
            <a:r>
              <a:rPr lang="en-US" dirty="0">
                <a:solidFill>
                  <a:schemeClr val="tx1">
                    <a:lumMod val="50000"/>
                  </a:schemeClr>
                </a:solidFill>
              </a:rPr>
              <a:t> </a:t>
            </a:r>
            <a:r>
              <a:rPr lang="en-US" dirty="0" err="1">
                <a:solidFill>
                  <a:schemeClr val="tx1">
                    <a:lumMod val="50000"/>
                  </a:schemeClr>
                </a:solidFill>
              </a:rPr>
              <a:t>về</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host, </a:t>
            </a:r>
            <a:r>
              <a:rPr lang="en-US" dirty="0" err="1">
                <a:solidFill>
                  <a:schemeClr val="tx1">
                    <a:lumMod val="50000"/>
                  </a:schemeClr>
                </a:solidFill>
              </a:rPr>
              <a:t>biết</a:t>
            </a:r>
            <a:r>
              <a:rPr lang="en-US" dirty="0">
                <a:solidFill>
                  <a:schemeClr val="tx1">
                    <a:lumMod val="50000"/>
                  </a:schemeClr>
                </a:solidFill>
              </a:rPr>
              <a:t> </a:t>
            </a:r>
            <a:r>
              <a:rPr lang="en-US" dirty="0" err="1">
                <a:solidFill>
                  <a:schemeClr val="tx1">
                    <a:lumMod val="50000"/>
                  </a:schemeClr>
                </a:solidFill>
              </a:rPr>
              <a:t>rằng</a:t>
            </a:r>
            <a:r>
              <a:rPr lang="en-US" dirty="0">
                <a:solidFill>
                  <a:schemeClr val="tx1">
                    <a:lumMod val="50000"/>
                  </a:schemeClr>
                </a:solidFill>
              </a:rPr>
              <a:t> ban </a:t>
            </a:r>
            <a:r>
              <a:rPr lang="en-US" dirty="0" err="1">
                <a:solidFill>
                  <a:schemeClr val="tx1">
                    <a:lumMod val="50000"/>
                  </a:schemeClr>
                </a:solidFill>
              </a:rPr>
              <a:t>đầu</a:t>
            </a:r>
            <a:r>
              <a:rPr lang="en-US" dirty="0">
                <a:solidFill>
                  <a:schemeClr val="tx1">
                    <a:lumMod val="50000"/>
                  </a:schemeClr>
                </a:solidFill>
              </a:rPr>
              <a:t> </a:t>
            </a:r>
            <a:r>
              <a:rPr lang="en-US" dirty="0" err="1">
                <a:solidFill>
                  <a:schemeClr val="tx1">
                    <a:lumMod val="50000"/>
                  </a:schemeClr>
                </a:solidFill>
              </a:rPr>
              <a:t>doanh</a:t>
            </a:r>
            <a:r>
              <a:rPr lang="en-US" dirty="0">
                <a:solidFill>
                  <a:schemeClr val="tx1">
                    <a:lumMod val="50000"/>
                  </a:schemeClr>
                </a:solidFill>
              </a:rPr>
              <a:t> </a:t>
            </a:r>
            <a:r>
              <a:rPr lang="en-US" dirty="0" err="1">
                <a:solidFill>
                  <a:schemeClr val="tx1">
                    <a:lumMod val="50000"/>
                  </a:schemeClr>
                </a:solidFill>
              </a:rPr>
              <a:t>nghiệp</a:t>
            </a:r>
            <a:r>
              <a:rPr lang="en-US" dirty="0">
                <a:solidFill>
                  <a:schemeClr val="tx1">
                    <a:lumMod val="50000"/>
                  </a:schemeClr>
                </a:solidFill>
              </a:rPr>
              <a:t>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a:t>
            </a:r>
            <a:r>
              <a:rPr lang="en-US" dirty="0" err="1">
                <a:solidFill>
                  <a:schemeClr val="tx1">
                    <a:lumMod val="50000"/>
                  </a:schemeClr>
                </a:solidFill>
              </a:rPr>
              <a:t>bổ</a:t>
            </a:r>
            <a:r>
              <a:rPr lang="en-US" dirty="0">
                <a:solidFill>
                  <a:schemeClr val="tx1">
                    <a:lumMod val="50000"/>
                  </a:schemeClr>
                </a:solidFill>
              </a:rPr>
              <a:t> </a:t>
            </a:r>
            <a:r>
              <a:rPr lang="en-US" dirty="0" err="1">
                <a:solidFill>
                  <a:schemeClr val="tx1">
                    <a:lumMod val="50000"/>
                  </a:schemeClr>
                </a:solidFill>
              </a:rPr>
              <a:t>một</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a:t>
            </a:r>
            <a:r>
              <a:rPr lang="en-US" dirty="0" err="1">
                <a:solidFill>
                  <a:schemeClr val="tx1">
                    <a:lumMod val="50000"/>
                  </a:schemeClr>
                </a:solidFill>
              </a:rPr>
              <a:t>lớp</a:t>
            </a:r>
            <a:r>
              <a:rPr lang="en-US" dirty="0">
                <a:solidFill>
                  <a:schemeClr val="tx1">
                    <a:lumMod val="50000"/>
                  </a:schemeClr>
                </a:solidFill>
              </a:rPr>
              <a:t> C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b="1" dirty="0">
                <a:solidFill>
                  <a:schemeClr val="tx1">
                    <a:lumMod val="50000"/>
                  </a:schemeClr>
                </a:solidFill>
              </a:rPr>
              <a:t>210.25.10.0/24.</a:t>
            </a:r>
          </a:p>
        </p:txBody>
      </p:sp>
      <p:sp>
        <p:nvSpPr>
          <p:cNvPr id="2" name="TextBox 1"/>
          <p:cNvSpPr txBox="1"/>
          <p:nvPr/>
        </p:nvSpPr>
        <p:spPr>
          <a:xfrm>
            <a:off x="5014452" y="4085306"/>
            <a:ext cx="479618" cy="369332"/>
          </a:xfrm>
          <a:prstGeom prst="rect">
            <a:avLst/>
          </a:prstGeom>
          <a:noFill/>
        </p:spPr>
        <p:txBody>
          <a:bodyPr wrap="none" rtlCol="0">
            <a:spAutoFit/>
          </a:bodyPr>
          <a:lstStyle/>
          <a:p>
            <a:r>
              <a:rPr lang="en-US" b="1"/>
              <a:t>R1</a:t>
            </a:r>
          </a:p>
        </p:txBody>
      </p:sp>
      <p:sp>
        <p:nvSpPr>
          <p:cNvPr id="14" name="TextBox 13"/>
          <p:cNvSpPr txBox="1"/>
          <p:nvPr/>
        </p:nvSpPr>
        <p:spPr>
          <a:xfrm>
            <a:off x="6243482" y="4075470"/>
            <a:ext cx="479618" cy="369332"/>
          </a:xfrm>
          <a:prstGeom prst="rect">
            <a:avLst/>
          </a:prstGeom>
          <a:noFill/>
        </p:spPr>
        <p:txBody>
          <a:bodyPr wrap="none" rtlCol="0">
            <a:spAutoFit/>
          </a:bodyPr>
          <a:lstStyle/>
          <a:p>
            <a:r>
              <a:rPr lang="en-US" b="1" dirty="0"/>
              <a:t>R2</a:t>
            </a:r>
          </a:p>
        </p:txBody>
      </p:sp>
    </p:spTree>
    <p:extLst>
      <p:ext uri="{BB962C8B-B14F-4D97-AF65-F5344CB8AC3E}">
        <p14:creationId xmlns:p14="http://schemas.microsoft.com/office/powerpoint/2010/main" val="2359420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005BBB"/>
                </a:solidFill>
                <a:effectLst/>
                <a:uLnTx/>
                <a:uFillTx/>
                <a:latin typeface="Arial" panose="020B0604020202020204"/>
                <a:ea typeface="+mj-ea"/>
                <a:cs typeface="Helvetica World" panose="020B0500040000020004" pitchFamily="34" charset="0"/>
              </a:rPr>
              <a:t>CHIA MẠNG CON SỬ DỤNG </a:t>
            </a:r>
            <a:r>
              <a:rPr lang="en-US" sz="1800" noProof="0" dirty="0">
                <a:solidFill>
                  <a:srgbClr val="005BBB"/>
                </a:solidFill>
                <a:latin typeface="Arial" panose="020B0604020202020204"/>
                <a:cs typeface="Helvetica World" panose="020B0500040000020004" pitchFamily="34" charset="0"/>
              </a:rPr>
              <a:t>SUBNET MASK DUY NHẤT</a:t>
            </a:r>
            <a:endParaRPr kumimoji="0" lang="en-US" sz="1800" b="1" i="0" u="none" strike="noStrike" kern="1200" cap="none" spc="0" normalizeH="0" baseline="0" noProof="0" dirty="0">
              <a:ln>
                <a:noFill/>
              </a:ln>
              <a:solidFill>
                <a:srgbClr val="005BBB"/>
              </a:solidFill>
              <a:effectLst/>
              <a:uLnTx/>
              <a:uFillTx/>
              <a:latin typeface="Arial" panose="020B0604020202020204"/>
              <a:ea typeface="+mj-ea"/>
              <a:cs typeface="Helvetica World" panose="020B0500040000020004" pitchFamily="34" charset="0"/>
            </a:endParaRPr>
          </a:p>
        </p:txBody>
      </p:sp>
      <p:sp>
        <p:nvSpPr>
          <p:cNvPr id="3" name="TextBox 2"/>
          <p:cNvSpPr txBox="1"/>
          <p:nvPr/>
        </p:nvSpPr>
        <p:spPr>
          <a:xfrm>
            <a:off x="280220" y="1327358"/>
            <a:ext cx="11787090" cy="3139321"/>
          </a:xfrm>
          <a:prstGeom prst="rect">
            <a:avLst/>
          </a:prstGeom>
          <a:solidFill>
            <a:schemeClr val="accent2">
              <a:lumMod val="20000"/>
              <a:lumOff val="80000"/>
            </a:schemeClr>
          </a:solid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Phân</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tích</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yêu</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cầu</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a:t>
            </a:r>
          </a:p>
          <a:p>
            <a:pPr marL="285750" lvl="0" indent="-285750" algn="just">
              <a:buFont typeface="Arial" panose="020B0604020202020204" pitchFamily="34" charset="0"/>
              <a:buChar char="•"/>
              <a:defRPr/>
            </a:pP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lang="en-US" dirty="0">
                <a:solidFill>
                  <a:srgbClr val="666666">
                    <a:lumMod val="50000"/>
                  </a:srgbClr>
                </a:solidFill>
              </a:rPr>
              <a:t> </a:t>
            </a:r>
            <a:r>
              <a:rPr lang="en-US" dirty="0" err="1">
                <a:solidFill>
                  <a:srgbClr val="666666">
                    <a:lumMod val="50000"/>
                  </a:srgbClr>
                </a:solidFill>
              </a:rPr>
              <a:t>được</a:t>
            </a:r>
            <a:r>
              <a:rPr lang="en-US" dirty="0">
                <a:solidFill>
                  <a:srgbClr val="666666">
                    <a:lumMod val="50000"/>
                  </a:srgbClr>
                </a:solidFill>
              </a:rPr>
              <a:t> </a:t>
            </a:r>
            <a:r>
              <a:rPr lang="en-US" dirty="0" err="1">
                <a:solidFill>
                  <a:srgbClr val="666666">
                    <a:lumMod val="50000"/>
                  </a:srgbClr>
                </a:solidFill>
              </a:rPr>
              <a:t>cấp</a:t>
            </a:r>
            <a:r>
              <a:rPr lang="en-US" dirty="0">
                <a:solidFill>
                  <a:srgbClr val="666666">
                    <a:lumMod val="50000"/>
                  </a:srgbClr>
                </a:solidFill>
              </a:rPr>
              <a:t> </a:t>
            </a:r>
            <a:r>
              <a:rPr lang="en-US" dirty="0" err="1">
                <a:solidFill>
                  <a:srgbClr val="666666">
                    <a:lumMod val="50000"/>
                  </a:srgbClr>
                </a:solidFill>
              </a:rPr>
              <a:t>phát</a:t>
            </a:r>
            <a:r>
              <a:rPr lang="en-US" dirty="0">
                <a:solidFill>
                  <a:srgbClr val="666666">
                    <a:lumMod val="50000"/>
                  </a:srgbClr>
                </a:solidFill>
              </a:rPr>
              <a:t> ban </a:t>
            </a:r>
            <a:r>
              <a:rPr lang="en-US" dirty="0" err="1">
                <a:solidFill>
                  <a:srgbClr val="666666">
                    <a:lumMod val="50000"/>
                  </a:srgbClr>
                </a:solidFill>
              </a:rPr>
              <a:t>đầu</a:t>
            </a:r>
            <a:r>
              <a:rPr lang="en-US" dirty="0">
                <a:solidFill>
                  <a:srgbClr val="666666">
                    <a:lumMod val="50000"/>
                  </a:srgbClr>
                </a:solidFill>
              </a:rPr>
              <a:t>: </a:t>
            </a:r>
            <a:r>
              <a:rPr lang="en-US" dirty="0" err="1">
                <a:solidFill>
                  <a:srgbClr val="666666">
                    <a:lumMod val="50000"/>
                  </a:srgbClr>
                </a:solidFill>
              </a:rPr>
              <a:t>mạng</a:t>
            </a:r>
            <a:r>
              <a:rPr lang="en-US" dirty="0">
                <a:solidFill>
                  <a:srgbClr val="666666">
                    <a:lumMod val="50000"/>
                  </a:srgbClr>
                </a:solidFill>
              </a:rPr>
              <a:t> </a:t>
            </a:r>
            <a:r>
              <a:rPr lang="en-US" dirty="0" err="1">
                <a:solidFill>
                  <a:srgbClr val="666666">
                    <a:lumMod val="50000"/>
                  </a:srgbClr>
                </a:solidFill>
              </a:rPr>
              <a:t>lớp</a:t>
            </a:r>
            <a:r>
              <a:rPr lang="en-US" dirty="0">
                <a:solidFill>
                  <a:srgbClr val="666666">
                    <a:lumMod val="50000"/>
                  </a:srgbClr>
                </a:solidFill>
              </a:rPr>
              <a:t> C </a:t>
            </a:r>
            <a:r>
              <a:rPr lang="en-US" dirty="0" err="1">
                <a:solidFill>
                  <a:srgbClr val="666666">
                    <a:lumMod val="50000"/>
                  </a:srgbClr>
                </a:solidFill>
              </a:rPr>
              <a:t>với</a:t>
            </a:r>
            <a:r>
              <a:rPr lang="en-US" dirty="0">
                <a:solidFill>
                  <a:srgbClr val="666666">
                    <a:lumMod val="50000"/>
                  </a:srgbClr>
                </a:solidFill>
              </a:rPr>
              <a:t> </a:t>
            </a:r>
            <a:r>
              <a:rPr lang="en-US" dirty="0" err="1">
                <a:solidFill>
                  <a:srgbClr val="666666">
                    <a:lumMod val="50000"/>
                  </a:srgbClr>
                </a:solidFill>
              </a:rPr>
              <a:t>địa</a:t>
            </a:r>
            <a:r>
              <a:rPr lang="en-US" dirty="0">
                <a:solidFill>
                  <a:srgbClr val="666666">
                    <a:lumMod val="50000"/>
                  </a:srgbClr>
                </a:solidFill>
              </a:rPr>
              <a:t> </a:t>
            </a:r>
            <a:r>
              <a:rPr lang="en-US" dirty="0" err="1">
                <a:solidFill>
                  <a:srgbClr val="666666">
                    <a:lumMod val="50000"/>
                  </a:srgbClr>
                </a:solidFill>
              </a:rPr>
              <a:t>chỉ</a:t>
            </a:r>
            <a:r>
              <a:rPr lang="en-US" dirty="0">
                <a:solidFill>
                  <a:srgbClr val="666666">
                    <a:lumMod val="50000"/>
                  </a:srgbClr>
                </a:solidFill>
              </a:rPr>
              <a:t> 210.25.10.0/24</a:t>
            </a:r>
            <a:endPar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Xác</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định</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số</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subnet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chia: ta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chia 5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con bao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gồm</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LAN 1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tối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thiểu</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15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địa</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chỉ</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IP),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LAN 2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tối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thiểu</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22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địa</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chỉ</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IP ),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LAN 3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tối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thiểu</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15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địa</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chỉ</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LAN 4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tối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thiểu</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7)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và</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cho</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point-to-point link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kết</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nối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hai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router R1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và</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R2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cần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2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địa</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chỉ</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IP).</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Các</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bước</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thực</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1" i="0" u="sng"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hiện</a:t>
            </a:r>
            <a:r>
              <a:rPr kumimoji="0" lang="en-US" sz="1800" b="1" i="0" u="sng" strike="noStrike" kern="1200" cap="none" spc="0" normalizeH="0" baseline="0" noProof="0" dirty="0">
                <a:ln>
                  <a:noFill/>
                </a:ln>
                <a:solidFill>
                  <a:srgbClr val="666666">
                    <a:lumMod val="50000"/>
                  </a:srgbClr>
                </a:solidFill>
                <a:effectLst/>
                <a:uLnTx/>
                <a:uFillTx/>
                <a:latin typeface="Arial" panose="020B0604020202020204"/>
                <a:ea typeface="+mn-ea"/>
                <a:cs typeface="+mn-cs"/>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B1: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Xác</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định</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có</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kích</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thước</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lớn</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nhất</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và</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chọn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ra subnet mask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có</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độ</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dài</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thỏa</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mãn</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yêu</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cầu</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về</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kích</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thước</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mạng</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 con </a:t>
            </a:r>
            <a:r>
              <a:rPr kumimoji="0" lang="en-US" sz="1800" b="0" i="0" u="none" strike="noStrike" kern="1200" cap="none" spc="0" normalizeH="0" noProof="0" dirty="0" err="1">
                <a:ln>
                  <a:noFill/>
                </a:ln>
                <a:solidFill>
                  <a:srgbClr val="666666">
                    <a:lumMod val="50000"/>
                  </a:srgbClr>
                </a:solidFill>
                <a:effectLst/>
                <a:uLnTx/>
                <a:uFillTx/>
                <a:latin typeface="Arial" panose="020B0604020202020204"/>
                <a:ea typeface="+mn-ea"/>
                <a:cs typeface="+mn-cs"/>
              </a:rPr>
              <a:t>đó</a:t>
            </a:r>
            <a:r>
              <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666666">
                    <a:lumMod val="50000"/>
                  </a:srgbClr>
                </a:solidFill>
                <a:latin typeface="Arial" panose="020B0604020202020204"/>
              </a:rPr>
              <a:t>B2: </a:t>
            </a:r>
            <a:r>
              <a:rPr lang="en-US" dirty="0" err="1">
                <a:solidFill>
                  <a:srgbClr val="666666">
                    <a:lumMod val="50000"/>
                  </a:srgbClr>
                </a:solidFill>
                <a:latin typeface="Arial" panose="020B0604020202020204"/>
              </a:rPr>
              <a:t>Sử</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dụng</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duy</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nhất</a:t>
            </a:r>
            <a:r>
              <a:rPr lang="en-US" dirty="0">
                <a:solidFill>
                  <a:srgbClr val="666666">
                    <a:lumMod val="50000"/>
                  </a:srgbClr>
                </a:solidFill>
                <a:latin typeface="Arial" panose="020B0604020202020204"/>
              </a:rPr>
              <a:t> subnet mask </a:t>
            </a:r>
            <a:r>
              <a:rPr lang="en-US" dirty="0" err="1">
                <a:solidFill>
                  <a:srgbClr val="666666">
                    <a:lumMod val="50000"/>
                  </a:srgbClr>
                </a:solidFill>
                <a:latin typeface="Arial" panose="020B0604020202020204"/>
              </a:rPr>
              <a:t>đã</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chọn</a:t>
            </a:r>
            <a:r>
              <a:rPr lang="en-US" dirty="0">
                <a:solidFill>
                  <a:srgbClr val="666666">
                    <a:lumMod val="50000"/>
                  </a:srgbClr>
                </a:solidFill>
                <a:latin typeface="Arial" panose="020B0604020202020204"/>
              </a:rPr>
              <a:t> ra </a:t>
            </a:r>
            <a:r>
              <a:rPr lang="en-US" dirty="0" err="1">
                <a:solidFill>
                  <a:srgbClr val="666666">
                    <a:lumMod val="50000"/>
                  </a:srgbClr>
                </a:solidFill>
                <a:latin typeface="Arial" panose="020B0604020202020204"/>
              </a:rPr>
              <a:t>trong</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bước</a:t>
            </a:r>
            <a:r>
              <a:rPr lang="en-US" dirty="0">
                <a:solidFill>
                  <a:srgbClr val="666666">
                    <a:lumMod val="50000"/>
                  </a:srgbClr>
                </a:solidFill>
                <a:latin typeface="Arial" panose="020B0604020202020204"/>
              </a:rPr>
              <a:t> 1 </a:t>
            </a:r>
            <a:r>
              <a:rPr lang="en-US" dirty="0" err="1">
                <a:solidFill>
                  <a:srgbClr val="666666">
                    <a:lumMod val="50000"/>
                  </a:srgbClr>
                </a:solidFill>
                <a:latin typeface="Arial" panose="020B0604020202020204"/>
              </a:rPr>
              <a:t>và</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sử</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dụng</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nó</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để</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tiến</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hành</a:t>
            </a:r>
            <a:r>
              <a:rPr lang="en-US" dirty="0">
                <a:solidFill>
                  <a:srgbClr val="666666">
                    <a:lumMod val="50000"/>
                  </a:srgbClr>
                </a:solidFill>
                <a:latin typeface="Arial" panose="020B0604020202020204"/>
              </a:rPr>
              <a:t> chia </a:t>
            </a:r>
            <a:r>
              <a:rPr lang="en-US" dirty="0" err="1">
                <a:solidFill>
                  <a:srgbClr val="666666">
                    <a:lumMod val="50000"/>
                  </a:srgbClr>
                </a:solidFill>
                <a:latin typeface="Arial" panose="020B0604020202020204"/>
              </a:rPr>
              <a:t>địa</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chỉ</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cho</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tất</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cả</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cả</a:t>
            </a:r>
            <a:r>
              <a:rPr lang="en-US" dirty="0">
                <a:solidFill>
                  <a:srgbClr val="666666">
                    <a:lumMod val="50000"/>
                  </a:srgbClr>
                </a:solidFill>
                <a:latin typeface="Arial" panose="020B0604020202020204"/>
              </a:rPr>
              <a:t> </a:t>
            </a:r>
            <a:r>
              <a:rPr lang="en-US" dirty="0" err="1">
                <a:solidFill>
                  <a:srgbClr val="666666">
                    <a:lumMod val="50000"/>
                  </a:srgbClr>
                </a:solidFill>
                <a:latin typeface="Arial" panose="020B0604020202020204"/>
              </a:rPr>
              <a:t>mạng</a:t>
            </a:r>
            <a:r>
              <a:rPr lang="en-US" dirty="0">
                <a:solidFill>
                  <a:srgbClr val="666666">
                    <a:lumMod val="50000"/>
                  </a:srgbClr>
                </a:solidFill>
                <a:latin typeface="Arial" panose="020B0604020202020204"/>
              </a:rPr>
              <a:t> con.</a:t>
            </a:r>
            <a:endParaRPr kumimoji="0" lang="en-US" sz="1800" b="0" i="0" u="none" strike="noStrike" kern="1200" cap="none" spc="0" normalizeH="0" noProof="0" dirty="0">
              <a:ln>
                <a:noFill/>
              </a:ln>
              <a:solidFill>
                <a:srgbClr val="666666">
                  <a:lumMod val="50000"/>
                </a:srgbClr>
              </a:solidFill>
              <a:effectLst/>
              <a:uLnTx/>
              <a:uFillTx/>
              <a:latin typeface="Arial" panose="020B0604020202020204"/>
              <a:ea typeface="+mn-ea"/>
              <a:cs typeface="+mn-cs"/>
            </a:endParaRPr>
          </a:p>
          <a:p>
            <a:pPr marR="0" lvl="0" algn="just"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Lưu ý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không</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gian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địa</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chỉ</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nên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được</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cấp</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phát</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liên</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 </a:t>
            </a:r>
            <a:r>
              <a:rPr kumimoji="0" lang="en-US" sz="1800" b="0" i="0" u="none" strike="noStrike" kern="1200" cap="none" spc="0" normalizeH="0" baseline="0" noProof="0" dirty="0" err="1">
                <a:ln>
                  <a:noFill/>
                </a:ln>
                <a:solidFill>
                  <a:srgbClr val="666666">
                    <a:lumMod val="50000"/>
                  </a:srgbClr>
                </a:solidFill>
                <a:effectLst/>
                <a:uLnTx/>
                <a:uFillTx/>
                <a:latin typeface="Arial" panose="020B0604020202020204"/>
                <a:ea typeface="+mn-ea"/>
                <a:cs typeface="+mn-cs"/>
              </a:rPr>
              <a:t>tục</a:t>
            </a:r>
            <a:r>
              <a:rPr kumimoji="0" lang="en-US" sz="1800" b="0" i="0" u="none" strike="noStrike" kern="1200" cap="none" spc="0" normalizeH="0" baseline="0" noProof="0" dirty="0">
                <a:ln>
                  <a:noFill/>
                </a:ln>
                <a:solidFill>
                  <a:srgbClr val="666666">
                    <a:lumMod val="50000"/>
                  </a:srgbClr>
                </a:solidFill>
                <a:effectLst/>
                <a:uLnTx/>
                <a:uFillTx/>
                <a:latin typeface="Arial" panose="020B0604020202020204"/>
                <a:ea typeface="+mn-ea"/>
                <a:cs typeface="+mn-cs"/>
              </a:rPr>
              <a:t>.</a:t>
            </a:r>
          </a:p>
        </p:txBody>
      </p:sp>
    </p:spTree>
    <p:extLst>
      <p:ext uri="{BB962C8B-B14F-4D97-AF65-F5344CB8AC3E}">
        <p14:creationId xmlns:p14="http://schemas.microsoft.com/office/powerpoint/2010/main" val="2105407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05BBB"/>
                </a:solidFill>
                <a:effectLst/>
                <a:uLnTx/>
                <a:uFillTx/>
                <a:latin typeface="Arial" panose="020B0604020202020204"/>
                <a:ea typeface="+mj-ea"/>
                <a:cs typeface="Helvetica World" panose="020B0500040000020004" pitchFamily="34" charset="0"/>
              </a:rPr>
              <a:t>CHIA MẠNG CON SỬ DỤNG </a:t>
            </a:r>
            <a:r>
              <a:rPr lang="en-US" sz="1800" noProof="0">
                <a:solidFill>
                  <a:srgbClr val="005BBB"/>
                </a:solidFill>
                <a:latin typeface="Arial" panose="020B0604020202020204"/>
                <a:cs typeface="Helvetica World" panose="020B0500040000020004" pitchFamily="34" charset="0"/>
              </a:rPr>
              <a:t>SUBNET MASK DUY NHẤT</a:t>
            </a:r>
            <a:endParaRPr kumimoji="0" lang="en-US" sz="1800" b="1" i="0" u="none" strike="noStrike" kern="1200" cap="none" spc="0" normalizeH="0" baseline="0" noProof="0">
              <a:ln>
                <a:noFill/>
              </a:ln>
              <a:solidFill>
                <a:srgbClr val="005BBB"/>
              </a:solidFill>
              <a:effectLst/>
              <a:uLnTx/>
              <a:uFillTx/>
              <a:latin typeface="Arial" panose="020B0604020202020204"/>
              <a:ea typeface="+mj-ea"/>
              <a:cs typeface="Helvetica World" panose="020B05000400000200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80220" y="1327358"/>
                <a:ext cx="11787090" cy="2308324"/>
              </a:xfrm>
              <a:prstGeom prst="rect">
                <a:avLst/>
              </a:prstGeom>
              <a:solidFill>
                <a:schemeClr val="accent2">
                  <a:lumMod val="20000"/>
                  <a:lumOff val="80000"/>
                </a:schemeClr>
              </a:solidFill>
            </p:spPr>
            <p:txBody>
              <a:bodyPr wrap="square" rtlCol="0">
                <a:spAutoFit/>
              </a:bodyPr>
              <a:lstStyle/>
              <a:p>
                <a:pPr marR="0" lvl="0" algn="just" defTabSz="914400" rtl="0" eaLnBrk="1" fontAlgn="auto" latinLnBrk="0" hangingPunct="1">
                  <a:lnSpc>
                    <a:spcPct val="100000"/>
                  </a:lnSpc>
                  <a:spcBef>
                    <a:spcPts val="0"/>
                  </a:spcBef>
                  <a:spcAft>
                    <a:spcPts val="0"/>
                  </a:spcAft>
                  <a:buClrTx/>
                  <a:buSzTx/>
                  <a:tabLst/>
                  <a:defRPr/>
                </a:pPr>
                <a:r>
                  <a:rPr lang="en-US" b="1" u="sng" dirty="0">
                    <a:solidFill>
                      <a:srgbClr val="666666">
                        <a:lumMod val="50000"/>
                      </a:srgbClr>
                    </a:solidFill>
                    <a:latin typeface="Arial" panose="020B0604020202020204"/>
                  </a:rPr>
                  <a:t>Tiến </a:t>
                </a:r>
                <a:r>
                  <a:rPr lang="en-US" b="1" u="sng" dirty="0" err="1">
                    <a:solidFill>
                      <a:srgbClr val="666666">
                        <a:lumMod val="50000"/>
                      </a:srgbClr>
                    </a:solidFill>
                    <a:latin typeface="Arial" panose="020B0604020202020204"/>
                  </a:rPr>
                  <a:t>hành</a:t>
                </a:r>
                <a:r>
                  <a:rPr lang="en-US" b="1" u="sng" dirty="0">
                    <a:solidFill>
                      <a:srgbClr val="666666">
                        <a:lumMod val="50000"/>
                      </a:srgbClr>
                    </a:solidFill>
                    <a:latin typeface="Arial" panose="020B0604020202020204"/>
                  </a:rPr>
                  <a:t> </a:t>
                </a:r>
                <a:r>
                  <a:rPr lang="en-US" b="1" u="sng" dirty="0" err="1">
                    <a:solidFill>
                      <a:srgbClr val="666666">
                        <a:lumMod val="50000"/>
                      </a:srgbClr>
                    </a:solidFill>
                    <a:latin typeface="Arial" panose="020B0604020202020204"/>
                  </a:rPr>
                  <a:t>phân</a:t>
                </a:r>
                <a:r>
                  <a:rPr lang="en-US" b="1" u="sng" dirty="0">
                    <a:solidFill>
                      <a:srgbClr val="666666">
                        <a:lumMod val="50000"/>
                      </a:srgbClr>
                    </a:solidFill>
                    <a:latin typeface="Arial" panose="020B0604020202020204"/>
                  </a:rPr>
                  <a:t> chia:</a:t>
                </a:r>
              </a:p>
              <a:p>
                <a:pPr lvl="0" algn="just"/>
                <a:r>
                  <a:rPr kumimoji="0" lang="en-US" sz="1800" i="0" strike="noStrike" kern="1200" cap="none" spc="0" normalizeH="0" baseline="0" noProof="0" dirty="0">
                    <a:ln>
                      <a:noFill/>
                    </a:ln>
                    <a:solidFill>
                      <a:srgbClr val="666666">
                        <a:lumMod val="50000"/>
                      </a:srgbClr>
                    </a:solidFill>
                    <a:effectLst/>
                    <a:uLnTx/>
                    <a:uFillTx/>
                    <a:latin typeface="Arial" panose="020B0604020202020204"/>
                  </a:rPr>
                  <a:t>Ta </a:t>
                </a:r>
                <a:r>
                  <a:rPr kumimoji="0" lang="en-US" sz="1800" i="0" strike="noStrike" kern="1200" cap="none" spc="0" normalizeH="0" baseline="0" noProof="0" dirty="0" err="1">
                    <a:ln>
                      <a:noFill/>
                    </a:ln>
                    <a:solidFill>
                      <a:srgbClr val="666666">
                        <a:lumMod val="50000"/>
                      </a:srgbClr>
                    </a:solidFill>
                    <a:effectLst/>
                    <a:uLnTx/>
                    <a:uFillTx/>
                    <a:latin typeface="Arial" panose="020B0604020202020204"/>
                  </a:rPr>
                  <a:t>có</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b="1" i="0" strike="noStrike" kern="1200" cap="none" spc="0" normalizeH="0" baseline="0" noProof="0" dirty="0">
                    <a:ln>
                      <a:noFill/>
                    </a:ln>
                    <a:solidFill>
                      <a:srgbClr val="666666">
                        <a:lumMod val="50000"/>
                      </a:srgbClr>
                    </a:solidFill>
                    <a:effectLst/>
                    <a:uLnTx/>
                    <a:uFillTx/>
                    <a:latin typeface="Arial" panose="020B0604020202020204"/>
                  </a:rPr>
                  <a:t>N</a:t>
                </a:r>
                <a:r>
                  <a:rPr kumimoji="0" lang="en-US" sz="1800" i="0" strike="noStrike" kern="1200" cap="none" spc="0" normalizeH="0" baseline="0" noProof="0" dirty="0">
                    <a:ln>
                      <a:noFill/>
                    </a:ln>
                    <a:solidFill>
                      <a:srgbClr val="666666">
                        <a:lumMod val="50000"/>
                      </a:srgbClr>
                    </a:solidFill>
                    <a:effectLst/>
                    <a:uLnTx/>
                    <a:uFillTx/>
                    <a:latin typeface="Arial" panose="020B0604020202020204"/>
                  </a:rPr>
                  <a:t> =24 </a:t>
                </a:r>
                <a:r>
                  <a:rPr kumimoji="0" lang="en-US" sz="1800" i="0" strike="noStrike" kern="1200" cap="none" spc="0" normalizeH="0" baseline="0" noProof="0" dirty="0" err="1">
                    <a:ln>
                      <a:noFill/>
                    </a:ln>
                    <a:solidFill>
                      <a:srgbClr val="666666">
                        <a:lumMod val="50000"/>
                      </a:srgbClr>
                    </a:solidFill>
                    <a:effectLst/>
                    <a:uLnTx/>
                    <a:uFillTx/>
                    <a:latin typeface="Arial" panose="020B0604020202020204"/>
                  </a:rPr>
                  <a:t>vì</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mạng</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được</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cấp</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phát</a:t>
                </a:r>
                <a:r>
                  <a:rPr kumimoji="0" lang="en-US" sz="1800" i="0" strike="noStrike" kern="1200" cap="none" spc="0" normalizeH="0" noProof="0" dirty="0">
                    <a:ln>
                      <a:noFill/>
                    </a:ln>
                    <a:solidFill>
                      <a:srgbClr val="666666">
                        <a:lumMod val="50000"/>
                      </a:srgbClr>
                    </a:solidFill>
                    <a:effectLst/>
                    <a:uLnTx/>
                    <a:uFillTx/>
                    <a:latin typeface="Arial" panose="020B0604020202020204"/>
                  </a:rPr>
                  <a:t> ban </a:t>
                </a:r>
                <a:r>
                  <a:rPr kumimoji="0" lang="en-US" sz="1800" i="0" strike="noStrike" kern="1200" cap="none" spc="0" normalizeH="0" noProof="0" dirty="0" err="1">
                    <a:ln>
                      <a:noFill/>
                    </a:ln>
                    <a:solidFill>
                      <a:srgbClr val="666666">
                        <a:lumMod val="50000"/>
                      </a:srgbClr>
                    </a:solidFill>
                    <a:effectLst/>
                    <a:uLnTx/>
                    <a:uFillTx/>
                    <a:latin typeface="Arial" panose="020B0604020202020204"/>
                  </a:rPr>
                  <a:t>đầu</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là</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mạng</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lớp</a:t>
                </a:r>
                <a:r>
                  <a:rPr kumimoji="0" lang="en-US" sz="1800" i="0" strike="noStrike" kern="1200" cap="none" spc="0" normalizeH="0" noProof="0" dirty="0">
                    <a:ln>
                      <a:noFill/>
                    </a:ln>
                    <a:solidFill>
                      <a:srgbClr val="666666">
                        <a:lumMod val="50000"/>
                      </a:srgbClr>
                    </a:solidFill>
                    <a:effectLst/>
                    <a:uLnTx/>
                    <a:uFillTx/>
                    <a:latin typeface="Arial" panose="020B0604020202020204"/>
                  </a:rPr>
                  <a:t> C (</a:t>
                </a:r>
                <a:r>
                  <a:rPr lang="en-US" dirty="0">
                    <a:solidFill>
                      <a:schemeClr val="tx1">
                        <a:lumMod val="50000"/>
                      </a:schemeClr>
                    </a:solidFill>
                  </a:rPr>
                  <a:t>210.25.10.0/24</a:t>
                </a:r>
                <a:r>
                  <a:rPr kumimoji="0" lang="en-US" sz="1800" i="0" strike="noStrike" kern="1200" cap="none" spc="0" normalizeH="0" noProof="0" dirty="0">
                    <a:ln>
                      <a:noFill/>
                    </a:ln>
                    <a:solidFill>
                      <a:srgbClr val="666666">
                        <a:lumMod val="50000"/>
                      </a:srgbClr>
                    </a:solidFill>
                    <a:effectLst/>
                    <a:uLnTx/>
                    <a:uFillTx/>
                    <a:latin typeface="Arial" panose="020B0604020202020204"/>
                  </a:rPr>
                  <a:t>).</a:t>
                </a:r>
                <a:endParaRPr kumimoji="0" lang="en-US" sz="1800" i="0" strike="noStrike" kern="1200" cap="none" spc="0" normalizeH="0" baseline="0" noProof="0" dirty="0">
                  <a:ln>
                    <a:noFill/>
                  </a:ln>
                  <a:solidFill>
                    <a:srgbClr val="666666">
                      <a:lumMod val="50000"/>
                    </a:srgbClr>
                  </a:solidFill>
                  <a:effectLst/>
                  <a:uLnTx/>
                  <a:uFillTx/>
                  <a:latin typeface="Arial" panose="020B0604020202020204"/>
                </a:endParaRPr>
              </a:p>
              <a:p>
                <a:pPr lvl="0" algn="just"/>
                <a:r>
                  <a:rPr kumimoji="0" lang="en-US" sz="1800" i="0" strike="noStrike" kern="1200" cap="none" spc="0" normalizeH="0" baseline="0" noProof="0" dirty="0" err="1">
                    <a:ln>
                      <a:noFill/>
                    </a:ln>
                    <a:solidFill>
                      <a:srgbClr val="666666">
                        <a:lumMod val="50000"/>
                      </a:srgbClr>
                    </a:solidFill>
                    <a:effectLst/>
                    <a:uLnTx/>
                    <a:uFillTx/>
                    <a:latin typeface="Arial" panose="020B0604020202020204"/>
                  </a:rPr>
                  <a:t>Kích</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thước</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lớn</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nhất</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là</a:t>
                </a:r>
                <a:r>
                  <a:rPr kumimoji="0" lang="en-US" sz="1800" i="0" strike="noStrike" kern="1200" cap="none" spc="0" normalizeH="0" noProof="0" dirty="0">
                    <a:ln>
                      <a:noFill/>
                    </a:ln>
                    <a:solidFill>
                      <a:srgbClr val="666666">
                        <a:lumMod val="50000"/>
                      </a:srgbClr>
                    </a:solidFill>
                    <a:effectLst/>
                    <a:uLnTx/>
                    <a:uFillTx/>
                    <a:latin typeface="Arial" panose="020B0604020202020204"/>
                  </a:rPr>
                  <a:t> 22 host (LAN 2), </a:t>
                </a:r>
                <a:r>
                  <a:rPr kumimoji="0" lang="en-US" sz="1800" i="0" strike="noStrike" kern="1200" cap="none" spc="0" normalizeH="0" noProof="0" dirty="0" err="1">
                    <a:ln>
                      <a:noFill/>
                    </a:ln>
                    <a:solidFill>
                      <a:srgbClr val="666666">
                        <a:lumMod val="50000"/>
                      </a:srgbClr>
                    </a:solidFill>
                    <a:effectLst/>
                    <a:uLnTx/>
                    <a:uFillTx/>
                    <a:latin typeface="Arial" panose="020B0604020202020204"/>
                  </a:rPr>
                  <a:t>khi</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r>
                  <a:rPr kumimoji="0" lang="en-US" sz="1800" i="0" strike="noStrike" kern="1200" cap="none" spc="0" normalizeH="0" noProof="0" dirty="0" err="1">
                    <a:ln>
                      <a:noFill/>
                    </a:ln>
                    <a:solidFill>
                      <a:srgbClr val="666666">
                        <a:lumMod val="50000"/>
                      </a:srgbClr>
                    </a:solidFill>
                    <a:effectLst/>
                    <a:uLnTx/>
                    <a:uFillTx/>
                    <a:latin typeface="Arial" panose="020B0604020202020204"/>
                  </a:rPr>
                  <a:t>đó</a:t>
                </a:r>
                <a:r>
                  <a:rPr kumimoji="0" lang="en-US" sz="1800" i="0" strike="noStrike" kern="1200" cap="none" spc="0" normalizeH="0" noProof="0" dirty="0">
                    <a:ln>
                      <a:noFill/>
                    </a:ln>
                    <a:solidFill>
                      <a:srgbClr val="666666">
                        <a:lumMod val="50000"/>
                      </a:srgbClr>
                    </a:solidFill>
                    <a:effectLst/>
                    <a:uLnTx/>
                    <a:uFillTx/>
                    <a:latin typeface="Arial" panose="020B0604020202020204"/>
                  </a:rPr>
                  <a:t> ta </a:t>
                </a:r>
                <a:r>
                  <a:rPr kumimoji="0" lang="en-US" sz="1800" i="0" strike="noStrike" kern="1200" cap="none" spc="0" normalizeH="0" noProof="0" dirty="0" err="1">
                    <a:ln>
                      <a:noFill/>
                    </a:ln>
                    <a:solidFill>
                      <a:srgbClr val="666666">
                        <a:lumMod val="50000"/>
                      </a:srgbClr>
                    </a:solidFill>
                    <a:effectLst/>
                    <a:uLnTx/>
                    <a:uFillTx/>
                    <a:latin typeface="Arial" panose="020B0604020202020204"/>
                  </a:rPr>
                  <a:t>có</a:t>
                </a:r>
                <a:r>
                  <a:rPr kumimoji="0" lang="en-US" sz="1800" i="0" strike="noStrike" kern="1200" cap="none" spc="0" normalizeH="0" noProof="0" dirty="0">
                    <a:ln>
                      <a:noFill/>
                    </a:ln>
                    <a:solidFill>
                      <a:srgbClr val="666666">
                        <a:lumMod val="50000"/>
                      </a:srgbClr>
                    </a:solidFill>
                    <a:effectLst/>
                    <a:uLnTx/>
                    <a:uFillTx/>
                    <a:latin typeface="Arial" panose="020B0604020202020204"/>
                  </a:rPr>
                  <a:t> </a:t>
                </a:r>
                <a14:m>
                  <m:oMath xmlns:m="http://schemas.openxmlformats.org/officeDocument/2006/math">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b="1" i="1">
                            <a:solidFill>
                              <a:schemeClr val="tx1">
                                <a:lumMod val="50000"/>
                              </a:schemeClr>
                            </a:solidFill>
                            <a:latin typeface="Cambria Math" panose="02040503050406030204" pitchFamily="18" charset="0"/>
                          </a:rPr>
                          <m:t>𝑯</m:t>
                        </m:r>
                      </m:sup>
                    </m:sSup>
                    <m:r>
                      <a:rPr lang="en-US" i="1">
                        <a:solidFill>
                          <a:schemeClr val="tx1">
                            <a:lumMod val="50000"/>
                          </a:schemeClr>
                        </a:solidFill>
                        <a:latin typeface="Cambria Math" panose="02040503050406030204" pitchFamily="18" charset="0"/>
                      </a:rPr>
                      <m:t>−2≥</m:t>
                    </m:r>
                    <m:r>
                      <a:rPr lang="en-US" b="0" i="1" smtClean="0">
                        <a:solidFill>
                          <a:schemeClr val="tx1">
                            <a:lumMod val="50000"/>
                          </a:schemeClr>
                        </a:solidFill>
                        <a:latin typeface="Cambria Math" panose="02040503050406030204" pitchFamily="18" charset="0"/>
                      </a:rPr>
                      <m:t>22</m:t>
                    </m:r>
                    <m:r>
                      <a:rPr lang="en-US" i="1">
                        <a:solidFill>
                          <a:schemeClr val="tx1">
                            <a:lumMod val="50000"/>
                          </a:schemeClr>
                        </a:solidFill>
                        <a:latin typeface="Cambria Math" panose="02040503050406030204" pitchFamily="18" charset="0"/>
                      </a:rPr>
                      <m:t>⇒</m:t>
                    </m:r>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b="1" i="1">
                            <a:solidFill>
                              <a:schemeClr val="tx1">
                                <a:lumMod val="50000"/>
                              </a:schemeClr>
                            </a:solidFill>
                            <a:latin typeface="Cambria Math" panose="02040503050406030204" pitchFamily="18" charset="0"/>
                          </a:rPr>
                          <m:t>𝑯</m:t>
                        </m:r>
                      </m:sup>
                    </m:sSup>
                    <m:r>
                      <a:rPr lang="en-US">
                        <a:solidFill>
                          <a:schemeClr val="tx1">
                            <a:lumMod val="50000"/>
                          </a:schemeClr>
                        </a:solidFill>
                        <a:latin typeface="Cambria Math" panose="02040503050406030204" pitchFamily="18" charset="0"/>
                      </a:rPr>
                      <m:t>≥</m:t>
                    </m:r>
                    <m:r>
                      <a:rPr lang="en-US" b="0" i="0" smtClean="0">
                        <a:solidFill>
                          <a:schemeClr val="tx1">
                            <a:lumMod val="50000"/>
                          </a:schemeClr>
                        </a:solidFill>
                        <a:latin typeface="Cambria Math" panose="02040503050406030204" pitchFamily="18" charset="0"/>
                      </a:rPr>
                      <m:t>24</m:t>
                    </m:r>
                    <m:r>
                      <a:rPr lang="en-US">
                        <a:solidFill>
                          <a:schemeClr val="tx1">
                            <a:lumMod val="50000"/>
                          </a:schemeClr>
                        </a:solidFill>
                        <a:latin typeface="Cambria Math" panose="02040503050406030204" pitchFamily="18" charset="0"/>
                      </a:rPr>
                      <m:t>⇒</m:t>
                    </m:r>
                    <m:r>
                      <a:rPr lang="en-US" b="1" i="1">
                        <a:solidFill>
                          <a:schemeClr val="tx1">
                            <a:lumMod val="50000"/>
                          </a:schemeClr>
                        </a:solidFill>
                        <a:latin typeface="Cambria Math" panose="02040503050406030204" pitchFamily="18" charset="0"/>
                      </a:rPr>
                      <m:t>𝐇</m:t>
                    </m:r>
                    <m:r>
                      <a:rPr lang="en-US">
                        <a:solidFill>
                          <a:schemeClr val="tx1">
                            <a:lumMod val="50000"/>
                          </a:schemeClr>
                        </a:solidFill>
                        <a:latin typeface="Cambria Math" panose="02040503050406030204" pitchFamily="18" charset="0"/>
                      </a:rPr>
                      <m:t>=5</m:t>
                    </m:r>
                  </m:oMath>
                </a14:m>
                <a:endParaRPr kumimoji="0" lang="en-US" sz="1800" i="0" strike="noStrike" kern="1200" cap="none" spc="0" normalizeH="0" baseline="0" noProof="0" dirty="0">
                  <a:ln>
                    <a:noFill/>
                  </a:ln>
                  <a:solidFill>
                    <a:srgbClr val="666666">
                      <a:lumMod val="50000"/>
                    </a:srgbClr>
                  </a:solidFill>
                  <a:effectLst/>
                  <a:uLnTx/>
                  <a:uFillTx/>
                  <a:latin typeface="Arial" panose="020B0604020202020204"/>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Subnet: </a:t>
                </a:r>
                <a:r>
                  <a:rPr lang="en-US" b="1" dirty="0">
                    <a:solidFill>
                      <a:schemeClr val="tx1">
                        <a:lumMod val="50000"/>
                      </a:schemeClr>
                    </a:solidFill>
                  </a:rPr>
                  <a:t>S</a:t>
                </a:r>
                <a:r>
                  <a:rPr lang="en-US" dirty="0">
                    <a:solidFill>
                      <a:schemeClr val="tx1">
                        <a:lumMod val="50000"/>
                      </a:schemeClr>
                    </a:solidFill>
                  </a:rPr>
                  <a:t> = 8 – </a:t>
                </a:r>
                <a:r>
                  <a:rPr lang="en-US" b="1" dirty="0">
                    <a:solidFill>
                      <a:schemeClr val="tx1">
                        <a:lumMod val="50000"/>
                      </a:schemeClr>
                    </a:solidFill>
                  </a:rPr>
                  <a:t>H</a:t>
                </a:r>
                <a:r>
                  <a:rPr lang="en-US" dirty="0">
                    <a:solidFill>
                      <a:schemeClr val="tx1">
                        <a:lumMod val="50000"/>
                      </a:schemeClr>
                    </a:solidFill>
                  </a:rPr>
                  <a:t> = 8 – 5 = 3</a:t>
                </a:r>
              </a:p>
              <a:p>
                <a:pPr algn="just"/>
                <a:r>
                  <a:rPr lang="en-US" dirty="0">
                    <a:solidFill>
                      <a:schemeClr val="tx1">
                        <a:lumMod val="50000"/>
                      </a:schemeClr>
                    </a:solidFill>
                  </a:rPr>
                  <a:t>Khi </a:t>
                </a:r>
                <a:r>
                  <a:rPr lang="en-US" dirty="0" err="1">
                    <a:solidFill>
                      <a:schemeClr val="tx1">
                        <a:lumMod val="50000"/>
                      </a:schemeClr>
                    </a:solidFill>
                  </a:rPr>
                  <a:t>đó</a:t>
                </a:r>
                <a:r>
                  <a:rPr lang="en-US" dirty="0">
                    <a:solidFill>
                      <a:schemeClr val="tx1">
                        <a:lumMod val="50000"/>
                      </a:schemeClr>
                    </a:solidFill>
                  </a:rPr>
                  <a:t> </a:t>
                </a:r>
                <a:r>
                  <a:rPr lang="en-US" b="1" dirty="0">
                    <a:solidFill>
                      <a:schemeClr val="tx1">
                        <a:lumMod val="50000"/>
                      </a:schemeClr>
                    </a:solidFill>
                  </a:rPr>
                  <a:t>N</a:t>
                </a:r>
                <a:r>
                  <a:rPr lang="en-US" dirty="0">
                    <a:solidFill>
                      <a:schemeClr val="tx1">
                        <a:lumMod val="50000"/>
                      </a:schemeClr>
                    </a:solidFill>
                  </a:rPr>
                  <a:t>+</a:t>
                </a:r>
                <a:r>
                  <a:rPr lang="en-US" b="1" dirty="0">
                    <a:solidFill>
                      <a:schemeClr val="tx1">
                        <a:lumMod val="50000"/>
                      </a:schemeClr>
                    </a:solidFill>
                  </a:rPr>
                  <a:t>S </a:t>
                </a:r>
                <a:r>
                  <a:rPr lang="en-US" dirty="0">
                    <a:solidFill>
                      <a:schemeClr val="tx1">
                        <a:lumMod val="50000"/>
                      </a:schemeClr>
                    </a:solidFill>
                  </a:rPr>
                  <a:t>= 24 + 3 = 27</a:t>
                </a:r>
              </a:p>
              <a:p>
                <a:pPr algn="just"/>
                <a:r>
                  <a:rPr lang="en-US" dirty="0">
                    <a:solidFill>
                      <a:schemeClr val="tx1">
                        <a:lumMod val="50000"/>
                      </a:schemeClr>
                    </a:solidFill>
                  </a:rPr>
                  <a:t>Do </a:t>
                </a:r>
                <a:r>
                  <a:rPr lang="en-US" dirty="0" err="1">
                    <a:solidFill>
                      <a:schemeClr val="tx1">
                        <a:lumMod val="50000"/>
                      </a:schemeClr>
                    </a:solidFill>
                  </a:rPr>
                  <a:t>đó</a:t>
                </a:r>
                <a:r>
                  <a:rPr lang="en-US" dirty="0">
                    <a:solidFill>
                      <a:schemeClr val="tx1">
                        <a:lumMod val="50000"/>
                      </a:schemeClr>
                    </a:solidFill>
                  </a:rPr>
                  <a:t> subnet mask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/27</a:t>
                </a:r>
                <a:endParaRPr lang="en-US" b="1" dirty="0">
                  <a:solidFill>
                    <a:srgbClr val="0070C0"/>
                  </a:solidFill>
                </a:endParaRP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255.255.255.224</a:t>
                </a:r>
              </a:p>
              <a:p>
                <a:pPr algn="just"/>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tổng</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14:m>
                  <m:oMath xmlns:m="http://schemas.openxmlformats.org/officeDocument/2006/math">
                    <m:sSup>
                      <m:sSupPr>
                        <m:ctrlPr>
                          <a:rPr lang="en-US" i="1">
                            <a:solidFill>
                              <a:srgbClr val="666666">
                                <a:lumMod val="50000"/>
                              </a:srgbClr>
                            </a:solidFill>
                            <a:latin typeface="Cambria Math" panose="02040503050406030204" pitchFamily="18" charset="0"/>
                          </a:rPr>
                        </m:ctrlPr>
                      </m:sSupPr>
                      <m:e>
                        <m:r>
                          <a:rPr lang="en-US" i="1">
                            <a:solidFill>
                              <a:srgbClr val="666666">
                                <a:lumMod val="50000"/>
                              </a:srgbClr>
                            </a:solidFill>
                            <a:latin typeface="Cambria Math" panose="02040503050406030204" pitchFamily="18" charset="0"/>
                          </a:rPr>
                          <m:t>2</m:t>
                        </m:r>
                      </m:e>
                      <m:sup>
                        <m:r>
                          <a:rPr lang="en-US" b="1" i="1">
                            <a:solidFill>
                              <a:srgbClr val="666666">
                                <a:lumMod val="50000"/>
                              </a:srgbClr>
                            </a:solidFill>
                            <a:latin typeface="Cambria Math" panose="02040503050406030204" pitchFamily="18" charset="0"/>
                          </a:rPr>
                          <m:t>𝑯</m:t>
                        </m:r>
                      </m:sup>
                    </m:sSup>
                    <m:sSup>
                      <m:sSupPr>
                        <m:ctrlPr>
                          <a:rPr lang="en-US" i="1">
                            <a:solidFill>
                              <a:schemeClr val="tx1">
                                <a:lumMod val="50000"/>
                              </a:schemeClr>
                            </a:solidFill>
                            <a:latin typeface="Cambria Math" panose="02040503050406030204" pitchFamily="18" charset="0"/>
                          </a:rPr>
                        </m:ctrlPr>
                      </m:sSupPr>
                      <m:e>
                        <m:r>
                          <a:rPr lang="en-US" b="0" i="1" smtClean="0">
                            <a:solidFill>
                              <a:schemeClr val="tx1">
                                <a:lumMod val="50000"/>
                              </a:schemeClr>
                            </a:solidFill>
                            <a:latin typeface="Cambria Math" panose="02040503050406030204" pitchFamily="18" charset="0"/>
                          </a:rPr>
                          <m:t>=</m:t>
                        </m:r>
                        <m:r>
                          <a:rPr lang="en-US" i="1">
                            <a:solidFill>
                              <a:schemeClr val="tx1">
                                <a:lumMod val="50000"/>
                              </a:schemeClr>
                            </a:solidFill>
                            <a:latin typeface="Cambria Math" panose="02040503050406030204" pitchFamily="18" charset="0"/>
                          </a:rPr>
                          <m:t>2</m:t>
                        </m:r>
                      </m:e>
                      <m:sup>
                        <m:r>
                          <a:rPr lang="en-US" b="0" i="1" smtClean="0">
                            <a:solidFill>
                              <a:schemeClr val="tx1">
                                <a:lumMod val="50000"/>
                              </a:schemeClr>
                            </a:solidFill>
                            <a:latin typeface="Cambria Math" panose="02040503050406030204" pitchFamily="18" charset="0"/>
                          </a:rPr>
                          <m:t>3</m:t>
                        </m:r>
                      </m:sup>
                    </m:sSup>
                    <m:r>
                      <a:rPr lang="en-US" b="0" i="1" smtClean="0">
                        <a:solidFill>
                          <a:schemeClr val="tx1">
                            <a:lumMod val="50000"/>
                          </a:schemeClr>
                        </a:solidFill>
                        <a:latin typeface="Cambria Math" panose="02040503050406030204" pitchFamily="18" charset="0"/>
                      </a:rPr>
                      <m:t>=8 </m:t>
                    </m:r>
                  </m:oMath>
                </a14:m>
                <a:r>
                  <a:rPr lang="en-US" dirty="0" err="1">
                    <a:solidFill>
                      <a:schemeClr val="tx1">
                        <a:lumMod val="50000"/>
                      </a:schemeClr>
                    </a:solidFill>
                  </a:rPr>
                  <a:t>mạng</a:t>
                </a:r>
                <a:r>
                  <a:rPr lang="en-US" dirty="0">
                    <a:solidFill>
                      <a:schemeClr val="tx1">
                        <a:lumMod val="50000"/>
                      </a:schemeClr>
                    </a:solidFill>
                  </a:rPr>
                  <a:t> con</a:t>
                </a:r>
              </a:p>
            </p:txBody>
          </p:sp>
        </mc:Choice>
        <mc:Fallback xmlns="">
          <p:sp>
            <p:nvSpPr>
              <p:cNvPr id="3" name="TextBox 2"/>
              <p:cNvSpPr txBox="1">
                <a:spLocks noRot="1" noChangeAspect="1" noMove="1" noResize="1" noEditPoints="1" noAdjustHandles="1" noChangeArrowheads="1" noChangeShapeType="1" noTextEdit="1"/>
              </p:cNvSpPr>
              <p:nvPr/>
            </p:nvSpPr>
            <p:spPr>
              <a:xfrm>
                <a:off x="280220" y="1327358"/>
                <a:ext cx="11787090" cy="2308324"/>
              </a:xfrm>
              <a:prstGeom prst="rect">
                <a:avLst/>
              </a:prstGeom>
              <a:blipFill>
                <a:blip r:embed="rId3"/>
                <a:stretch>
                  <a:fillRect l="-465" t="-1587" b="-3968"/>
                </a:stretch>
              </a:blipFill>
            </p:spPr>
            <p:txBody>
              <a:bodyPr/>
              <a:lstStyle/>
              <a:p>
                <a:r>
                  <a:rPr lang="en-US">
                    <a:noFill/>
                  </a:rPr>
                  <a:t> </a:t>
                </a:r>
              </a:p>
            </p:txBody>
          </p:sp>
        </mc:Fallback>
      </mc:AlternateContent>
      <p:sp>
        <p:nvSpPr>
          <p:cNvPr id="7" name="Rectangle 6"/>
          <p:cNvSpPr/>
          <p:nvPr/>
        </p:nvSpPr>
        <p:spPr>
          <a:xfrm>
            <a:off x="859569" y="4011999"/>
            <a:ext cx="2010693" cy="1200329"/>
          </a:xfrm>
          <a:prstGeom prst="rect">
            <a:avLst/>
          </a:prstGeom>
          <a:solidFill>
            <a:schemeClr val="accent4">
              <a:lumMod val="20000"/>
              <a:lumOff val="80000"/>
            </a:schemeClr>
          </a:solidFill>
        </p:spPr>
        <p:txBody>
          <a:bodyPr wrap="square">
            <a:spAutoFit/>
          </a:bodyPr>
          <a:lstStyle/>
          <a:p>
            <a:pPr lvl="0"/>
            <a:r>
              <a:rPr lang="en-US" b="1" dirty="0">
                <a:solidFill>
                  <a:srgbClr val="666666">
                    <a:lumMod val="50000"/>
                  </a:srgbClr>
                </a:solidFill>
              </a:rPr>
              <a:t>Subnet 1: </a:t>
            </a:r>
            <a:r>
              <a:rPr lang="en-US" b="1" dirty="0">
                <a:solidFill>
                  <a:srgbClr val="0070C0"/>
                </a:solidFill>
              </a:rPr>
              <a:t>210.25.10.0/27</a:t>
            </a:r>
          </a:p>
          <a:p>
            <a:pPr lvl="0" algn="just"/>
            <a:r>
              <a:rPr lang="en-US" b="1" dirty="0">
                <a:solidFill>
                  <a:srgbClr val="666666">
                    <a:lumMod val="50000"/>
                  </a:srgbClr>
                </a:solidFill>
              </a:rPr>
              <a:t>Subnet 2:</a:t>
            </a:r>
          </a:p>
          <a:p>
            <a:pPr lvl="0" algn="just"/>
            <a:r>
              <a:rPr lang="en-US" b="1" dirty="0">
                <a:solidFill>
                  <a:srgbClr val="0070C0"/>
                </a:solidFill>
              </a:rPr>
              <a:t>210.25.10.32/27</a:t>
            </a:r>
          </a:p>
        </p:txBody>
      </p:sp>
      <p:sp>
        <p:nvSpPr>
          <p:cNvPr id="11" name="Rectangle 10"/>
          <p:cNvSpPr/>
          <p:nvPr/>
        </p:nvSpPr>
        <p:spPr>
          <a:xfrm>
            <a:off x="3500296" y="3985839"/>
            <a:ext cx="2010693" cy="1200329"/>
          </a:xfrm>
          <a:prstGeom prst="rect">
            <a:avLst/>
          </a:prstGeom>
          <a:solidFill>
            <a:schemeClr val="accent4">
              <a:lumMod val="20000"/>
              <a:lumOff val="80000"/>
            </a:schemeClr>
          </a:solidFill>
        </p:spPr>
        <p:txBody>
          <a:bodyPr wrap="square">
            <a:spAutoFit/>
          </a:bodyPr>
          <a:lstStyle/>
          <a:p>
            <a:pPr lvl="0"/>
            <a:r>
              <a:rPr lang="en-US" b="1" dirty="0">
                <a:solidFill>
                  <a:srgbClr val="666666">
                    <a:lumMod val="50000"/>
                  </a:srgbClr>
                </a:solidFill>
              </a:rPr>
              <a:t>Subnet 3: </a:t>
            </a:r>
            <a:r>
              <a:rPr lang="en-US" b="1" dirty="0">
                <a:solidFill>
                  <a:srgbClr val="0070C0"/>
                </a:solidFill>
              </a:rPr>
              <a:t>210.25.10.64/27</a:t>
            </a:r>
          </a:p>
          <a:p>
            <a:pPr lvl="0" algn="just"/>
            <a:r>
              <a:rPr lang="en-US" b="1" dirty="0">
                <a:solidFill>
                  <a:srgbClr val="666666">
                    <a:lumMod val="50000"/>
                  </a:srgbClr>
                </a:solidFill>
              </a:rPr>
              <a:t>Subnet 4:</a:t>
            </a:r>
          </a:p>
          <a:p>
            <a:pPr lvl="0" algn="just"/>
            <a:r>
              <a:rPr lang="en-US" b="1" dirty="0">
                <a:solidFill>
                  <a:srgbClr val="0070C0"/>
                </a:solidFill>
              </a:rPr>
              <a:t>210.25.10.96/27</a:t>
            </a:r>
          </a:p>
        </p:txBody>
      </p:sp>
      <p:sp>
        <p:nvSpPr>
          <p:cNvPr id="12" name="Rectangle 11"/>
          <p:cNvSpPr/>
          <p:nvPr/>
        </p:nvSpPr>
        <p:spPr>
          <a:xfrm>
            <a:off x="6553218" y="3985836"/>
            <a:ext cx="2163080" cy="1200329"/>
          </a:xfrm>
          <a:prstGeom prst="rect">
            <a:avLst/>
          </a:prstGeom>
          <a:solidFill>
            <a:schemeClr val="accent4">
              <a:lumMod val="20000"/>
              <a:lumOff val="80000"/>
            </a:schemeClr>
          </a:solidFill>
        </p:spPr>
        <p:txBody>
          <a:bodyPr wrap="square">
            <a:spAutoFit/>
          </a:bodyPr>
          <a:lstStyle/>
          <a:p>
            <a:pPr lvl="0"/>
            <a:r>
              <a:rPr lang="en-US" b="1">
                <a:solidFill>
                  <a:srgbClr val="666666">
                    <a:lumMod val="50000"/>
                  </a:srgbClr>
                </a:solidFill>
              </a:rPr>
              <a:t>Subnet 5: </a:t>
            </a:r>
            <a:r>
              <a:rPr lang="en-US" b="1">
                <a:solidFill>
                  <a:srgbClr val="0070C0"/>
                </a:solidFill>
              </a:rPr>
              <a:t>210.25.10.128/27</a:t>
            </a:r>
          </a:p>
          <a:p>
            <a:pPr lvl="0" algn="just"/>
            <a:r>
              <a:rPr lang="en-US" b="1">
                <a:solidFill>
                  <a:srgbClr val="666666">
                    <a:lumMod val="50000"/>
                  </a:srgbClr>
                </a:solidFill>
              </a:rPr>
              <a:t>Subnet 6:</a:t>
            </a:r>
          </a:p>
          <a:p>
            <a:pPr lvl="0" algn="just"/>
            <a:r>
              <a:rPr lang="en-US" b="1">
                <a:solidFill>
                  <a:srgbClr val="0070C0"/>
                </a:solidFill>
              </a:rPr>
              <a:t>210.25.10.160/27</a:t>
            </a:r>
          </a:p>
        </p:txBody>
      </p:sp>
      <p:sp>
        <p:nvSpPr>
          <p:cNvPr id="13" name="Rectangle 12"/>
          <p:cNvSpPr/>
          <p:nvPr/>
        </p:nvSpPr>
        <p:spPr>
          <a:xfrm>
            <a:off x="9591379" y="3985839"/>
            <a:ext cx="2236827" cy="1200329"/>
          </a:xfrm>
          <a:prstGeom prst="rect">
            <a:avLst/>
          </a:prstGeom>
          <a:solidFill>
            <a:schemeClr val="accent4">
              <a:lumMod val="20000"/>
              <a:lumOff val="80000"/>
            </a:schemeClr>
          </a:solidFill>
        </p:spPr>
        <p:txBody>
          <a:bodyPr wrap="square">
            <a:spAutoFit/>
          </a:bodyPr>
          <a:lstStyle/>
          <a:p>
            <a:pPr lvl="0"/>
            <a:r>
              <a:rPr lang="en-US" b="1">
                <a:solidFill>
                  <a:srgbClr val="666666">
                    <a:lumMod val="50000"/>
                  </a:srgbClr>
                </a:solidFill>
              </a:rPr>
              <a:t>Subnet 7: </a:t>
            </a:r>
            <a:r>
              <a:rPr lang="en-US" b="1">
                <a:solidFill>
                  <a:srgbClr val="0070C0"/>
                </a:solidFill>
              </a:rPr>
              <a:t>210.25.10.192/27</a:t>
            </a:r>
          </a:p>
          <a:p>
            <a:pPr lvl="0" algn="just"/>
            <a:r>
              <a:rPr lang="en-US" b="1">
                <a:solidFill>
                  <a:srgbClr val="666666">
                    <a:lumMod val="50000"/>
                  </a:srgbClr>
                </a:solidFill>
              </a:rPr>
              <a:t>Subnet 8:</a:t>
            </a:r>
          </a:p>
          <a:p>
            <a:pPr lvl="0" algn="just"/>
            <a:r>
              <a:rPr lang="en-US" b="1">
                <a:solidFill>
                  <a:srgbClr val="0070C0"/>
                </a:solidFill>
              </a:rPr>
              <a:t>210.25.10.224/27</a:t>
            </a:r>
          </a:p>
        </p:txBody>
      </p:sp>
    </p:spTree>
    <p:extLst>
      <p:ext uri="{BB962C8B-B14F-4D97-AF65-F5344CB8AC3E}">
        <p14:creationId xmlns:p14="http://schemas.microsoft.com/office/powerpoint/2010/main" val="1710530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SUBNET MASK DUY NHẤT</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3" name="TextBox 2"/>
          <p:cNvSpPr txBox="1"/>
          <p:nvPr/>
        </p:nvSpPr>
        <p:spPr>
          <a:xfrm>
            <a:off x="44252" y="1327358"/>
            <a:ext cx="5981142" cy="1754326"/>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MẠNG LAN 1</a:t>
            </a:r>
          </a:p>
          <a:p>
            <a:pPr algn="just"/>
            <a:r>
              <a:rPr lang="en-US" dirty="0">
                <a:solidFill>
                  <a:schemeClr val="tx1">
                    <a:lumMod val="50000"/>
                  </a:schemeClr>
                </a:solidFill>
              </a:rPr>
              <a:t>Subnet 1: </a:t>
            </a:r>
            <a:r>
              <a:rPr lang="en-US" b="1" dirty="0">
                <a:solidFill>
                  <a:srgbClr val="0070C0"/>
                </a:solidFill>
              </a:rPr>
              <a:t>210.25.10.0/27</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255.255.255.224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210.25.10.0</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210.25.10.31</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210.25.10.1 – 210.25.10.30</a:t>
            </a:r>
          </a:p>
        </p:txBody>
      </p:sp>
      <p:sp>
        <p:nvSpPr>
          <p:cNvPr id="4" name="TextBox 3"/>
          <p:cNvSpPr txBox="1"/>
          <p:nvPr/>
        </p:nvSpPr>
        <p:spPr>
          <a:xfrm>
            <a:off x="63920" y="3131578"/>
            <a:ext cx="5961474" cy="1754326"/>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MẠNG LAN 2</a:t>
            </a:r>
          </a:p>
          <a:p>
            <a:pPr algn="just"/>
            <a:r>
              <a:rPr lang="en-US" dirty="0">
                <a:solidFill>
                  <a:schemeClr val="tx1">
                    <a:lumMod val="50000"/>
                  </a:schemeClr>
                </a:solidFill>
              </a:rPr>
              <a:t>Subnet 2: </a:t>
            </a:r>
            <a:r>
              <a:rPr lang="en-US" b="1" dirty="0">
                <a:solidFill>
                  <a:srgbClr val="0070C0"/>
                </a:solidFill>
              </a:rPr>
              <a:t>210.25.10.32/27</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255.255.255.224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210.25.10.32</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210.25.10.63</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210.25.10.33 – 210.25.10.62</a:t>
            </a:r>
          </a:p>
        </p:txBody>
      </p:sp>
      <p:sp>
        <p:nvSpPr>
          <p:cNvPr id="5" name="TextBox 4"/>
          <p:cNvSpPr txBox="1"/>
          <p:nvPr/>
        </p:nvSpPr>
        <p:spPr>
          <a:xfrm>
            <a:off x="49160" y="4916143"/>
            <a:ext cx="5976233" cy="1754326"/>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POINT-TO-POINT LINK</a:t>
            </a:r>
          </a:p>
          <a:p>
            <a:pPr algn="just"/>
            <a:r>
              <a:rPr lang="en-US" dirty="0">
                <a:solidFill>
                  <a:schemeClr val="tx1">
                    <a:lumMod val="50000"/>
                  </a:schemeClr>
                </a:solidFill>
              </a:rPr>
              <a:t>Subnet 3: </a:t>
            </a:r>
            <a:r>
              <a:rPr lang="en-US" b="1" dirty="0">
                <a:solidFill>
                  <a:srgbClr val="0070C0"/>
                </a:solidFill>
              </a:rPr>
              <a:t>210.25.10.64/27</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255.255.255.224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210.25.10.64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210.25.10.95</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210.25.10.65 – 210.25.10.94</a:t>
            </a:r>
          </a:p>
        </p:txBody>
      </p:sp>
      <p:sp>
        <p:nvSpPr>
          <p:cNvPr id="6" name="TextBox 5"/>
          <p:cNvSpPr txBox="1"/>
          <p:nvPr/>
        </p:nvSpPr>
        <p:spPr>
          <a:xfrm>
            <a:off x="6081258" y="1332270"/>
            <a:ext cx="6027457" cy="1754326"/>
          </a:xfrm>
          <a:prstGeom prst="rect">
            <a:avLst/>
          </a:prstGeom>
          <a:solidFill>
            <a:schemeClr val="accent2">
              <a:lumMod val="20000"/>
              <a:lumOff val="80000"/>
            </a:schemeClr>
          </a:solidFill>
        </p:spPr>
        <p:txBody>
          <a:bodyPr wrap="square" rtlCol="0">
            <a:spAutoFit/>
          </a:bodyPr>
          <a:lstStyle/>
          <a:p>
            <a:pPr algn="just"/>
            <a:r>
              <a:rPr lang="en-US" b="1" u="sng">
                <a:solidFill>
                  <a:schemeClr val="tx1">
                    <a:lumMod val="50000"/>
                  </a:schemeClr>
                </a:solidFill>
              </a:rPr>
              <a:t>CHIA IP CHO MẠNG LAN 3</a:t>
            </a:r>
          </a:p>
          <a:p>
            <a:pPr algn="just"/>
            <a:r>
              <a:rPr lang="en-US">
                <a:solidFill>
                  <a:schemeClr val="tx1">
                    <a:lumMod val="50000"/>
                  </a:schemeClr>
                </a:solidFill>
              </a:rPr>
              <a:t>Subnet 4: </a:t>
            </a:r>
            <a:r>
              <a:rPr lang="en-US" b="1">
                <a:solidFill>
                  <a:srgbClr val="0070C0"/>
                </a:solidFill>
              </a:rPr>
              <a:t>210.25.10.96/27</a:t>
            </a:r>
          </a:p>
          <a:p>
            <a:pPr algn="just"/>
            <a:r>
              <a:rPr lang="en-US">
                <a:solidFill>
                  <a:schemeClr val="tx1">
                    <a:lumMod val="50000"/>
                  </a:schemeClr>
                </a:solidFill>
              </a:rPr>
              <a:t>Subnet mask dạng thập phân: 255.255.255.224</a:t>
            </a:r>
          </a:p>
          <a:p>
            <a:pPr algn="just"/>
            <a:r>
              <a:rPr lang="en-US">
                <a:solidFill>
                  <a:schemeClr val="tx1">
                    <a:lumMod val="50000"/>
                  </a:schemeClr>
                </a:solidFill>
              </a:rPr>
              <a:t>Địa chỉ mạng: 210.25.10.96</a:t>
            </a:r>
          </a:p>
          <a:p>
            <a:pPr algn="just"/>
            <a:r>
              <a:rPr lang="en-US">
                <a:solidFill>
                  <a:schemeClr val="tx1">
                    <a:lumMod val="50000"/>
                  </a:schemeClr>
                </a:solidFill>
              </a:rPr>
              <a:t>Địa chỉ broadcast: 210.25.10.127</a:t>
            </a:r>
          </a:p>
          <a:p>
            <a:pPr algn="just"/>
            <a:r>
              <a:rPr lang="en-US">
                <a:solidFill>
                  <a:schemeClr val="tx1">
                    <a:lumMod val="50000"/>
                  </a:schemeClr>
                </a:solidFill>
              </a:rPr>
              <a:t>Không gian đ/c khả dụng: </a:t>
            </a:r>
            <a:r>
              <a:rPr lang="en-US" b="1">
                <a:solidFill>
                  <a:srgbClr val="0070C0"/>
                </a:solidFill>
              </a:rPr>
              <a:t>210.25.10.97 – 210.25.10.126</a:t>
            </a:r>
          </a:p>
        </p:txBody>
      </p:sp>
      <p:sp>
        <p:nvSpPr>
          <p:cNvPr id="7" name="TextBox 6"/>
          <p:cNvSpPr txBox="1"/>
          <p:nvPr/>
        </p:nvSpPr>
        <p:spPr>
          <a:xfrm>
            <a:off x="6071442" y="3121746"/>
            <a:ext cx="6041915" cy="1754326"/>
          </a:xfrm>
          <a:prstGeom prst="rect">
            <a:avLst/>
          </a:prstGeom>
          <a:solidFill>
            <a:schemeClr val="accent2">
              <a:lumMod val="20000"/>
              <a:lumOff val="80000"/>
            </a:schemeClr>
          </a:solidFill>
        </p:spPr>
        <p:txBody>
          <a:bodyPr wrap="square" rtlCol="0">
            <a:spAutoFit/>
          </a:bodyPr>
          <a:lstStyle/>
          <a:p>
            <a:pPr algn="just"/>
            <a:r>
              <a:rPr lang="en-US" b="1" u="sng">
                <a:solidFill>
                  <a:schemeClr val="tx1">
                    <a:lumMod val="50000"/>
                  </a:schemeClr>
                </a:solidFill>
              </a:rPr>
              <a:t>CHIA IP CHO MẠNG LAN 4</a:t>
            </a:r>
          </a:p>
          <a:p>
            <a:pPr algn="just"/>
            <a:r>
              <a:rPr lang="en-US">
                <a:solidFill>
                  <a:schemeClr val="tx1">
                    <a:lumMod val="50000"/>
                  </a:schemeClr>
                </a:solidFill>
              </a:rPr>
              <a:t>Subnet 5: </a:t>
            </a:r>
            <a:r>
              <a:rPr lang="en-US" b="1">
                <a:solidFill>
                  <a:srgbClr val="0070C0"/>
                </a:solidFill>
              </a:rPr>
              <a:t>210.25.10.128/27</a:t>
            </a:r>
          </a:p>
          <a:p>
            <a:pPr algn="just"/>
            <a:r>
              <a:rPr lang="en-US">
                <a:solidFill>
                  <a:schemeClr val="tx1">
                    <a:lumMod val="50000"/>
                  </a:schemeClr>
                </a:solidFill>
              </a:rPr>
              <a:t>Subnet mask dạng thập phân: 255.255.255.224</a:t>
            </a:r>
          </a:p>
          <a:p>
            <a:pPr algn="just"/>
            <a:r>
              <a:rPr lang="en-US">
                <a:solidFill>
                  <a:schemeClr val="tx1">
                    <a:lumMod val="50000"/>
                  </a:schemeClr>
                </a:solidFill>
              </a:rPr>
              <a:t>Địa chỉ mạng: 210.25.10.128</a:t>
            </a:r>
          </a:p>
          <a:p>
            <a:pPr algn="just"/>
            <a:r>
              <a:rPr lang="en-US">
                <a:solidFill>
                  <a:schemeClr val="tx1">
                    <a:lumMod val="50000"/>
                  </a:schemeClr>
                </a:solidFill>
              </a:rPr>
              <a:t>Địa chỉ broadcast: 210.25.10.159</a:t>
            </a:r>
          </a:p>
          <a:p>
            <a:pPr algn="just"/>
            <a:r>
              <a:rPr lang="en-US">
                <a:solidFill>
                  <a:schemeClr val="tx1">
                    <a:lumMod val="50000"/>
                  </a:schemeClr>
                </a:solidFill>
              </a:rPr>
              <a:t>Không gian đ/c khả dụng: </a:t>
            </a:r>
            <a:r>
              <a:rPr lang="en-US" b="1">
                <a:solidFill>
                  <a:srgbClr val="0070C0"/>
                </a:solidFill>
              </a:rPr>
              <a:t>210.25.10.129 – 210.25.10.158</a:t>
            </a:r>
          </a:p>
        </p:txBody>
      </p:sp>
      <p:sp>
        <p:nvSpPr>
          <p:cNvPr id="8" name="TextBox 7"/>
          <p:cNvSpPr txBox="1"/>
          <p:nvPr/>
        </p:nvSpPr>
        <p:spPr>
          <a:xfrm>
            <a:off x="6071442" y="4911218"/>
            <a:ext cx="6037273" cy="1477328"/>
          </a:xfrm>
          <a:prstGeom prst="rect">
            <a:avLst/>
          </a:prstGeom>
          <a:solidFill>
            <a:srgbClr val="FFC000"/>
          </a:solidFill>
        </p:spPr>
        <p:txBody>
          <a:bodyPr wrap="square" rtlCol="0">
            <a:spAutoFit/>
          </a:bodyPr>
          <a:lstStyle/>
          <a:p>
            <a:pPr algn="just"/>
            <a:r>
              <a:rPr lang="en-US" b="1" u="sng" dirty="0">
                <a:solidFill>
                  <a:schemeClr val="tx1">
                    <a:lumMod val="50000"/>
                  </a:schemeClr>
                </a:solidFill>
              </a:rPr>
              <a:t>CÁC MẠNG CON CHƯA SỬ DỤNG ĐẾN</a:t>
            </a:r>
          </a:p>
          <a:p>
            <a:pPr lvl="0" algn="just"/>
            <a:r>
              <a:rPr lang="en-US" dirty="0">
                <a:solidFill>
                  <a:schemeClr val="tx1">
                    <a:lumMod val="50000"/>
                  </a:schemeClr>
                </a:solidFill>
              </a:rPr>
              <a:t>Subnet 6: </a:t>
            </a:r>
            <a:r>
              <a:rPr lang="en-US" b="1" dirty="0">
                <a:solidFill>
                  <a:srgbClr val="0070C0"/>
                </a:solidFill>
              </a:rPr>
              <a:t>210.25.10.160/27</a:t>
            </a:r>
            <a:endParaRPr lang="en-US" dirty="0">
              <a:solidFill>
                <a:srgbClr val="0070C0"/>
              </a:solidFill>
            </a:endParaRPr>
          </a:p>
          <a:p>
            <a:pPr lvl="0" algn="just"/>
            <a:r>
              <a:rPr lang="en-US" dirty="0">
                <a:solidFill>
                  <a:schemeClr val="tx1">
                    <a:lumMod val="50000"/>
                  </a:schemeClr>
                </a:solidFill>
              </a:rPr>
              <a:t>Subnet 7: </a:t>
            </a:r>
            <a:r>
              <a:rPr lang="en-US" b="1" dirty="0">
                <a:solidFill>
                  <a:srgbClr val="0070C0"/>
                </a:solidFill>
              </a:rPr>
              <a:t>210.25.10.192/27</a:t>
            </a:r>
            <a:endParaRPr lang="en-US" dirty="0">
              <a:solidFill>
                <a:srgbClr val="0070C0"/>
              </a:solidFill>
            </a:endParaRPr>
          </a:p>
          <a:p>
            <a:pPr lvl="0" algn="just"/>
            <a:r>
              <a:rPr lang="en-US" dirty="0">
                <a:solidFill>
                  <a:schemeClr val="tx1">
                    <a:lumMod val="50000"/>
                  </a:schemeClr>
                </a:solidFill>
              </a:rPr>
              <a:t>Subnet 8: </a:t>
            </a:r>
            <a:r>
              <a:rPr lang="en-US" b="1" dirty="0">
                <a:solidFill>
                  <a:srgbClr val="0070C0"/>
                </a:solidFill>
              </a:rPr>
              <a:t>210.25.10.224/27</a:t>
            </a:r>
          </a:p>
          <a:p>
            <a:pPr marL="285750" lvl="0" indent="-285750" algn="just">
              <a:buFont typeface="Wingdings" panose="05000000000000000000" pitchFamily="2" charset="2"/>
              <a:buChar char="Ø"/>
            </a:pPr>
            <a:r>
              <a:rPr lang="en-US" dirty="0">
                <a:solidFill>
                  <a:schemeClr val="tx1">
                    <a:lumMod val="50000"/>
                  </a:schemeClr>
                </a:solidFill>
              </a:rPr>
              <a:t>Dự </a:t>
            </a:r>
            <a:r>
              <a:rPr lang="en-US" dirty="0" err="1">
                <a:solidFill>
                  <a:schemeClr val="tx1">
                    <a:lumMod val="50000"/>
                  </a:schemeClr>
                </a:solidFill>
              </a:rPr>
              <a:t>phòng</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nhu</a:t>
            </a:r>
            <a:r>
              <a:rPr lang="en-US" dirty="0">
                <a:solidFill>
                  <a:schemeClr val="tx1">
                    <a:lumMod val="50000"/>
                  </a:schemeClr>
                </a:solidFill>
              </a:rPr>
              <a:t> </a:t>
            </a:r>
            <a:r>
              <a:rPr lang="en-US" dirty="0" err="1">
                <a:solidFill>
                  <a:schemeClr val="tx1">
                    <a:lumMod val="50000"/>
                  </a:schemeClr>
                </a:solidFill>
              </a:rPr>
              <a:t>cầu</a:t>
            </a:r>
            <a:r>
              <a:rPr lang="en-US" dirty="0">
                <a:solidFill>
                  <a:schemeClr val="tx1">
                    <a:lumMod val="50000"/>
                  </a:schemeClr>
                </a:solidFill>
              </a:rPr>
              <a:t> </a:t>
            </a:r>
            <a:r>
              <a:rPr lang="en-US" dirty="0" err="1">
                <a:solidFill>
                  <a:schemeClr val="tx1">
                    <a:lumMod val="50000"/>
                  </a:schemeClr>
                </a:solidFill>
              </a:rPr>
              <a:t>phát</a:t>
            </a:r>
            <a:r>
              <a:rPr lang="en-US" dirty="0">
                <a:solidFill>
                  <a:schemeClr val="tx1">
                    <a:lumMod val="50000"/>
                  </a:schemeClr>
                </a:solidFill>
              </a:rPr>
              <a:t> </a:t>
            </a:r>
            <a:r>
              <a:rPr lang="en-US" dirty="0" err="1">
                <a:solidFill>
                  <a:schemeClr val="tx1">
                    <a:lumMod val="50000"/>
                  </a:schemeClr>
                </a:solidFill>
              </a:rPr>
              <a:t>sinh</a:t>
            </a:r>
            <a:r>
              <a:rPr lang="en-US" dirty="0">
                <a:solidFill>
                  <a:schemeClr val="tx1">
                    <a:lumMod val="50000"/>
                  </a:schemeClr>
                </a:solidFill>
              </a:rPr>
              <a:t> </a:t>
            </a:r>
            <a:r>
              <a:rPr lang="en-US" dirty="0" err="1">
                <a:solidFill>
                  <a:schemeClr val="tx1">
                    <a:lumMod val="50000"/>
                  </a:schemeClr>
                </a:solidFill>
              </a:rPr>
              <a:t>trong</a:t>
            </a:r>
            <a:r>
              <a:rPr lang="en-US" dirty="0">
                <a:solidFill>
                  <a:schemeClr val="tx1">
                    <a:lumMod val="50000"/>
                  </a:schemeClr>
                </a:solidFill>
              </a:rPr>
              <a:t> </a:t>
            </a:r>
            <a:r>
              <a:rPr lang="en-US" dirty="0" err="1">
                <a:solidFill>
                  <a:schemeClr val="tx1">
                    <a:lumMod val="50000"/>
                  </a:schemeClr>
                </a:solidFill>
              </a:rPr>
              <a:t>tương</a:t>
            </a:r>
            <a:r>
              <a:rPr lang="en-US" dirty="0">
                <a:solidFill>
                  <a:schemeClr val="tx1">
                    <a:lumMod val="50000"/>
                  </a:schemeClr>
                </a:solidFill>
              </a:rPr>
              <a:t> </a:t>
            </a:r>
            <a:r>
              <a:rPr lang="en-US" dirty="0" err="1">
                <a:solidFill>
                  <a:schemeClr val="tx1">
                    <a:lumMod val="50000"/>
                  </a:schemeClr>
                </a:solidFill>
              </a:rPr>
              <a:t>lai</a:t>
            </a:r>
            <a:endParaRPr lang="en-US" dirty="0">
              <a:solidFill>
                <a:schemeClr val="tx1">
                  <a:lumMod val="50000"/>
                </a:schemeClr>
              </a:solidFill>
            </a:endParaRPr>
          </a:p>
        </p:txBody>
      </p:sp>
    </p:spTree>
    <p:extLst>
      <p:ext uri="{BB962C8B-B14F-4D97-AF65-F5344CB8AC3E}">
        <p14:creationId xmlns:p14="http://schemas.microsoft.com/office/powerpoint/2010/main" val="499568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SUBNET MASK DUY NHẤT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3" name="TextBox 2"/>
          <p:cNvSpPr txBox="1"/>
          <p:nvPr/>
        </p:nvSpPr>
        <p:spPr>
          <a:xfrm>
            <a:off x="280220" y="1327358"/>
            <a:ext cx="11787090" cy="369332"/>
          </a:xfrm>
          <a:prstGeom prst="rect">
            <a:avLst/>
          </a:prstGeom>
          <a:solidFill>
            <a:schemeClr val="accent2">
              <a:lumMod val="20000"/>
              <a:lumOff val="80000"/>
            </a:schemeClr>
          </a:solidFill>
        </p:spPr>
        <p:txBody>
          <a:bodyPr wrap="square" rtlCol="0">
            <a:spAutoFit/>
          </a:bodyPr>
          <a:lstStyle/>
          <a:p>
            <a:pPr algn="just"/>
            <a:r>
              <a:rPr lang="en-US" b="1">
                <a:solidFill>
                  <a:schemeClr val="tx1">
                    <a:lumMod val="50000"/>
                  </a:schemeClr>
                </a:solidFill>
              </a:rPr>
              <a:t>Sơ đồ chia mạng con</a:t>
            </a:r>
          </a:p>
        </p:txBody>
      </p:sp>
      <p:pic>
        <p:nvPicPr>
          <p:cNvPr id="28"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50155" y="3092353"/>
            <a:ext cx="6429375" cy="2371406"/>
          </a:xfrm>
        </p:spPr>
      </p:pic>
      <p:sp>
        <p:nvSpPr>
          <p:cNvPr id="29" name="TextBox 28"/>
          <p:cNvSpPr txBox="1"/>
          <p:nvPr/>
        </p:nvSpPr>
        <p:spPr>
          <a:xfrm>
            <a:off x="4530707" y="2969956"/>
            <a:ext cx="1015021"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u="sng" noProof="0">
                <a:solidFill>
                  <a:srgbClr val="000000"/>
                </a:solidFill>
                <a:latin typeface="Arial" panose="020B0604020202020204" pitchFamily="34" charset="0"/>
              </a:rPr>
              <a:t>Đà Nẵng</a:t>
            </a:r>
            <a:endParaRPr kumimoji="0" lang="en-US" sz="1600" b="1" i="0" u="sng"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0" name="TextBox 29"/>
          <p:cNvSpPr txBox="1"/>
          <p:nvPr/>
        </p:nvSpPr>
        <p:spPr>
          <a:xfrm>
            <a:off x="6294737" y="2985196"/>
            <a:ext cx="960519"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u="sng">
                <a:solidFill>
                  <a:srgbClr val="000000"/>
                </a:solidFill>
                <a:latin typeface="Arial" panose="020B0604020202020204" pitchFamily="34" charset="0"/>
              </a:rPr>
              <a:t>Sài Gòn</a:t>
            </a:r>
            <a:endParaRPr kumimoji="0" lang="en-US" sz="1600" b="1" i="0" u="sng"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1" name="TextBox 30"/>
          <p:cNvSpPr txBox="1"/>
          <p:nvPr/>
        </p:nvSpPr>
        <p:spPr>
          <a:xfrm>
            <a:off x="1616057" y="2469610"/>
            <a:ext cx="208026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dirty="0">
                <a:solidFill>
                  <a:srgbClr val="000000"/>
                </a:solidFill>
                <a:latin typeface="Arial" panose="020B0604020202020204" pitchFamily="34" charset="0"/>
              </a:rPr>
              <a:t>LAN 1</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dirty="0">
                <a:solidFill>
                  <a:srgbClr val="000000"/>
                </a:solidFill>
              </a:rPr>
              <a:t>210.25.10.0/27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2" name="TextBox 31"/>
          <p:cNvSpPr txBox="1"/>
          <p:nvPr/>
        </p:nvSpPr>
        <p:spPr>
          <a:xfrm>
            <a:off x="1339875" y="4317712"/>
            <a:ext cx="169917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dirty="0">
                <a:solidFill>
                  <a:srgbClr val="000000"/>
                </a:solidFill>
                <a:latin typeface="Arial" panose="020B0604020202020204" pitchFamily="34" charset="0"/>
              </a:rPr>
              <a:t>LAN 2</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dirty="0">
                <a:solidFill>
                  <a:srgbClr val="000000"/>
                </a:solidFill>
              </a:rPr>
              <a:t>210.25.10.32/27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3" name="TextBox 32"/>
          <p:cNvSpPr txBox="1"/>
          <p:nvPr/>
        </p:nvSpPr>
        <p:spPr>
          <a:xfrm>
            <a:off x="8314037" y="2487133"/>
            <a:ext cx="204597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a:solidFill>
                  <a:srgbClr val="000000"/>
                </a:solidFill>
                <a:latin typeface="Arial" panose="020B0604020202020204" pitchFamily="34" charset="0"/>
              </a:rPr>
              <a:t>LAN 3</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a:solidFill>
                  <a:srgbClr val="000000"/>
                </a:solidFill>
              </a:rPr>
              <a:t>210.25.10.96/27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4" name="TextBox 33"/>
          <p:cNvSpPr txBox="1"/>
          <p:nvPr/>
        </p:nvSpPr>
        <p:spPr>
          <a:xfrm>
            <a:off x="8364391" y="4361224"/>
            <a:ext cx="1873469"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a:solidFill>
                  <a:srgbClr val="000000"/>
                </a:solidFill>
                <a:latin typeface="Arial" panose="020B0604020202020204" pitchFamily="34" charset="0"/>
              </a:rPr>
              <a:t>LAN 4</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210.25.10.128/27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5" name="TextBox 34"/>
          <p:cNvSpPr txBox="1"/>
          <p:nvPr/>
        </p:nvSpPr>
        <p:spPr>
          <a:xfrm>
            <a:off x="5006957" y="3469066"/>
            <a:ext cx="2085979"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Point to point link</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a:solidFill>
                  <a:srgbClr val="000000"/>
                </a:solidFill>
              </a:rPr>
              <a:t>210.25.10.64/27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6" name="TextBox 35"/>
          <p:cNvSpPr txBox="1"/>
          <p:nvPr/>
        </p:nvSpPr>
        <p:spPr>
          <a:xfrm>
            <a:off x="4439267" y="3819793"/>
            <a:ext cx="356188" cy="338554"/>
          </a:xfrm>
          <a:prstGeom prst="rect">
            <a:avLst/>
          </a:prstGeom>
          <a:noFill/>
        </p:spPr>
        <p:txBody>
          <a:bodyPr wrap="none" rtlCol="0">
            <a:spAutoFit/>
          </a:bodyPr>
          <a:lstStyle/>
          <a:p>
            <a:r>
              <a:rPr lang="en-US" sz="1600" b="0"/>
              <a:t>.</a:t>
            </a:r>
            <a:r>
              <a:rPr lang="en-US" sz="1600"/>
              <a:t>1</a:t>
            </a:r>
            <a:endParaRPr lang="en-US" sz="1600" b="0" dirty="0"/>
          </a:p>
        </p:txBody>
      </p:sp>
      <p:sp>
        <p:nvSpPr>
          <p:cNvPr id="37" name="TextBox 36"/>
          <p:cNvSpPr txBox="1"/>
          <p:nvPr/>
        </p:nvSpPr>
        <p:spPr>
          <a:xfrm>
            <a:off x="4500227" y="4440823"/>
            <a:ext cx="470000" cy="338554"/>
          </a:xfrm>
          <a:prstGeom prst="rect">
            <a:avLst/>
          </a:prstGeom>
          <a:noFill/>
        </p:spPr>
        <p:txBody>
          <a:bodyPr wrap="none" rtlCol="0">
            <a:spAutoFit/>
          </a:bodyPr>
          <a:lstStyle/>
          <a:p>
            <a:r>
              <a:rPr lang="en-US" sz="1600" b="0"/>
              <a:t>.</a:t>
            </a:r>
            <a:r>
              <a:rPr lang="en-US" sz="1600"/>
              <a:t>33</a:t>
            </a:r>
            <a:endParaRPr lang="en-US" sz="1600" b="0" dirty="0"/>
          </a:p>
        </p:txBody>
      </p:sp>
      <p:sp>
        <p:nvSpPr>
          <p:cNvPr id="38" name="TextBox 37"/>
          <p:cNvSpPr txBox="1"/>
          <p:nvPr/>
        </p:nvSpPr>
        <p:spPr>
          <a:xfrm>
            <a:off x="6915275" y="3789313"/>
            <a:ext cx="470000" cy="338554"/>
          </a:xfrm>
          <a:prstGeom prst="rect">
            <a:avLst/>
          </a:prstGeom>
          <a:noFill/>
        </p:spPr>
        <p:txBody>
          <a:bodyPr wrap="none" rtlCol="0">
            <a:spAutoFit/>
          </a:bodyPr>
          <a:lstStyle/>
          <a:p>
            <a:r>
              <a:rPr lang="en-US" sz="1600" b="0"/>
              <a:t>.97</a:t>
            </a:r>
            <a:endParaRPr lang="en-US" sz="1600" b="0" dirty="0"/>
          </a:p>
        </p:txBody>
      </p:sp>
      <p:sp>
        <p:nvSpPr>
          <p:cNvPr id="39" name="TextBox 38"/>
          <p:cNvSpPr txBox="1"/>
          <p:nvPr/>
        </p:nvSpPr>
        <p:spPr>
          <a:xfrm>
            <a:off x="6843377" y="4406533"/>
            <a:ext cx="583814" cy="338554"/>
          </a:xfrm>
          <a:prstGeom prst="rect">
            <a:avLst/>
          </a:prstGeom>
          <a:noFill/>
        </p:spPr>
        <p:txBody>
          <a:bodyPr wrap="none" rtlCol="0">
            <a:spAutoFit/>
          </a:bodyPr>
          <a:lstStyle/>
          <a:p>
            <a:r>
              <a:rPr lang="en-US" sz="1600" b="0"/>
              <a:t>.</a:t>
            </a:r>
            <a:r>
              <a:rPr lang="en-US" sz="1600"/>
              <a:t>129</a:t>
            </a:r>
            <a:endParaRPr lang="en-US" sz="1600" b="0" dirty="0"/>
          </a:p>
        </p:txBody>
      </p:sp>
      <p:sp>
        <p:nvSpPr>
          <p:cNvPr id="40" name="TextBox 39"/>
          <p:cNvSpPr txBox="1"/>
          <p:nvPr/>
        </p:nvSpPr>
        <p:spPr>
          <a:xfrm>
            <a:off x="5311757" y="4235083"/>
            <a:ext cx="470000" cy="338554"/>
          </a:xfrm>
          <a:prstGeom prst="rect">
            <a:avLst/>
          </a:prstGeom>
          <a:noFill/>
        </p:spPr>
        <p:txBody>
          <a:bodyPr wrap="none" rtlCol="0">
            <a:spAutoFit/>
          </a:bodyPr>
          <a:lstStyle/>
          <a:p>
            <a:r>
              <a:rPr lang="en-US" sz="1600" b="0"/>
              <a:t>.</a:t>
            </a:r>
            <a:r>
              <a:rPr lang="en-US" sz="1600"/>
              <a:t>65</a:t>
            </a:r>
            <a:endParaRPr lang="en-US" sz="1600" b="0" dirty="0"/>
          </a:p>
        </p:txBody>
      </p:sp>
      <p:sp>
        <p:nvSpPr>
          <p:cNvPr id="41" name="TextBox 40"/>
          <p:cNvSpPr txBox="1"/>
          <p:nvPr/>
        </p:nvSpPr>
        <p:spPr>
          <a:xfrm>
            <a:off x="5896163" y="4231765"/>
            <a:ext cx="470000" cy="338554"/>
          </a:xfrm>
          <a:prstGeom prst="rect">
            <a:avLst/>
          </a:prstGeom>
          <a:noFill/>
        </p:spPr>
        <p:txBody>
          <a:bodyPr wrap="none" rtlCol="0">
            <a:spAutoFit/>
          </a:bodyPr>
          <a:lstStyle/>
          <a:p>
            <a:r>
              <a:rPr lang="en-US" sz="1600" b="0"/>
              <a:t>.</a:t>
            </a:r>
            <a:r>
              <a:rPr lang="en-US" sz="1600"/>
              <a:t>66</a:t>
            </a:r>
            <a:endParaRPr lang="en-US" sz="1600" b="0" dirty="0"/>
          </a:p>
        </p:txBody>
      </p:sp>
    </p:spTree>
    <p:extLst>
      <p:ext uri="{BB962C8B-B14F-4D97-AF65-F5344CB8AC3E}">
        <p14:creationId xmlns:p14="http://schemas.microsoft.com/office/powerpoint/2010/main" val="2579617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dirty="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dirty="0">
              <a:ln>
                <a:noFill/>
              </a:ln>
              <a:solidFill>
                <a:srgbClr val="005BBB"/>
              </a:solidFill>
              <a:effectLst/>
              <a:uLnTx/>
              <a:uFillTx/>
              <a:cs typeface="Helvetica World" panose="020B0500040000020004" pitchFamily="34" charset="0"/>
            </a:endParaRPr>
          </a:p>
        </p:txBody>
      </p:sp>
      <p:sp>
        <p:nvSpPr>
          <p:cNvPr id="6" name="Content Placeholder 5"/>
          <p:cNvSpPr>
            <a:spLocks noGrp="1"/>
          </p:cNvSpPr>
          <p:nvPr>
            <p:ph idx="1"/>
          </p:nvPr>
        </p:nvSpPr>
        <p:spPr>
          <a:xfrm>
            <a:off x="137433" y="1381850"/>
            <a:ext cx="11929876" cy="5476150"/>
          </a:xfrm>
        </p:spPr>
        <p:txBody>
          <a:bodyPr/>
          <a:lstStyle/>
          <a:p>
            <a:pPr algn="just"/>
            <a:r>
              <a:rPr lang="en-US"/>
              <a:t>VLSM (RFC 1860) là kỹ thuật chia mạng con khi mà trong một liên mạng (internetwork) ta sử dụng các mặt nạ con (subnet mask) có độ dài khác nhau cho các mạng con (subnets) khác nhau của một mạng lớp A, B,C.</a:t>
            </a:r>
          </a:p>
          <a:p>
            <a:pPr algn="just"/>
            <a:r>
              <a:rPr lang="en-US"/>
              <a:t>VLSM mang đến nhiều lợi ích trong việc phân bổ và sử dụng không gian địa chỉ IP. So với việc sử dụng subnet mask có độ dài không đổi thì VLSM cho phép các kỹ sư quản trị mạng có thể linh hoạt cấp phát địa chỉ IP sát với yêu cầu về số lượng địa chỉ host cần có trong mỗi subnet.</a:t>
            </a:r>
          </a:p>
          <a:p>
            <a:pPr algn="just"/>
            <a:endParaRPr lang="en-US"/>
          </a:p>
          <a:p>
            <a:pPr algn="just"/>
            <a:endParaRPr lang="en-US"/>
          </a:p>
          <a:p>
            <a:pPr marL="0" indent="0" algn="just">
              <a:buNone/>
            </a:pPr>
            <a:endParaRPr lang="en-US"/>
          </a:p>
        </p:txBody>
      </p:sp>
    </p:spTree>
    <p:extLst>
      <p:ext uri="{BB962C8B-B14F-4D97-AF65-F5344CB8AC3E}">
        <p14:creationId xmlns:p14="http://schemas.microsoft.com/office/powerpoint/2010/main" val="368974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3" name="TextBox 2"/>
          <p:cNvSpPr txBox="1"/>
          <p:nvPr/>
        </p:nvSpPr>
        <p:spPr>
          <a:xfrm>
            <a:off x="280220" y="1327358"/>
            <a:ext cx="11787090" cy="923330"/>
          </a:xfrm>
          <a:prstGeom prst="rect">
            <a:avLst/>
          </a:prstGeom>
          <a:solidFill>
            <a:schemeClr val="accent2">
              <a:lumMod val="20000"/>
              <a:lumOff val="80000"/>
            </a:schemeClr>
          </a:solidFill>
        </p:spPr>
        <p:txBody>
          <a:bodyPr wrap="square" rtlCol="0">
            <a:spAutoFit/>
          </a:bodyPr>
          <a:lstStyle/>
          <a:p>
            <a:pPr algn="just"/>
            <a:r>
              <a:rPr lang="en-US" b="1" u="sng" dirty="0" err="1">
                <a:solidFill>
                  <a:schemeClr val="tx1">
                    <a:lumMod val="50000"/>
                  </a:schemeClr>
                </a:solidFill>
              </a:rPr>
              <a:t>Yêu</a:t>
            </a:r>
            <a:r>
              <a:rPr lang="en-US" b="1" u="sng" dirty="0">
                <a:solidFill>
                  <a:schemeClr val="tx1">
                    <a:lumMod val="50000"/>
                  </a:schemeClr>
                </a:solidFill>
              </a:rPr>
              <a:t> </a:t>
            </a:r>
            <a:r>
              <a:rPr lang="en-US" b="1" u="sng" dirty="0" err="1">
                <a:solidFill>
                  <a:schemeClr val="tx1">
                    <a:lumMod val="50000"/>
                  </a:schemeClr>
                </a:solidFill>
              </a:rPr>
              <a:t>cầu</a:t>
            </a:r>
            <a:r>
              <a:rPr lang="en-US" b="1" u="sng" dirty="0">
                <a:solidFill>
                  <a:schemeClr val="tx1">
                    <a:lumMod val="50000"/>
                  </a:schemeClr>
                </a:solidFill>
              </a:rPr>
              <a:t>: </a:t>
            </a:r>
            <a:r>
              <a:rPr lang="en-US" dirty="0" err="1">
                <a:solidFill>
                  <a:schemeClr val="tx1">
                    <a:lumMod val="50000"/>
                  </a:schemeClr>
                </a:solidFill>
              </a:rPr>
              <a:t>Doanh</a:t>
            </a:r>
            <a:r>
              <a:rPr lang="en-US" dirty="0">
                <a:solidFill>
                  <a:schemeClr val="tx1">
                    <a:lumMod val="50000"/>
                  </a:schemeClr>
                </a:solidFill>
              </a:rPr>
              <a:t> </a:t>
            </a:r>
            <a:r>
              <a:rPr lang="en-US" dirty="0" err="1">
                <a:solidFill>
                  <a:schemeClr val="tx1">
                    <a:lumMod val="50000"/>
                  </a:schemeClr>
                </a:solidFill>
              </a:rPr>
              <a:t>nghiệp</a:t>
            </a:r>
            <a:r>
              <a:rPr lang="en-US" dirty="0">
                <a:solidFill>
                  <a:schemeClr val="tx1">
                    <a:lumMod val="50000"/>
                  </a:schemeClr>
                </a:solidFill>
              </a:rPr>
              <a:t> A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hai</a:t>
            </a:r>
            <a:r>
              <a:rPr lang="en-US" dirty="0">
                <a:solidFill>
                  <a:schemeClr val="tx1">
                    <a:lumMod val="50000"/>
                  </a:schemeClr>
                </a:solidFill>
              </a:rPr>
              <a:t> chi </a:t>
            </a:r>
            <a:r>
              <a:rPr lang="en-US" dirty="0" err="1">
                <a:solidFill>
                  <a:schemeClr val="tx1">
                    <a:lumMod val="50000"/>
                  </a:schemeClr>
                </a:solidFill>
              </a:rPr>
              <a:t>nhánh</a:t>
            </a:r>
            <a:r>
              <a:rPr lang="en-US" dirty="0">
                <a:solidFill>
                  <a:schemeClr val="tx1">
                    <a:lumMod val="50000"/>
                  </a:schemeClr>
                </a:solidFill>
              </a:rPr>
              <a:t> </a:t>
            </a:r>
            <a:r>
              <a:rPr lang="en-US" dirty="0" err="1">
                <a:solidFill>
                  <a:schemeClr val="tx1">
                    <a:lumMod val="50000"/>
                  </a:schemeClr>
                </a:solidFill>
              </a:rPr>
              <a:t>tại</a:t>
            </a:r>
            <a:r>
              <a:rPr lang="en-US" dirty="0">
                <a:solidFill>
                  <a:schemeClr val="tx1">
                    <a:lumMod val="50000"/>
                  </a:schemeClr>
                </a:solidFill>
              </a:rPr>
              <a:t> </a:t>
            </a:r>
            <a:r>
              <a:rPr lang="en-US" dirty="0" err="1">
                <a:solidFill>
                  <a:schemeClr val="tx1">
                    <a:lumMod val="50000"/>
                  </a:schemeClr>
                </a:solidFill>
              </a:rPr>
              <a:t>Đà</a:t>
            </a:r>
            <a:r>
              <a:rPr lang="en-US" dirty="0">
                <a:solidFill>
                  <a:schemeClr val="tx1">
                    <a:lumMod val="50000"/>
                  </a:schemeClr>
                </a:solidFill>
              </a:rPr>
              <a:t> </a:t>
            </a:r>
            <a:r>
              <a:rPr lang="en-US" dirty="0" err="1">
                <a:solidFill>
                  <a:schemeClr val="tx1">
                    <a:lumMod val="50000"/>
                  </a:schemeClr>
                </a:solidFill>
              </a:rPr>
              <a:t>Nẵng</a:t>
            </a:r>
            <a:r>
              <a:rPr lang="en-US" dirty="0">
                <a:solidFill>
                  <a:schemeClr val="tx1">
                    <a:lumMod val="50000"/>
                  </a:schemeClr>
                </a:solidFill>
              </a:rPr>
              <a:t>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Sài</a:t>
            </a:r>
            <a:r>
              <a:rPr lang="en-US" dirty="0">
                <a:solidFill>
                  <a:schemeClr val="tx1">
                    <a:lumMod val="50000"/>
                  </a:schemeClr>
                </a:solidFill>
              </a:rPr>
              <a:t> </a:t>
            </a:r>
            <a:r>
              <a:rPr lang="en-US" dirty="0" err="1">
                <a:solidFill>
                  <a:schemeClr val="tx1">
                    <a:lumMod val="50000"/>
                  </a:schemeClr>
                </a:solidFill>
              </a:rPr>
              <a:t>Gòn</a:t>
            </a:r>
            <a:r>
              <a:rPr lang="en-US" dirty="0">
                <a:solidFill>
                  <a:schemeClr val="tx1">
                    <a:lumMod val="50000"/>
                  </a:schemeClr>
                </a:solidFill>
              </a:rPr>
              <a:t>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sơ</a:t>
            </a:r>
            <a:r>
              <a:rPr lang="en-US" dirty="0">
                <a:solidFill>
                  <a:schemeClr val="tx1">
                    <a:lumMod val="50000"/>
                  </a:schemeClr>
                </a:solidFill>
              </a:rPr>
              <a:t> </a:t>
            </a:r>
            <a:r>
              <a:rPr lang="en-US" dirty="0" err="1">
                <a:solidFill>
                  <a:schemeClr val="tx1">
                    <a:lumMod val="50000"/>
                  </a:schemeClr>
                </a:solidFill>
              </a:rPr>
              <a:t>đồ</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như</a:t>
            </a:r>
            <a:r>
              <a:rPr lang="en-US" dirty="0">
                <a:solidFill>
                  <a:schemeClr val="tx1">
                    <a:lumMod val="50000"/>
                  </a:schemeClr>
                </a:solidFill>
              </a:rPr>
              <a:t> </a:t>
            </a:r>
            <a:r>
              <a:rPr lang="en-US" dirty="0" err="1">
                <a:solidFill>
                  <a:schemeClr val="tx1">
                    <a:lumMod val="50000"/>
                  </a:schemeClr>
                </a:solidFill>
              </a:rPr>
              <a:t>hình</a:t>
            </a:r>
            <a:r>
              <a:rPr lang="en-US" dirty="0">
                <a:solidFill>
                  <a:schemeClr val="tx1">
                    <a:lumMod val="50000"/>
                  </a:schemeClr>
                </a:solidFill>
              </a:rPr>
              <a:t> </a:t>
            </a:r>
            <a:r>
              <a:rPr lang="en-US" dirty="0" err="1">
                <a:solidFill>
                  <a:schemeClr val="tx1">
                    <a:lumMod val="50000"/>
                  </a:schemeClr>
                </a:solidFill>
              </a:rPr>
              <a:t>vẽ</a:t>
            </a:r>
            <a:r>
              <a:rPr lang="en-US" dirty="0">
                <a:solidFill>
                  <a:schemeClr val="tx1">
                    <a:lumMod val="50000"/>
                  </a:schemeClr>
                </a:solidFill>
              </a:rPr>
              <a:t>. Tiến </a:t>
            </a:r>
            <a:r>
              <a:rPr lang="en-US" dirty="0" err="1">
                <a:solidFill>
                  <a:schemeClr val="tx1">
                    <a:lumMod val="50000"/>
                  </a:schemeClr>
                </a:solidFill>
              </a:rPr>
              <a:t>hành</a:t>
            </a:r>
            <a:r>
              <a:rPr lang="en-US" dirty="0">
                <a:solidFill>
                  <a:schemeClr val="tx1">
                    <a:lumMod val="50000"/>
                  </a:schemeClr>
                </a:solidFill>
              </a:rPr>
              <a:t> chia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IP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phòng</a:t>
            </a:r>
            <a:r>
              <a:rPr lang="en-US" dirty="0">
                <a:solidFill>
                  <a:schemeClr val="tx1">
                    <a:lumMod val="50000"/>
                  </a:schemeClr>
                </a:solidFill>
              </a:rPr>
              <a:t> ban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doanh</a:t>
            </a:r>
            <a:r>
              <a:rPr lang="en-US" dirty="0">
                <a:solidFill>
                  <a:schemeClr val="tx1">
                    <a:lumMod val="50000"/>
                  </a:schemeClr>
                </a:solidFill>
              </a:rPr>
              <a:t> </a:t>
            </a:r>
            <a:r>
              <a:rPr lang="en-US" dirty="0" err="1">
                <a:solidFill>
                  <a:schemeClr val="tx1">
                    <a:lumMod val="50000"/>
                  </a:schemeClr>
                </a:solidFill>
              </a:rPr>
              <a:t>nghiệp</a:t>
            </a:r>
            <a:r>
              <a:rPr lang="en-US" dirty="0">
                <a:solidFill>
                  <a:schemeClr val="tx1">
                    <a:lumMod val="50000"/>
                  </a:schemeClr>
                </a:solidFill>
              </a:rPr>
              <a:t> (LAN 1, LAN 2, LAN 3, LAN 4) </a:t>
            </a:r>
            <a:r>
              <a:rPr lang="en-US" dirty="0" err="1">
                <a:solidFill>
                  <a:schemeClr val="tx1">
                    <a:lumMod val="50000"/>
                  </a:schemeClr>
                </a:solidFill>
              </a:rPr>
              <a:t>thỏa</a:t>
            </a:r>
            <a:r>
              <a:rPr lang="en-US" dirty="0">
                <a:solidFill>
                  <a:schemeClr val="tx1">
                    <a:lumMod val="50000"/>
                  </a:schemeClr>
                </a:solidFill>
              </a:rPr>
              <a:t> </a:t>
            </a:r>
            <a:r>
              <a:rPr lang="en-US" dirty="0" err="1">
                <a:solidFill>
                  <a:schemeClr val="tx1">
                    <a:lumMod val="50000"/>
                  </a:schemeClr>
                </a:solidFill>
              </a:rPr>
              <a:t>mãn</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yêu</a:t>
            </a:r>
            <a:r>
              <a:rPr lang="en-US" dirty="0">
                <a:solidFill>
                  <a:schemeClr val="tx1">
                    <a:lumMod val="50000"/>
                  </a:schemeClr>
                </a:solidFill>
              </a:rPr>
              <a:t> </a:t>
            </a:r>
            <a:r>
              <a:rPr lang="en-US" dirty="0" err="1">
                <a:solidFill>
                  <a:schemeClr val="tx1">
                    <a:lumMod val="50000"/>
                  </a:schemeClr>
                </a:solidFill>
              </a:rPr>
              <a:t>cầu</a:t>
            </a:r>
            <a:r>
              <a:rPr lang="en-US" dirty="0">
                <a:solidFill>
                  <a:schemeClr val="tx1">
                    <a:lumMod val="50000"/>
                  </a:schemeClr>
                </a:solidFill>
              </a:rPr>
              <a:t> </a:t>
            </a:r>
            <a:r>
              <a:rPr lang="en-US" dirty="0" err="1">
                <a:solidFill>
                  <a:schemeClr val="tx1">
                    <a:lumMod val="50000"/>
                  </a:schemeClr>
                </a:solidFill>
              </a:rPr>
              <a:t>về</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host, </a:t>
            </a:r>
            <a:r>
              <a:rPr lang="en-US" dirty="0" err="1">
                <a:solidFill>
                  <a:schemeClr val="tx1">
                    <a:lumMod val="50000"/>
                  </a:schemeClr>
                </a:solidFill>
              </a:rPr>
              <a:t>biết</a:t>
            </a:r>
            <a:r>
              <a:rPr lang="en-US" dirty="0">
                <a:solidFill>
                  <a:schemeClr val="tx1">
                    <a:lumMod val="50000"/>
                  </a:schemeClr>
                </a:solidFill>
              </a:rPr>
              <a:t> </a:t>
            </a:r>
            <a:r>
              <a:rPr lang="en-US" dirty="0" err="1">
                <a:solidFill>
                  <a:schemeClr val="tx1">
                    <a:lumMod val="50000"/>
                  </a:schemeClr>
                </a:solidFill>
              </a:rPr>
              <a:t>rằng</a:t>
            </a:r>
            <a:r>
              <a:rPr lang="en-US" dirty="0">
                <a:solidFill>
                  <a:schemeClr val="tx1">
                    <a:lumMod val="50000"/>
                  </a:schemeClr>
                </a:solidFill>
              </a:rPr>
              <a:t> ban </a:t>
            </a:r>
            <a:r>
              <a:rPr lang="en-US" dirty="0" err="1">
                <a:solidFill>
                  <a:schemeClr val="tx1">
                    <a:lumMod val="50000"/>
                  </a:schemeClr>
                </a:solidFill>
              </a:rPr>
              <a:t>đầu</a:t>
            </a:r>
            <a:r>
              <a:rPr lang="en-US" dirty="0">
                <a:solidFill>
                  <a:schemeClr val="tx1">
                    <a:lumMod val="50000"/>
                  </a:schemeClr>
                </a:solidFill>
              </a:rPr>
              <a:t> </a:t>
            </a:r>
            <a:r>
              <a:rPr lang="en-US" dirty="0" err="1">
                <a:solidFill>
                  <a:schemeClr val="tx1">
                    <a:lumMod val="50000"/>
                  </a:schemeClr>
                </a:solidFill>
              </a:rPr>
              <a:t>doanh</a:t>
            </a:r>
            <a:r>
              <a:rPr lang="en-US" dirty="0">
                <a:solidFill>
                  <a:schemeClr val="tx1">
                    <a:lumMod val="50000"/>
                  </a:schemeClr>
                </a:solidFill>
              </a:rPr>
              <a:t> </a:t>
            </a:r>
            <a:r>
              <a:rPr lang="en-US" dirty="0" err="1">
                <a:solidFill>
                  <a:schemeClr val="tx1">
                    <a:lumMod val="50000"/>
                  </a:schemeClr>
                </a:solidFill>
              </a:rPr>
              <a:t>nghiệp</a:t>
            </a:r>
            <a:r>
              <a:rPr lang="en-US" dirty="0">
                <a:solidFill>
                  <a:schemeClr val="tx1">
                    <a:lumMod val="50000"/>
                  </a:schemeClr>
                </a:solidFill>
              </a:rPr>
              <a:t>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a:t>
            </a:r>
            <a:r>
              <a:rPr lang="en-US" dirty="0" err="1">
                <a:solidFill>
                  <a:schemeClr val="tx1">
                    <a:lumMod val="50000"/>
                  </a:schemeClr>
                </a:solidFill>
              </a:rPr>
              <a:t>bổ</a:t>
            </a:r>
            <a:r>
              <a:rPr lang="en-US" dirty="0">
                <a:solidFill>
                  <a:schemeClr val="tx1">
                    <a:lumMod val="50000"/>
                  </a:schemeClr>
                </a:solidFill>
              </a:rPr>
              <a:t> </a:t>
            </a:r>
            <a:r>
              <a:rPr lang="en-US" dirty="0" err="1">
                <a:solidFill>
                  <a:schemeClr val="tx1">
                    <a:lumMod val="50000"/>
                  </a:schemeClr>
                </a:solidFill>
              </a:rPr>
              <a:t>một</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a:t>
            </a:r>
            <a:r>
              <a:rPr lang="en-US" dirty="0" err="1">
                <a:solidFill>
                  <a:schemeClr val="tx1">
                    <a:lumMod val="50000"/>
                  </a:schemeClr>
                </a:solidFill>
              </a:rPr>
              <a:t>lớp</a:t>
            </a:r>
            <a:r>
              <a:rPr lang="en-US" dirty="0">
                <a:solidFill>
                  <a:schemeClr val="tx1">
                    <a:lumMod val="50000"/>
                  </a:schemeClr>
                </a:solidFill>
              </a:rPr>
              <a:t> C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b="1" dirty="0">
                <a:solidFill>
                  <a:srgbClr val="0070C0"/>
                </a:solidFill>
              </a:rPr>
              <a:t>210.25.10.0/24</a:t>
            </a:r>
            <a:r>
              <a:rPr lang="en-US" dirty="0">
                <a:solidFill>
                  <a:schemeClr val="tx1">
                    <a:lumMod val="50000"/>
                  </a:schemeClr>
                </a:solidFill>
              </a:rPr>
              <a:t>.</a:t>
            </a:r>
          </a:p>
        </p:txBody>
      </p:sp>
      <p:pic>
        <p:nvPicPr>
          <p:cNvPr id="15"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64901" y="3490560"/>
            <a:ext cx="6429375" cy="2371406"/>
          </a:xfrm>
        </p:spPr>
      </p:pic>
      <p:sp>
        <p:nvSpPr>
          <p:cNvPr id="16" name="TextBox 15"/>
          <p:cNvSpPr txBox="1"/>
          <p:nvPr/>
        </p:nvSpPr>
        <p:spPr>
          <a:xfrm>
            <a:off x="4545453" y="3456651"/>
            <a:ext cx="1015021" cy="338554"/>
          </a:xfrm>
          <a:prstGeom prst="rect">
            <a:avLst/>
          </a:prstGeom>
          <a:noFill/>
        </p:spPr>
        <p:txBody>
          <a:bodyPr wrap="none" rtlCol="0">
            <a:spAutoFit/>
          </a:bodyPr>
          <a:lstStyle/>
          <a:p>
            <a:r>
              <a:rPr lang="en-US" sz="1600" b="1" u="sng"/>
              <a:t>Đà Nẵng</a:t>
            </a:r>
            <a:endParaRPr lang="en-US" sz="1600" b="1" u="sng" dirty="0"/>
          </a:p>
        </p:txBody>
      </p:sp>
      <p:sp>
        <p:nvSpPr>
          <p:cNvPr id="17" name="TextBox 16"/>
          <p:cNvSpPr txBox="1"/>
          <p:nvPr/>
        </p:nvSpPr>
        <p:spPr>
          <a:xfrm>
            <a:off x="6309483" y="3427647"/>
            <a:ext cx="960519" cy="338554"/>
          </a:xfrm>
          <a:prstGeom prst="rect">
            <a:avLst/>
          </a:prstGeom>
          <a:noFill/>
        </p:spPr>
        <p:txBody>
          <a:bodyPr wrap="none" rtlCol="0">
            <a:spAutoFit/>
          </a:bodyPr>
          <a:lstStyle/>
          <a:p>
            <a:r>
              <a:rPr lang="en-US" sz="1600" b="1" u="sng"/>
              <a:t>Sài Gòn</a:t>
            </a:r>
            <a:endParaRPr lang="en-US" sz="1600" b="1" u="sng" dirty="0"/>
          </a:p>
        </p:txBody>
      </p:sp>
      <p:sp>
        <p:nvSpPr>
          <p:cNvPr id="18" name="TextBox 17"/>
          <p:cNvSpPr txBox="1"/>
          <p:nvPr/>
        </p:nvSpPr>
        <p:spPr>
          <a:xfrm>
            <a:off x="2042283" y="2602353"/>
            <a:ext cx="4046220" cy="584775"/>
          </a:xfrm>
          <a:prstGeom prst="rect">
            <a:avLst/>
          </a:prstGeom>
          <a:noFill/>
        </p:spPr>
        <p:txBody>
          <a:bodyPr wrap="square" rtlCol="0">
            <a:spAutoFit/>
          </a:bodyPr>
          <a:lstStyle/>
          <a:p>
            <a:r>
              <a:rPr lang="en-US" sz="1600" b="1" dirty="0"/>
              <a:t>LAN 1</a:t>
            </a:r>
          </a:p>
          <a:p>
            <a:r>
              <a:rPr lang="en-US" sz="1600" dirty="0"/>
              <a:t>15</a:t>
            </a:r>
            <a:r>
              <a:rPr lang="en-US" sz="1600" b="0" dirty="0"/>
              <a:t> </a:t>
            </a:r>
            <a:r>
              <a:rPr lang="en-US" sz="1600" dirty="0"/>
              <a:t>đ/c IP</a:t>
            </a:r>
            <a:endParaRPr lang="en-US" sz="1600" b="0" dirty="0"/>
          </a:p>
        </p:txBody>
      </p:sp>
      <p:sp>
        <p:nvSpPr>
          <p:cNvPr id="19" name="TextBox 18"/>
          <p:cNvSpPr txBox="1"/>
          <p:nvPr/>
        </p:nvSpPr>
        <p:spPr>
          <a:xfrm>
            <a:off x="2034663" y="4892163"/>
            <a:ext cx="995785" cy="584775"/>
          </a:xfrm>
          <a:prstGeom prst="rect">
            <a:avLst/>
          </a:prstGeom>
          <a:noFill/>
        </p:spPr>
        <p:txBody>
          <a:bodyPr wrap="none" rtlCol="0">
            <a:spAutoFit/>
          </a:bodyPr>
          <a:lstStyle/>
          <a:p>
            <a:r>
              <a:rPr lang="en-US" sz="1600" b="1" dirty="0"/>
              <a:t>LAN 2</a:t>
            </a:r>
          </a:p>
          <a:p>
            <a:r>
              <a:rPr lang="en-US" sz="1600" b="0" dirty="0"/>
              <a:t>29 </a:t>
            </a:r>
            <a:r>
              <a:rPr lang="en-US" sz="1600" dirty="0"/>
              <a:t>đ/c IP</a:t>
            </a:r>
            <a:endParaRPr lang="en-US" sz="1600" b="0" dirty="0"/>
          </a:p>
        </p:txBody>
      </p:sp>
      <p:sp>
        <p:nvSpPr>
          <p:cNvPr id="20" name="TextBox 19"/>
          <p:cNvSpPr txBox="1"/>
          <p:nvPr/>
        </p:nvSpPr>
        <p:spPr>
          <a:xfrm>
            <a:off x="8881233" y="2619876"/>
            <a:ext cx="995785" cy="584775"/>
          </a:xfrm>
          <a:prstGeom prst="rect">
            <a:avLst/>
          </a:prstGeom>
          <a:noFill/>
        </p:spPr>
        <p:txBody>
          <a:bodyPr wrap="none" rtlCol="0">
            <a:spAutoFit/>
          </a:bodyPr>
          <a:lstStyle/>
          <a:p>
            <a:r>
              <a:rPr lang="en-US" sz="1600" b="1" dirty="0"/>
              <a:t>LAN 3</a:t>
            </a:r>
          </a:p>
          <a:p>
            <a:r>
              <a:rPr lang="en-US" sz="1600" dirty="0"/>
              <a:t>55</a:t>
            </a:r>
            <a:r>
              <a:rPr lang="en-US" sz="1600" b="0" dirty="0"/>
              <a:t> </a:t>
            </a:r>
            <a:r>
              <a:rPr lang="en-US" sz="1600" dirty="0"/>
              <a:t>đ/c IP</a:t>
            </a:r>
            <a:endParaRPr lang="en-US" sz="1600" b="0" dirty="0"/>
          </a:p>
        </p:txBody>
      </p:sp>
      <p:sp>
        <p:nvSpPr>
          <p:cNvPr id="21" name="TextBox 20"/>
          <p:cNvSpPr txBox="1"/>
          <p:nvPr/>
        </p:nvSpPr>
        <p:spPr>
          <a:xfrm>
            <a:off x="9117206" y="4759431"/>
            <a:ext cx="881973" cy="584775"/>
          </a:xfrm>
          <a:prstGeom prst="rect">
            <a:avLst/>
          </a:prstGeom>
          <a:noFill/>
        </p:spPr>
        <p:txBody>
          <a:bodyPr wrap="none" rtlCol="0">
            <a:spAutoFit/>
          </a:bodyPr>
          <a:lstStyle/>
          <a:p>
            <a:r>
              <a:rPr lang="en-US" sz="1600" b="1" dirty="0"/>
              <a:t>LAN 4</a:t>
            </a:r>
          </a:p>
          <a:p>
            <a:r>
              <a:rPr lang="en-US" sz="1600" dirty="0"/>
              <a:t>7</a:t>
            </a:r>
            <a:r>
              <a:rPr lang="en-US" sz="1600" b="0" dirty="0"/>
              <a:t> </a:t>
            </a:r>
            <a:r>
              <a:rPr lang="en-US" sz="1600" dirty="0"/>
              <a:t>đ/c IP</a:t>
            </a:r>
            <a:endParaRPr lang="en-US" sz="1600" b="0" dirty="0"/>
          </a:p>
        </p:txBody>
      </p:sp>
      <p:sp>
        <p:nvSpPr>
          <p:cNvPr id="22" name="TextBox 21"/>
          <p:cNvSpPr txBox="1"/>
          <p:nvPr/>
        </p:nvSpPr>
        <p:spPr>
          <a:xfrm>
            <a:off x="4907403" y="5044563"/>
            <a:ext cx="2085979" cy="584775"/>
          </a:xfrm>
          <a:prstGeom prst="rect">
            <a:avLst/>
          </a:prstGeom>
          <a:noFill/>
        </p:spPr>
        <p:txBody>
          <a:bodyPr wrap="square" rtlCol="0">
            <a:spAutoFit/>
          </a:bodyPr>
          <a:lstStyle/>
          <a:p>
            <a:r>
              <a:rPr lang="en-US" sz="1600" b="1" dirty="0"/>
              <a:t>Point-to-point link</a:t>
            </a:r>
            <a:r>
              <a:rPr lang="en-US" sz="1600" b="0" dirty="0"/>
              <a:t>:</a:t>
            </a:r>
          </a:p>
          <a:p>
            <a:r>
              <a:rPr lang="en-US" sz="1600" b="0" dirty="0"/>
              <a:t>2 </a:t>
            </a:r>
            <a:r>
              <a:rPr lang="en-US" sz="1600" dirty="0"/>
              <a:t>đ/c IP</a:t>
            </a:r>
            <a:endParaRPr lang="en-US" sz="1600" b="0" dirty="0"/>
          </a:p>
        </p:txBody>
      </p:sp>
      <p:sp>
        <p:nvSpPr>
          <p:cNvPr id="23" name="TextBox 22"/>
          <p:cNvSpPr txBox="1"/>
          <p:nvPr/>
        </p:nvSpPr>
        <p:spPr>
          <a:xfrm>
            <a:off x="5014452" y="4085306"/>
            <a:ext cx="479618" cy="369332"/>
          </a:xfrm>
          <a:prstGeom prst="rect">
            <a:avLst/>
          </a:prstGeom>
          <a:noFill/>
        </p:spPr>
        <p:txBody>
          <a:bodyPr wrap="none" rtlCol="0">
            <a:spAutoFit/>
          </a:bodyPr>
          <a:lstStyle/>
          <a:p>
            <a:r>
              <a:rPr lang="en-US" b="1"/>
              <a:t>R1</a:t>
            </a:r>
          </a:p>
        </p:txBody>
      </p:sp>
      <p:sp>
        <p:nvSpPr>
          <p:cNvPr id="24" name="TextBox 23"/>
          <p:cNvSpPr txBox="1"/>
          <p:nvPr/>
        </p:nvSpPr>
        <p:spPr>
          <a:xfrm>
            <a:off x="6243482" y="4075470"/>
            <a:ext cx="479618" cy="369332"/>
          </a:xfrm>
          <a:prstGeom prst="rect">
            <a:avLst/>
          </a:prstGeom>
          <a:noFill/>
        </p:spPr>
        <p:txBody>
          <a:bodyPr wrap="none" rtlCol="0">
            <a:spAutoFit/>
          </a:bodyPr>
          <a:lstStyle/>
          <a:p>
            <a:r>
              <a:rPr lang="en-US" b="1"/>
              <a:t>R2</a:t>
            </a:r>
          </a:p>
        </p:txBody>
      </p:sp>
    </p:spTree>
    <p:extLst>
      <p:ext uri="{BB962C8B-B14F-4D97-AF65-F5344CB8AC3E}">
        <p14:creationId xmlns:p14="http://schemas.microsoft.com/office/powerpoint/2010/main" val="246687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3" name="TextBox 2"/>
          <p:cNvSpPr txBox="1"/>
          <p:nvPr/>
        </p:nvSpPr>
        <p:spPr>
          <a:xfrm>
            <a:off x="280220" y="1327358"/>
            <a:ext cx="11787090" cy="3970318"/>
          </a:xfrm>
          <a:prstGeom prst="rect">
            <a:avLst/>
          </a:prstGeom>
          <a:solidFill>
            <a:schemeClr val="accent2">
              <a:lumMod val="20000"/>
              <a:lumOff val="80000"/>
            </a:schemeClr>
          </a:solidFill>
        </p:spPr>
        <p:txBody>
          <a:bodyPr wrap="square" rtlCol="0">
            <a:spAutoFit/>
          </a:bodyPr>
          <a:lstStyle/>
          <a:p>
            <a:pPr algn="just"/>
            <a:r>
              <a:rPr lang="en-US" b="1" u="sng" dirty="0" err="1">
                <a:solidFill>
                  <a:schemeClr val="tx1">
                    <a:lumMod val="50000"/>
                  </a:schemeClr>
                </a:solidFill>
              </a:rPr>
              <a:t>Phân</a:t>
            </a:r>
            <a:r>
              <a:rPr lang="en-US" b="1" u="sng" dirty="0">
                <a:solidFill>
                  <a:schemeClr val="tx1">
                    <a:lumMod val="50000"/>
                  </a:schemeClr>
                </a:solidFill>
              </a:rPr>
              <a:t> </a:t>
            </a:r>
            <a:r>
              <a:rPr lang="en-US" b="1" u="sng" dirty="0" err="1">
                <a:solidFill>
                  <a:schemeClr val="tx1">
                    <a:lumMod val="50000"/>
                  </a:schemeClr>
                </a:solidFill>
              </a:rPr>
              <a:t>tích</a:t>
            </a:r>
            <a:r>
              <a:rPr lang="en-US" b="1" u="sng" dirty="0">
                <a:solidFill>
                  <a:schemeClr val="tx1">
                    <a:lumMod val="50000"/>
                  </a:schemeClr>
                </a:solidFill>
              </a:rPr>
              <a:t> </a:t>
            </a:r>
            <a:r>
              <a:rPr lang="en-US" b="1" u="sng" dirty="0" err="1">
                <a:solidFill>
                  <a:schemeClr val="tx1">
                    <a:lumMod val="50000"/>
                  </a:schemeClr>
                </a:solidFill>
              </a:rPr>
              <a:t>yêu</a:t>
            </a:r>
            <a:r>
              <a:rPr lang="en-US" b="1" u="sng" dirty="0">
                <a:solidFill>
                  <a:schemeClr val="tx1">
                    <a:lumMod val="50000"/>
                  </a:schemeClr>
                </a:solidFill>
              </a:rPr>
              <a:t> </a:t>
            </a:r>
            <a:r>
              <a:rPr lang="en-US" b="1" u="sng" dirty="0" err="1">
                <a:solidFill>
                  <a:schemeClr val="tx1">
                    <a:lumMod val="50000"/>
                  </a:schemeClr>
                </a:solidFill>
              </a:rPr>
              <a:t>cầu</a:t>
            </a:r>
            <a:r>
              <a:rPr lang="en-US" b="1" u="sng" dirty="0">
                <a:solidFill>
                  <a:schemeClr val="tx1">
                    <a:lumMod val="50000"/>
                  </a:schemeClr>
                </a:solidFill>
              </a:rPr>
              <a:t>:</a:t>
            </a:r>
          </a:p>
          <a:p>
            <a:pPr marL="285750" indent="-285750" algn="just">
              <a:buFont typeface="Arial" panose="020B0604020202020204" pitchFamily="34" charset="0"/>
              <a:buChar char="•"/>
            </a:pPr>
            <a:r>
              <a:rPr lang="en-US" dirty="0" err="1">
                <a:solidFill>
                  <a:schemeClr val="tx1">
                    <a:lumMod val="50000"/>
                  </a:schemeClr>
                </a:solidFill>
              </a:rPr>
              <a:t>Xác</a:t>
            </a:r>
            <a:r>
              <a:rPr lang="en-US" dirty="0">
                <a:solidFill>
                  <a:schemeClr val="tx1">
                    <a:lumMod val="50000"/>
                  </a:schemeClr>
                </a:solidFill>
              </a:rPr>
              <a:t> </a:t>
            </a:r>
            <a:r>
              <a:rPr lang="en-US" dirty="0" err="1">
                <a:solidFill>
                  <a:schemeClr val="tx1">
                    <a:lumMod val="50000"/>
                  </a:schemeClr>
                </a:solidFill>
              </a:rPr>
              <a:t>định</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subnet </a:t>
            </a:r>
            <a:r>
              <a:rPr lang="en-US" dirty="0" err="1">
                <a:solidFill>
                  <a:schemeClr val="tx1">
                    <a:lumMod val="50000"/>
                  </a:schemeClr>
                </a:solidFill>
              </a:rPr>
              <a:t>cần</a:t>
            </a:r>
            <a:r>
              <a:rPr lang="en-US" dirty="0">
                <a:solidFill>
                  <a:schemeClr val="tx1">
                    <a:lumMod val="50000"/>
                  </a:schemeClr>
                </a:solidFill>
              </a:rPr>
              <a:t> chia: ta </a:t>
            </a:r>
            <a:r>
              <a:rPr lang="en-US" dirty="0" err="1">
                <a:solidFill>
                  <a:schemeClr val="tx1">
                    <a:lumMod val="50000"/>
                  </a:schemeClr>
                </a:solidFill>
              </a:rPr>
              <a:t>cần</a:t>
            </a:r>
            <a:r>
              <a:rPr lang="en-US" dirty="0">
                <a:solidFill>
                  <a:schemeClr val="tx1">
                    <a:lumMod val="50000"/>
                  </a:schemeClr>
                </a:solidFill>
              </a:rPr>
              <a:t> chia 5 </a:t>
            </a:r>
            <a:r>
              <a:rPr lang="en-US" dirty="0" err="1">
                <a:solidFill>
                  <a:schemeClr val="tx1">
                    <a:lumMod val="50000"/>
                  </a:schemeClr>
                </a:solidFill>
              </a:rPr>
              <a:t>mạng</a:t>
            </a:r>
            <a:r>
              <a:rPr lang="en-US" dirty="0">
                <a:solidFill>
                  <a:schemeClr val="tx1">
                    <a:lumMod val="50000"/>
                  </a:schemeClr>
                </a:solidFill>
              </a:rPr>
              <a:t> con bao </a:t>
            </a:r>
            <a:r>
              <a:rPr lang="en-US" dirty="0" err="1">
                <a:solidFill>
                  <a:schemeClr val="tx1">
                    <a:lumMod val="50000"/>
                  </a:schemeClr>
                </a:solidFill>
              </a:rPr>
              <a:t>gồm</a:t>
            </a:r>
            <a:r>
              <a:rPr lang="en-US" dirty="0">
                <a:solidFill>
                  <a:schemeClr val="tx1">
                    <a:lumMod val="50000"/>
                  </a:schemeClr>
                </a:solidFill>
              </a:rPr>
              <a:t> 4 </a:t>
            </a:r>
            <a:r>
              <a:rPr lang="en-US" dirty="0" err="1">
                <a:solidFill>
                  <a:schemeClr val="tx1">
                    <a:lumMod val="50000"/>
                  </a:schemeClr>
                </a:solidFill>
              </a:rPr>
              <a:t>mạng</a:t>
            </a:r>
            <a:r>
              <a:rPr lang="en-US" dirty="0">
                <a:solidFill>
                  <a:schemeClr val="tx1">
                    <a:lumMod val="50000"/>
                  </a:schemeClr>
                </a:solidFill>
              </a:rPr>
              <a:t> LAN: LAN 1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tối</a:t>
            </a:r>
            <a:r>
              <a:rPr lang="en-US" dirty="0">
                <a:solidFill>
                  <a:schemeClr val="tx1">
                    <a:lumMod val="50000"/>
                  </a:schemeClr>
                </a:solidFill>
              </a:rPr>
              <a:t> </a:t>
            </a:r>
            <a:r>
              <a:rPr lang="en-US" dirty="0" err="1">
                <a:solidFill>
                  <a:schemeClr val="tx1">
                    <a:lumMod val="50000"/>
                  </a:schemeClr>
                </a:solidFill>
              </a:rPr>
              <a:t>thiểu</a:t>
            </a:r>
            <a:r>
              <a:rPr lang="en-US" dirty="0">
                <a:solidFill>
                  <a:schemeClr val="tx1">
                    <a:lumMod val="50000"/>
                  </a:schemeClr>
                </a:solidFill>
              </a:rPr>
              <a:t> 15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IP), LAN 2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tối</a:t>
            </a:r>
            <a:r>
              <a:rPr lang="en-US" dirty="0">
                <a:solidFill>
                  <a:schemeClr val="tx1">
                    <a:lumMod val="50000"/>
                  </a:schemeClr>
                </a:solidFill>
              </a:rPr>
              <a:t> </a:t>
            </a:r>
            <a:r>
              <a:rPr lang="en-US" dirty="0" err="1">
                <a:solidFill>
                  <a:schemeClr val="tx1">
                    <a:lumMod val="50000"/>
                  </a:schemeClr>
                </a:solidFill>
              </a:rPr>
              <a:t>thiểu</a:t>
            </a:r>
            <a:r>
              <a:rPr lang="en-US" dirty="0">
                <a:solidFill>
                  <a:schemeClr val="tx1">
                    <a:lumMod val="50000"/>
                  </a:schemeClr>
                </a:solidFill>
              </a:rPr>
              <a:t> 29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IP ), LAN 3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tối</a:t>
            </a:r>
            <a:r>
              <a:rPr lang="en-US" dirty="0">
                <a:solidFill>
                  <a:schemeClr val="tx1">
                    <a:lumMod val="50000"/>
                  </a:schemeClr>
                </a:solidFill>
              </a:rPr>
              <a:t> </a:t>
            </a:r>
            <a:r>
              <a:rPr lang="en-US" dirty="0" err="1">
                <a:solidFill>
                  <a:schemeClr val="tx1">
                    <a:lumMod val="50000"/>
                  </a:schemeClr>
                </a:solidFill>
              </a:rPr>
              <a:t>thiểu</a:t>
            </a:r>
            <a:r>
              <a:rPr lang="en-US" dirty="0">
                <a:solidFill>
                  <a:schemeClr val="tx1">
                    <a:lumMod val="50000"/>
                  </a:schemeClr>
                </a:solidFill>
              </a:rPr>
              <a:t> 55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LAN 4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tối</a:t>
            </a:r>
            <a:r>
              <a:rPr lang="en-US" dirty="0">
                <a:solidFill>
                  <a:schemeClr val="tx1">
                    <a:lumMod val="50000"/>
                  </a:schemeClr>
                </a:solidFill>
              </a:rPr>
              <a:t> </a:t>
            </a:r>
            <a:r>
              <a:rPr lang="en-US" dirty="0" err="1">
                <a:solidFill>
                  <a:schemeClr val="tx1">
                    <a:lumMod val="50000"/>
                  </a:schemeClr>
                </a:solidFill>
              </a:rPr>
              <a:t>thiểu</a:t>
            </a:r>
            <a:r>
              <a:rPr lang="en-US" dirty="0">
                <a:solidFill>
                  <a:schemeClr val="tx1">
                    <a:lumMod val="50000"/>
                  </a:schemeClr>
                </a:solidFill>
              </a:rPr>
              <a:t> 7)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con </a:t>
            </a:r>
            <a:r>
              <a:rPr lang="en-US" dirty="0" err="1">
                <a:solidFill>
                  <a:schemeClr val="tx1">
                    <a:lumMod val="50000"/>
                  </a:schemeClr>
                </a:solidFill>
              </a:rPr>
              <a:t>cho</a:t>
            </a:r>
            <a:r>
              <a:rPr lang="en-US" dirty="0">
                <a:solidFill>
                  <a:schemeClr val="tx1">
                    <a:lumMod val="50000"/>
                  </a:schemeClr>
                </a:solidFill>
              </a:rPr>
              <a:t> point-to-point link </a:t>
            </a:r>
            <a:r>
              <a:rPr lang="en-US" dirty="0" err="1">
                <a:solidFill>
                  <a:schemeClr val="tx1">
                    <a:lumMod val="50000"/>
                  </a:schemeClr>
                </a:solidFill>
              </a:rPr>
              <a:t>kết</a:t>
            </a:r>
            <a:r>
              <a:rPr lang="en-US" dirty="0">
                <a:solidFill>
                  <a:schemeClr val="tx1">
                    <a:lumMod val="50000"/>
                  </a:schemeClr>
                </a:solidFill>
              </a:rPr>
              <a:t> </a:t>
            </a:r>
            <a:r>
              <a:rPr lang="en-US" dirty="0" err="1">
                <a:solidFill>
                  <a:schemeClr val="tx1">
                    <a:lumMod val="50000"/>
                  </a:schemeClr>
                </a:solidFill>
              </a:rPr>
              <a:t>nối</a:t>
            </a:r>
            <a:r>
              <a:rPr lang="en-US" dirty="0">
                <a:solidFill>
                  <a:schemeClr val="tx1">
                    <a:lumMod val="50000"/>
                  </a:schemeClr>
                </a:solidFill>
              </a:rPr>
              <a:t> </a:t>
            </a:r>
            <a:r>
              <a:rPr lang="en-US" dirty="0" err="1">
                <a:solidFill>
                  <a:schemeClr val="tx1">
                    <a:lumMod val="50000"/>
                  </a:schemeClr>
                </a:solidFill>
              </a:rPr>
              <a:t>hai</a:t>
            </a:r>
            <a:r>
              <a:rPr lang="en-US" dirty="0">
                <a:solidFill>
                  <a:schemeClr val="tx1">
                    <a:lumMod val="50000"/>
                  </a:schemeClr>
                </a:solidFill>
              </a:rPr>
              <a:t> router R1 </a:t>
            </a:r>
            <a:r>
              <a:rPr lang="en-US" dirty="0" err="1">
                <a:solidFill>
                  <a:schemeClr val="tx1">
                    <a:lumMod val="50000"/>
                  </a:schemeClr>
                </a:solidFill>
              </a:rPr>
              <a:t>và</a:t>
            </a:r>
            <a:r>
              <a:rPr lang="en-US" dirty="0">
                <a:solidFill>
                  <a:schemeClr val="tx1">
                    <a:lumMod val="50000"/>
                  </a:schemeClr>
                </a:solidFill>
              </a:rPr>
              <a:t> R2 (</a:t>
            </a:r>
            <a:r>
              <a:rPr lang="en-US" dirty="0" err="1">
                <a:solidFill>
                  <a:schemeClr val="tx1">
                    <a:lumMod val="50000"/>
                  </a:schemeClr>
                </a:solidFill>
              </a:rPr>
              <a:t>cần</a:t>
            </a:r>
            <a:r>
              <a:rPr lang="en-US" dirty="0">
                <a:solidFill>
                  <a:schemeClr val="tx1">
                    <a:lumMod val="50000"/>
                  </a:schemeClr>
                </a:solidFill>
              </a:rPr>
              <a:t> 2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IP).</a:t>
            </a:r>
          </a:p>
          <a:p>
            <a:pPr algn="just"/>
            <a:endParaRPr lang="en-US" dirty="0">
              <a:solidFill>
                <a:schemeClr val="tx1">
                  <a:lumMod val="50000"/>
                </a:schemeClr>
              </a:solidFill>
            </a:endParaRPr>
          </a:p>
          <a:p>
            <a:pPr algn="just"/>
            <a:r>
              <a:rPr lang="en-US" b="1" u="sng" dirty="0" err="1">
                <a:solidFill>
                  <a:schemeClr val="tx1">
                    <a:lumMod val="50000"/>
                  </a:schemeClr>
                </a:solidFill>
              </a:rPr>
              <a:t>Các</a:t>
            </a:r>
            <a:r>
              <a:rPr lang="en-US" b="1" u="sng" dirty="0">
                <a:solidFill>
                  <a:schemeClr val="tx1">
                    <a:lumMod val="50000"/>
                  </a:schemeClr>
                </a:solidFill>
              </a:rPr>
              <a:t> </a:t>
            </a:r>
            <a:r>
              <a:rPr lang="en-US" b="1" u="sng" dirty="0" err="1">
                <a:solidFill>
                  <a:schemeClr val="tx1">
                    <a:lumMod val="50000"/>
                  </a:schemeClr>
                </a:solidFill>
              </a:rPr>
              <a:t>bước</a:t>
            </a:r>
            <a:r>
              <a:rPr lang="en-US" b="1" u="sng" dirty="0">
                <a:solidFill>
                  <a:schemeClr val="tx1">
                    <a:lumMod val="50000"/>
                  </a:schemeClr>
                </a:solidFill>
              </a:rPr>
              <a:t> </a:t>
            </a:r>
            <a:r>
              <a:rPr lang="en-US" b="1" u="sng" dirty="0" err="1">
                <a:solidFill>
                  <a:schemeClr val="tx1">
                    <a:lumMod val="50000"/>
                  </a:schemeClr>
                </a:solidFill>
              </a:rPr>
              <a:t>thực</a:t>
            </a:r>
            <a:r>
              <a:rPr lang="en-US" b="1" u="sng" dirty="0">
                <a:solidFill>
                  <a:schemeClr val="tx1">
                    <a:lumMod val="50000"/>
                  </a:schemeClr>
                </a:solidFill>
              </a:rPr>
              <a:t> </a:t>
            </a:r>
            <a:r>
              <a:rPr lang="en-US" b="1" u="sng" dirty="0" err="1">
                <a:solidFill>
                  <a:schemeClr val="tx1">
                    <a:lumMod val="50000"/>
                  </a:schemeClr>
                </a:solidFill>
              </a:rPr>
              <a:t>hiện</a:t>
            </a:r>
            <a:r>
              <a:rPr lang="en-US" b="1" u="sng" dirty="0">
                <a:solidFill>
                  <a:schemeClr val="tx1">
                    <a:lumMod val="50000"/>
                  </a:schemeClr>
                </a:solidFill>
              </a:rPr>
              <a:t>:</a:t>
            </a:r>
          </a:p>
          <a:p>
            <a:pPr marL="285750" indent="-285750" algn="just">
              <a:buFont typeface="Arial" panose="020B0604020202020204" pitchFamily="34" charset="0"/>
              <a:buChar char="•"/>
            </a:pPr>
            <a:r>
              <a:rPr lang="en-US" b="1" dirty="0">
                <a:solidFill>
                  <a:schemeClr val="tx1">
                    <a:lumMod val="50000"/>
                  </a:schemeClr>
                </a:solidFill>
              </a:rPr>
              <a:t>B1</a:t>
            </a:r>
            <a:r>
              <a:rPr lang="en-US" dirty="0">
                <a:solidFill>
                  <a:schemeClr val="tx1">
                    <a:lumMod val="50000"/>
                  </a:schemeClr>
                </a:solidFill>
              </a:rPr>
              <a:t>: </a:t>
            </a:r>
            <a:r>
              <a:rPr lang="en-US" dirty="0" err="1">
                <a:solidFill>
                  <a:schemeClr val="tx1">
                    <a:lumMod val="50000"/>
                  </a:schemeClr>
                </a:solidFill>
              </a:rPr>
              <a:t>Sắp</a:t>
            </a:r>
            <a:r>
              <a:rPr lang="en-US" dirty="0">
                <a:solidFill>
                  <a:schemeClr val="tx1">
                    <a:lumMod val="50000"/>
                  </a:schemeClr>
                </a:solidFill>
              </a:rPr>
              <a:t> </a:t>
            </a:r>
            <a:r>
              <a:rPr lang="en-US" dirty="0" err="1">
                <a:solidFill>
                  <a:schemeClr val="tx1">
                    <a:lumMod val="50000"/>
                  </a:schemeClr>
                </a:solidFill>
              </a:rPr>
              <a:t>xếp</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con </a:t>
            </a:r>
            <a:r>
              <a:rPr lang="en-US" dirty="0" err="1">
                <a:solidFill>
                  <a:schemeClr val="tx1">
                    <a:lumMod val="50000"/>
                  </a:schemeClr>
                </a:solidFill>
              </a:rPr>
              <a:t>theo</a:t>
            </a:r>
            <a:r>
              <a:rPr lang="en-US" dirty="0">
                <a:solidFill>
                  <a:schemeClr val="tx1">
                    <a:lumMod val="50000"/>
                  </a:schemeClr>
                </a:solidFill>
              </a:rPr>
              <a:t> </a:t>
            </a:r>
            <a:r>
              <a:rPr lang="en-US" dirty="0" err="1">
                <a:solidFill>
                  <a:schemeClr val="tx1">
                    <a:lumMod val="50000"/>
                  </a:schemeClr>
                </a:solidFill>
              </a:rPr>
              <a:t>thứ</a:t>
            </a:r>
            <a:r>
              <a:rPr lang="en-US" dirty="0">
                <a:solidFill>
                  <a:schemeClr val="tx1">
                    <a:lumMod val="50000"/>
                  </a:schemeClr>
                </a:solidFill>
              </a:rPr>
              <a:t> </a:t>
            </a:r>
            <a:r>
              <a:rPr lang="en-US" dirty="0" err="1">
                <a:solidFill>
                  <a:schemeClr val="tx1">
                    <a:lumMod val="50000"/>
                  </a:schemeClr>
                </a:solidFill>
              </a:rPr>
              <a:t>tự</a:t>
            </a:r>
            <a:r>
              <a:rPr lang="en-US" dirty="0">
                <a:solidFill>
                  <a:schemeClr val="tx1">
                    <a:lumMod val="50000"/>
                  </a:schemeClr>
                </a:solidFill>
              </a:rPr>
              <a:t> </a:t>
            </a:r>
            <a:r>
              <a:rPr lang="en-US" dirty="0" err="1">
                <a:solidFill>
                  <a:schemeClr val="tx1">
                    <a:lumMod val="50000"/>
                  </a:schemeClr>
                </a:solidFill>
              </a:rPr>
              <a:t>kích</a:t>
            </a:r>
            <a:r>
              <a:rPr lang="en-US" dirty="0">
                <a:solidFill>
                  <a:schemeClr val="tx1">
                    <a:lumMod val="50000"/>
                  </a:schemeClr>
                </a:solidFill>
              </a:rPr>
              <a:t> </a:t>
            </a:r>
            <a:r>
              <a:rPr lang="en-US" dirty="0" err="1">
                <a:solidFill>
                  <a:schemeClr val="tx1">
                    <a:lumMod val="50000"/>
                  </a:schemeClr>
                </a:solidFill>
              </a:rPr>
              <a:t>thước</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host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trong</a:t>
            </a:r>
            <a:r>
              <a:rPr lang="en-US" dirty="0">
                <a:solidFill>
                  <a:schemeClr val="tx1">
                    <a:lumMod val="50000"/>
                  </a:schemeClr>
                </a:solidFill>
              </a:rPr>
              <a:t> </a:t>
            </a:r>
            <a:r>
              <a:rPr lang="en-US" dirty="0" err="1">
                <a:solidFill>
                  <a:schemeClr val="tx1">
                    <a:lumMod val="50000"/>
                  </a:schemeClr>
                </a:solidFill>
              </a:rPr>
              <a:t>mỗi</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a:t>
            </a:r>
            <a:r>
              <a:rPr lang="en-US" dirty="0" err="1">
                <a:solidFill>
                  <a:schemeClr val="tx1">
                    <a:lumMod val="50000"/>
                  </a:schemeClr>
                </a:solidFill>
              </a:rPr>
              <a:t>giảm</a:t>
            </a:r>
            <a:r>
              <a:rPr lang="en-US" dirty="0">
                <a:solidFill>
                  <a:schemeClr val="tx1">
                    <a:lumMod val="50000"/>
                  </a:schemeClr>
                </a:solidFill>
              </a:rPr>
              <a:t> </a:t>
            </a:r>
            <a:r>
              <a:rPr lang="en-US" dirty="0" err="1">
                <a:solidFill>
                  <a:schemeClr val="tx1">
                    <a:lumMod val="50000"/>
                  </a:schemeClr>
                </a:solidFill>
              </a:rPr>
              <a:t>dần</a:t>
            </a:r>
            <a:r>
              <a:rPr lang="en-US" dirty="0">
                <a:solidFill>
                  <a:schemeClr val="tx1">
                    <a:lumMod val="50000"/>
                  </a:schemeClr>
                </a:solidFill>
              </a:rPr>
              <a:t>.</a:t>
            </a:r>
          </a:p>
          <a:p>
            <a:pPr marL="285750" indent="-285750" algn="just">
              <a:buFont typeface="Arial" panose="020B0604020202020204" pitchFamily="34" charset="0"/>
              <a:buChar char="•"/>
            </a:pPr>
            <a:r>
              <a:rPr lang="en-US" b="1" dirty="0">
                <a:solidFill>
                  <a:schemeClr val="tx1">
                    <a:lumMod val="50000"/>
                  </a:schemeClr>
                </a:solidFill>
              </a:rPr>
              <a:t>B2</a:t>
            </a:r>
            <a:r>
              <a:rPr lang="en-US" dirty="0">
                <a:solidFill>
                  <a:schemeClr val="tx1">
                    <a:lumMod val="50000"/>
                  </a:schemeClr>
                </a:solidFill>
              </a:rPr>
              <a:t>: </a:t>
            </a:r>
            <a:r>
              <a:rPr lang="en-US" dirty="0" err="1">
                <a:solidFill>
                  <a:schemeClr val="tx1">
                    <a:lumMod val="50000"/>
                  </a:schemeClr>
                </a:solidFill>
              </a:rPr>
              <a:t>Bắt</a:t>
            </a:r>
            <a:r>
              <a:rPr lang="en-US" dirty="0">
                <a:solidFill>
                  <a:schemeClr val="tx1">
                    <a:lumMod val="50000"/>
                  </a:schemeClr>
                </a:solidFill>
              </a:rPr>
              <a:t> </a:t>
            </a:r>
            <a:r>
              <a:rPr lang="en-US" dirty="0" err="1">
                <a:solidFill>
                  <a:schemeClr val="tx1">
                    <a:lumMod val="50000"/>
                  </a:schemeClr>
                </a:solidFill>
              </a:rPr>
              <a:t>đầu</a:t>
            </a:r>
            <a:r>
              <a:rPr lang="en-US" dirty="0">
                <a:solidFill>
                  <a:schemeClr val="tx1">
                    <a:lumMod val="50000"/>
                  </a:schemeClr>
                </a:solidFill>
              </a:rPr>
              <a:t> </a:t>
            </a:r>
            <a:r>
              <a:rPr lang="en-US" dirty="0" err="1">
                <a:solidFill>
                  <a:schemeClr val="tx1">
                    <a:lumMod val="50000"/>
                  </a:schemeClr>
                </a:solidFill>
              </a:rPr>
              <a:t>từ</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con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kích</a:t>
            </a:r>
            <a:r>
              <a:rPr lang="en-US" dirty="0">
                <a:solidFill>
                  <a:schemeClr val="tx1">
                    <a:lumMod val="50000"/>
                  </a:schemeClr>
                </a:solidFill>
              </a:rPr>
              <a:t> </a:t>
            </a:r>
            <a:r>
              <a:rPr lang="en-US" dirty="0" err="1">
                <a:solidFill>
                  <a:schemeClr val="tx1">
                    <a:lumMod val="50000"/>
                  </a:schemeClr>
                </a:solidFill>
              </a:rPr>
              <a:t>thước</a:t>
            </a:r>
            <a:r>
              <a:rPr lang="en-US" dirty="0">
                <a:solidFill>
                  <a:schemeClr val="tx1">
                    <a:lumMod val="50000"/>
                  </a:schemeClr>
                </a:solidFill>
              </a:rPr>
              <a:t> </a:t>
            </a:r>
            <a:r>
              <a:rPr lang="en-US" dirty="0" err="1">
                <a:solidFill>
                  <a:schemeClr val="tx1">
                    <a:lumMod val="50000"/>
                  </a:schemeClr>
                </a:solidFill>
              </a:rPr>
              <a:t>lớn</a:t>
            </a:r>
            <a:r>
              <a:rPr lang="en-US" dirty="0">
                <a:solidFill>
                  <a:schemeClr val="tx1">
                    <a:lumMod val="50000"/>
                  </a:schemeClr>
                </a:solidFill>
              </a:rPr>
              <a:t> </a:t>
            </a:r>
            <a:r>
              <a:rPr lang="en-US" dirty="0" err="1">
                <a:solidFill>
                  <a:schemeClr val="tx1">
                    <a:lumMod val="50000"/>
                  </a:schemeClr>
                </a:solidFill>
              </a:rPr>
              <a:t>nhất</a:t>
            </a:r>
            <a:r>
              <a:rPr lang="en-US" dirty="0">
                <a:solidFill>
                  <a:schemeClr val="tx1">
                    <a:lumMod val="50000"/>
                  </a:schemeClr>
                </a:solidFill>
              </a:rPr>
              <a:t>, ta </a:t>
            </a:r>
            <a:r>
              <a:rPr lang="en-US" dirty="0" err="1">
                <a:solidFill>
                  <a:schemeClr val="tx1">
                    <a:lumMod val="50000"/>
                  </a:schemeClr>
                </a:solidFill>
              </a:rPr>
              <a:t>tiến</a:t>
            </a:r>
            <a:r>
              <a:rPr lang="en-US" dirty="0">
                <a:solidFill>
                  <a:schemeClr val="tx1">
                    <a:lumMod val="50000"/>
                  </a:schemeClr>
                </a:solidFill>
              </a:rPr>
              <a:t> </a:t>
            </a:r>
            <a:r>
              <a:rPr lang="en-US" dirty="0" err="1">
                <a:solidFill>
                  <a:schemeClr val="tx1">
                    <a:lumMod val="50000"/>
                  </a:schemeClr>
                </a:solidFill>
              </a:rPr>
              <a:t>hành</a:t>
            </a:r>
            <a:r>
              <a:rPr lang="en-US" dirty="0">
                <a:solidFill>
                  <a:schemeClr val="tx1">
                    <a:lumMod val="50000"/>
                  </a:schemeClr>
                </a:solidFill>
              </a:rPr>
              <a:t> chia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với</a:t>
            </a:r>
            <a:r>
              <a:rPr lang="en-US" dirty="0">
                <a:solidFill>
                  <a:schemeClr val="tx1">
                    <a:lumMod val="50000"/>
                  </a:schemeClr>
                </a:solidFill>
              </a:rPr>
              <a:t> subnet mask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độ</a:t>
            </a:r>
            <a:r>
              <a:rPr lang="en-US" dirty="0">
                <a:solidFill>
                  <a:schemeClr val="tx1">
                    <a:lumMod val="50000"/>
                  </a:schemeClr>
                </a:solidFill>
              </a:rPr>
              <a:t> </a:t>
            </a:r>
            <a:r>
              <a:rPr lang="en-US" dirty="0" err="1">
                <a:solidFill>
                  <a:schemeClr val="tx1">
                    <a:lumMod val="50000"/>
                  </a:schemeClr>
                </a:solidFill>
              </a:rPr>
              <a:t>dài</a:t>
            </a:r>
            <a:r>
              <a:rPr lang="en-US" dirty="0">
                <a:solidFill>
                  <a:schemeClr val="tx1">
                    <a:lumMod val="50000"/>
                  </a:schemeClr>
                </a:solidFill>
              </a:rPr>
              <a:t> </a:t>
            </a:r>
            <a:r>
              <a:rPr lang="en-US" dirty="0" err="1">
                <a:solidFill>
                  <a:schemeClr val="tx1">
                    <a:lumMod val="50000"/>
                  </a:schemeClr>
                </a:solidFill>
              </a:rPr>
              <a:t>phù</a:t>
            </a:r>
            <a:r>
              <a:rPr lang="en-US" dirty="0">
                <a:solidFill>
                  <a:schemeClr val="tx1">
                    <a:lumMod val="50000"/>
                  </a:schemeClr>
                </a:solidFill>
              </a:rPr>
              <a:t> </a:t>
            </a:r>
            <a:r>
              <a:rPr lang="en-US" dirty="0" err="1">
                <a:solidFill>
                  <a:schemeClr val="tx1">
                    <a:lumMod val="50000"/>
                  </a:schemeClr>
                </a:solidFill>
              </a:rPr>
              <a:t>hợp</a:t>
            </a:r>
            <a:r>
              <a:rPr lang="en-US" dirty="0">
                <a:solidFill>
                  <a:schemeClr val="tx1">
                    <a:lumMod val="50000"/>
                  </a:schemeClr>
                </a:solidFill>
              </a:rPr>
              <a:t>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yêu</a:t>
            </a:r>
            <a:r>
              <a:rPr lang="en-US" dirty="0">
                <a:solidFill>
                  <a:schemeClr val="tx1">
                    <a:lumMod val="50000"/>
                  </a:schemeClr>
                </a:solidFill>
              </a:rPr>
              <a:t> </a:t>
            </a:r>
            <a:r>
              <a:rPr lang="en-US" dirty="0" err="1">
                <a:solidFill>
                  <a:schemeClr val="tx1">
                    <a:lumMod val="50000"/>
                  </a:schemeClr>
                </a:solidFill>
              </a:rPr>
              <a:t>cầu</a:t>
            </a:r>
            <a:r>
              <a:rPr lang="en-US" dirty="0">
                <a:solidFill>
                  <a:schemeClr val="tx1">
                    <a:lumMod val="50000"/>
                  </a:schemeClr>
                </a:solidFill>
              </a:rPr>
              <a:t> </a:t>
            </a:r>
            <a:r>
              <a:rPr lang="en-US" dirty="0" err="1">
                <a:solidFill>
                  <a:schemeClr val="tx1">
                    <a:lumMod val="50000"/>
                  </a:schemeClr>
                </a:solidFill>
              </a:rPr>
              <a:t>về</a:t>
            </a:r>
            <a:r>
              <a:rPr lang="en-US" dirty="0">
                <a:solidFill>
                  <a:schemeClr val="tx1">
                    <a:lumMod val="50000"/>
                  </a:schemeClr>
                </a:solidFill>
              </a:rPr>
              <a:t> </a:t>
            </a:r>
            <a:r>
              <a:rPr lang="en-US" dirty="0" err="1">
                <a:solidFill>
                  <a:schemeClr val="tx1">
                    <a:lumMod val="50000"/>
                  </a:schemeClr>
                </a:solidFill>
              </a:rPr>
              <a:t>kích</a:t>
            </a:r>
            <a:r>
              <a:rPr lang="en-US" dirty="0">
                <a:solidFill>
                  <a:schemeClr val="tx1">
                    <a:lumMod val="50000"/>
                  </a:schemeClr>
                </a:solidFill>
              </a:rPr>
              <a:t> </a:t>
            </a:r>
            <a:r>
              <a:rPr lang="en-US" dirty="0" err="1">
                <a:solidFill>
                  <a:schemeClr val="tx1">
                    <a:lumMod val="50000"/>
                  </a:schemeClr>
                </a:solidFill>
              </a:rPr>
              <a:t>thước</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con </a:t>
            </a:r>
            <a:r>
              <a:rPr lang="en-US" dirty="0" err="1">
                <a:solidFill>
                  <a:schemeClr val="tx1">
                    <a:lumMod val="50000"/>
                  </a:schemeClr>
                </a:solidFill>
              </a:rPr>
              <a:t>đó</a:t>
            </a:r>
            <a:r>
              <a:rPr lang="en-US" dirty="0">
                <a:solidFill>
                  <a:schemeClr val="tx1">
                    <a:lumMod val="50000"/>
                  </a:schemeClr>
                </a:solidFill>
              </a:rPr>
              <a:t>.</a:t>
            </a:r>
          </a:p>
          <a:p>
            <a:pPr marL="285750" indent="-285750" algn="just">
              <a:buFont typeface="Arial" panose="020B0604020202020204" pitchFamily="34" charset="0"/>
              <a:buChar char="•"/>
            </a:pPr>
            <a:r>
              <a:rPr lang="en-US" b="1" dirty="0">
                <a:solidFill>
                  <a:schemeClr val="tx1">
                    <a:lumMod val="50000"/>
                  </a:schemeClr>
                </a:solidFill>
              </a:rPr>
              <a:t>B3</a:t>
            </a:r>
            <a:r>
              <a:rPr lang="en-US" dirty="0">
                <a:solidFill>
                  <a:schemeClr val="tx1">
                    <a:lumMod val="50000"/>
                  </a:schemeClr>
                </a:solidFill>
              </a:rPr>
              <a:t>: </a:t>
            </a:r>
            <a:r>
              <a:rPr lang="en-US" dirty="0" err="1">
                <a:solidFill>
                  <a:schemeClr val="tx1">
                    <a:lumMod val="50000"/>
                  </a:schemeClr>
                </a:solidFill>
              </a:rPr>
              <a:t>Lặp</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bước</a:t>
            </a:r>
            <a:r>
              <a:rPr lang="en-US" dirty="0">
                <a:solidFill>
                  <a:schemeClr val="tx1">
                    <a:lumMod val="50000"/>
                  </a:schemeClr>
                </a:solidFill>
              </a:rPr>
              <a:t> 2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con </a:t>
            </a:r>
            <a:r>
              <a:rPr lang="en-US" dirty="0" err="1">
                <a:solidFill>
                  <a:schemeClr val="tx1">
                    <a:lumMod val="50000"/>
                  </a:schemeClr>
                </a:solidFill>
              </a:rPr>
              <a:t>tiếp</a:t>
            </a:r>
            <a:r>
              <a:rPr lang="en-US" dirty="0">
                <a:solidFill>
                  <a:schemeClr val="tx1">
                    <a:lumMod val="50000"/>
                  </a:schemeClr>
                </a:solidFill>
              </a:rPr>
              <a:t> </a:t>
            </a:r>
            <a:r>
              <a:rPr lang="en-US" dirty="0" err="1">
                <a:solidFill>
                  <a:schemeClr val="tx1">
                    <a:lumMod val="50000"/>
                  </a:schemeClr>
                </a:solidFill>
              </a:rPr>
              <a:t>theo.</a:t>
            </a:r>
            <a:endParaRPr lang="en-US" dirty="0">
              <a:solidFill>
                <a:schemeClr val="tx1">
                  <a:lumMod val="50000"/>
                </a:schemeClr>
              </a:solidFill>
            </a:endParaRPr>
          </a:p>
          <a:p>
            <a:pPr algn="just"/>
            <a:r>
              <a:rPr lang="en-US" dirty="0">
                <a:solidFill>
                  <a:schemeClr val="tx1">
                    <a:lumMod val="50000"/>
                  </a:schemeClr>
                </a:solidFill>
              </a:rPr>
              <a:t>Lưu ý </a:t>
            </a:r>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a:t>
            </a:r>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nên</a:t>
            </a:r>
            <a:r>
              <a:rPr lang="en-US" dirty="0">
                <a:solidFill>
                  <a:schemeClr val="tx1">
                    <a:lumMod val="50000"/>
                  </a:schemeClr>
                </a:solidFill>
              </a:rPr>
              <a:t>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cấp</a:t>
            </a:r>
            <a:r>
              <a:rPr lang="en-US" dirty="0">
                <a:solidFill>
                  <a:schemeClr val="tx1">
                    <a:lumMod val="50000"/>
                  </a:schemeClr>
                </a:solidFill>
              </a:rPr>
              <a:t> </a:t>
            </a:r>
            <a:r>
              <a:rPr lang="en-US" dirty="0" err="1">
                <a:solidFill>
                  <a:schemeClr val="tx1">
                    <a:lumMod val="50000"/>
                  </a:schemeClr>
                </a:solidFill>
              </a:rPr>
              <a:t>phát</a:t>
            </a:r>
            <a:r>
              <a:rPr lang="en-US" dirty="0">
                <a:solidFill>
                  <a:schemeClr val="tx1">
                    <a:lumMod val="50000"/>
                  </a:schemeClr>
                </a:solidFill>
              </a:rPr>
              <a:t> </a:t>
            </a:r>
            <a:r>
              <a:rPr lang="en-US" dirty="0" err="1">
                <a:solidFill>
                  <a:schemeClr val="tx1">
                    <a:lumMod val="50000"/>
                  </a:schemeClr>
                </a:solidFill>
              </a:rPr>
              <a:t>liên</a:t>
            </a:r>
            <a:r>
              <a:rPr lang="en-US" dirty="0">
                <a:solidFill>
                  <a:schemeClr val="tx1">
                    <a:lumMod val="50000"/>
                  </a:schemeClr>
                </a:solidFill>
              </a:rPr>
              <a:t> </a:t>
            </a:r>
            <a:r>
              <a:rPr lang="en-US" dirty="0" err="1">
                <a:solidFill>
                  <a:schemeClr val="tx1">
                    <a:lumMod val="50000"/>
                  </a:schemeClr>
                </a:solidFill>
              </a:rPr>
              <a:t>tục</a:t>
            </a:r>
            <a:r>
              <a:rPr lang="en-US" dirty="0">
                <a:solidFill>
                  <a:schemeClr val="tx1">
                    <a:lumMod val="50000"/>
                  </a:schemeClr>
                </a:solidFill>
              </a:rPr>
              <a:t>.</a:t>
            </a:r>
          </a:p>
          <a:p>
            <a:pPr algn="just"/>
            <a:endParaRPr lang="en-US" dirty="0">
              <a:solidFill>
                <a:schemeClr val="tx1">
                  <a:lumMod val="50000"/>
                </a:schemeClr>
              </a:solidFill>
            </a:endParaRPr>
          </a:p>
          <a:p>
            <a:pPr algn="just"/>
            <a:endParaRPr lang="en-US" dirty="0">
              <a:solidFill>
                <a:schemeClr val="tx1">
                  <a:lumMod val="50000"/>
                </a:schemeClr>
              </a:solidFill>
            </a:endParaRPr>
          </a:p>
          <a:p>
            <a:pPr marL="285750" indent="-285750" algn="just">
              <a:buFont typeface="Wingdings" panose="05000000000000000000" pitchFamily="2" charset="2"/>
              <a:buChar char="Ø"/>
            </a:pPr>
            <a:r>
              <a:rPr lang="en-US" dirty="0">
                <a:solidFill>
                  <a:schemeClr val="tx1">
                    <a:lumMod val="50000"/>
                  </a:schemeClr>
                </a:solidFill>
              </a:rPr>
              <a:t> </a:t>
            </a:r>
            <a:r>
              <a:rPr lang="en-US" b="1" dirty="0">
                <a:solidFill>
                  <a:srgbClr val="0070C0"/>
                </a:solidFill>
              </a:rPr>
              <a:t>LAN 3 (55) =&gt; LAN 2 (29) =&gt;LAN 1 (15) =&gt; LAN 4 (7) =&gt; point-to-point link (2)</a:t>
            </a:r>
          </a:p>
        </p:txBody>
      </p:sp>
    </p:spTree>
    <p:extLst>
      <p:ext uri="{BB962C8B-B14F-4D97-AF65-F5344CB8AC3E}">
        <p14:creationId xmlns:p14="http://schemas.microsoft.com/office/powerpoint/2010/main" val="369697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80220" y="1327358"/>
                <a:ext cx="11787090" cy="4247317"/>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MẠNG LAN 3</a:t>
                </a:r>
              </a:p>
              <a:p>
                <a:pPr algn="just"/>
                <a:r>
                  <a:rPr lang="en-US" dirty="0" err="1">
                    <a:solidFill>
                      <a:schemeClr val="tx1">
                        <a:lumMod val="50000"/>
                      </a:schemeClr>
                    </a:solidFill>
                  </a:rPr>
                  <a:t>Mạng</a:t>
                </a:r>
                <a:r>
                  <a:rPr lang="en-US" dirty="0">
                    <a:solidFill>
                      <a:schemeClr val="tx1">
                        <a:lumMod val="50000"/>
                      </a:schemeClr>
                    </a:solidFill>
                  </a:rPr>
                  <a:t> LAN 3 </a:t>
                </a:r>
                <a:r>
                  <a:rPr lang="en-US" dirty="0" err="1">
                    <a:solidFill>
                      <a:schemeClr val="tx1">
                        <a:lumMod val="50000"/>
                      </a:schemeClr>
                    </a:solidFill>
                  </a:rPr>
                  <a:t>có</a:t>
                </a:r>
                <a:r>
                  <a:rPr lang="en-US" dirty="0">
                    <a:solidFill>
                      <a:schemeClr val="tx1">
                        <a:lumMod val="50000"/>
                      </a:schemeClr>
                    </a:solidFill>
                  </a:rPr>
                  <a:t> 55 host.</a:t>
                </a:r>
              </a:p>
              <a:p>
                <a:pPr algn="just"/>
                <a:endParaRPr lang="en-US"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phần</a:t>
                </a:r>
                <a:r>
                  <a:rPr lang="en-US" dirty="0">
                    <a:solidFill>
                      <a:schemeClr val="tx1">
                        <a:lumMod val="50000"/>
                      </a:schemeClr>
                    </a:solidFill>
                  </a:rPr>
                  <a:t> Host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14:m>
                  <m:oMath xmlns:m="http://schemas.openxmlformats.org/officeDocument/2006/math">
                    <m:sSup>
                      <m:sSupPr>
                        <m:ctrlPr>
                          <a:rPr lang="en-US" i="1" smtClean="0">
                            <a:solidFill>
                              <a:schemeClr val="tx1">
                                <a:lumMod val="50000"/>
                              </a:schemeClr>
                            </a:solidFill>
                            <a:latin typeface="Cambria Math" panose="02040503050406030204" pitchFamily="18" charset="0"/>
                          </a:rPr>
                        </m:ctrlPr>
                      </m:sSupPr>
                      <m:e>
                        <m:r>
                          <a:rPr lang="en-US" b="0" i="1" smtClean="0">
                            <a:solidFill>
                              <a:schemeClr val="tx1">
                                <a:lumMod val="50000"/>
                              </a:schemeClr>
                            </a:solidFill>
                            <a:latin typeface="Cambria Math" panose="02040503050406030204" pitchFamily="18" charset="0"/>
                          </a:rPr>
                          <m:t>2</m:t>
                        </m:r>
                      </m:e>
                      <m:sup>
                        <m:r>
                          <a:rPr lang="en-US" b="0" i="1" smtClean="0">
                            <a:solidFill>
                              <a:schemeClr val="tx1">
                                <a:lumMod val="50000"/>
                              </a:schemeClr>
                            </a:solidFill>
                            <a:latin typeface="Cambria Math" panose="02040503050406030204" pitchFamily="18" charset="0"/>
                          </a:rPr>
                          <m:t>𝐻</m:t>
                        </m:r>
                      </m:sup>
                    </m:sSup>
                    <m:r>
                      <a:rPr lang="en-US" b="0" i="1" smtClean="0">
                        <a:solidFill>
                          <a:schemeClr val="tx1">
                            <a:lumMod val="50000"/>
                          </a:schemeClr>
                        </a:solidFill>
                        <a:latin typeface="Cambria Math" panose="02040503050406030204" pitchFamily="18" charset="0"/>
                      </a:rPr>
                      <m:t>−2≥55⇒</m:t>
                    </m:r>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i="1">
                            <a:solidFill>
                              <a:schemeClr val="tx1">
                                <a:lumMod val="50000"/>
                              </a:schemeClr>
                            </a:solidFill>
                            <a:latin typeface="Cambria Math" panose="02040503050406030204" pitchFamily="18" charset="0"/>
                          </a:rPr>
                          <m:t>𝐻</m:t>
                        </m:r>
                      </m:sup>
                    </m:sSup>
                    <m:r>
                      <a:rPr lang="en-US" b="0" i="0" smtClean="0">
                        <a:solidFill>
                          <a:schemeClr val="tx1">
                            <a:lumMod val="50000"/>
                          </a:schemeClr>
                        </a:solidFill>
                        <a:latin typeface="Cambria Math" panose="02040503050406030204" pitchFamily="18" charset="0"/>
                      </a:rPr>
                      <m:t>≥57⇒</m:t>
                    </m:r>
                    <m:r>
                      <m:rPr>
                        <m:sty m:val="p"/>
                      </m:rPr>
                      <a:rPr lang="en-US" b="0" i="0" smtClean="0">
                        <a:solidFill>
                          <a:schemeClr val="tx1">
                            <a:lumMod val="50000"/>
                          </a:schemeClr>
                        </a:solidFill>
                        <a:latin typeface="Cambria Math" panose="02040503050406030204" pitchFamily="18" charset="0"/>
                      </a:rPr>
                      <m:t>H</m:t>
                    </m:r>
                    <m:r>
                      <a:rPr lang="en-US" b="0" i="0" smtClean="0">
                        <a:solidFill>
                          <a:schemeClr val="tx1">
                            <a:lumMod val="50000"/>
                          </a:schemeClr>
                        </a:solidFill>
                        <a:latin typeface="Cambria Math" panose="02040503050406030204" pitchFamily="18" charset="0"/>
                      </a:rPr>
                      <m:t>=6</m:t>
                    </m:r>
                  </m:oMath>
                </a14:m>
                <a:endParaRPr lang="en-US" b="0"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Subnet: S = 8 – H = 8 – 6 = 2</a:t>
                </a:r>
              </a:p>
              <a:p>
                <a:pPr algn="just"/>
                <a:r>
                  <a:rPr lang="en-US" dirty="0">
                    <a:solidFill>
                      <a:schemeClr val="tx1">
                        <a:lumMod val="50000"/>
                      </a:schemeClr>
                    </a:solidFill>
                  </a:rPr>
                  <a:t>N + S = 24 + 2 = 26</a:t>
                </a:r>
              </a:p>
              <a:p>
                <a:pPr algn="just"/>
                <a:r>
                  <a:rPr lang="en-US" dirty="0">
                    <a:solidFill>
                      <a:schemeClr val="tx1">
                        <a:lumMod val="50000"/>
                      </a:schemeClr>
                    </a:solidFill>
                  </a:rPr>
                  <a:t>Khi </a:t>
                </a:r>
                <a:r>
                  <a:rPr lang="en-US" dirty="0" err="1">
                    <a:solidFill>
                      <a:schemeClr val="tx1">
                        <a:lumMod val="50000"/>
                      </a:schemeClr>
                    </a:solidFill>
                  </a:rPr>
                  <a:t>đó</a:t>
                </a:r>
                <a:r>
                  <a:rPr lang="en-US" dirty="0">
                    <a:solidFill>
                      <a:schemeClr val="tx1">
                        <a:lumMod val="50000"/>
                      </a:schemeClr>
                    </a:solidFill>
                  </a:rPr>
                  <a:t> subnet mask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/26 =&gt; subnet 1: </a:t>
                </a:r>
                <a:r>
                  <a:rPr lang="en-US" b="1" dirty="0">
                    <a:solidFill>
                      <a:srgbClr val="0070C0"/>
                    </a:solidFill>
                  </a:rPr>
                  <a:t>210.25.10.0/26</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255.255.255.192</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210.25.10.0</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210.25.10.63</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210.25.10.1 – 210.25.10.62</a:t>
                </a:r>
              </a:p>
              <a:p>
                <a:pPr algn="just"/>
                <a:endParaRPr lang="en-US" dirty="0">
                  <a:solidFill>
                    <a:schemeClr val="tx1">
                      <a:lumMod val="50000"/>
                    </a:schemeClr>
                  </a:solidFill>
                </a:endParaRPr>
              </a:p>
              <a:p>
                <a:pPr algn="just"/>
                <a:endParaRPr lang="en-US" dirty="0">
                  <a:solidFill>
                    <a:schemeClr val="tx1">
                      <a:lumMod val="50000"/>
                    </a:schemeClr>
                  </a:solidFill>
                </a:endParaRPr>
              </a:p>
              <a:p>
                <a:pPr algn="just"/>
                <a:endParaRPr lang="en-US" dirty="0">
                  <a:solidFill>
                    <a:schemeClr val="tx1">
                      <a:lumMod val="50000"/>
                    </a:schemeClr>
                  </a:solidFill>
                </a:endParaRPr>
              </a:p>
              <a:p>
                <a:pPr marL="285750" indent="-285750" algn="just">
                  <a:buFont typeface="Arial" panose="020B0604020202020204" pitchFamily="34" charset="0"/>
                  <a:buChar char="•"/>
                </a:pPr>
                <a:endParaRPr lang="en-US" dirty="0">
                  <a:solidFill>
                    <a:schemeClr val="tx1">
                      <a:lumMod val="50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80220" y="1327358"/>
                <a:ext cx="11787090" cy="4247317"/>
              </a:xfrm>
              <a:prstGeom prst="rect">
                <a:avLst/>
              </a:prstGeom>
              <a:blipFill>
                <a:blip r:embed="rId3"/>
                <a:stretch>
                  <a:fillRect l="-465" t="-862"/>
                </a:stretch>
              </a:blipFill>
            </p:spPr>
            <p:txBody>
              <a:bodyPr/>
              <a:lstStyle/>
              <a:p>
                <a:r>
                  <a:rPr lang="en-US">
                    <a:noFill/>
                  </a:rPr>
                  <a:t> </a:t>
                </a:r>
              </a:p>
            </p:txBody>
          </p:sp>
        </mc:Fallback>
      </mc:AlternateContent>
    </p:spTree>
    <p:extLst>
      <p:ext uri="{BB962C8B-B14F-4D97-AF65-F5344CB8AC3E}">
        <p14:creationId xmlns:p14="http://schemas.microsoft.com/office/powerpoint/2010/main" val="2159704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80220" y="1327358"/>
                <a:ext cx="11787090" cy="4247317"/>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MẠNG LAN 2</a:t>
                </a:r>
              </a:p>
              <a:p>
                <a:pPr algn="just"/>
                <a:r>
                  <a:rPr lang="en-US" dirty="0" err="1">
                    <a:solidFill>
                      <a:schemeClr val="tx1">
                        <a:lumMod val="50000"/>
                      </a:schemeClr>
                    </a:solidFill>
                  </a:rPr>
                  <a:t>Mạng</a:t>
                </a:r>
                <a:r>
                  <a:rPr lang="en-US" dirty="0">
                    <a:solidFill>
                      <a:schemeClr val="tx1">
                        <a:lumMod val="50000"/>
                      </a:schemeClr>
                    </a:solidFill>
                  </a:rPr>
                  <a:t> LAN 2 </a:t>
                </a:r>
                <a:r>
                  <a:rPr lang="en-US" dirty="0" err="1">
                    <a:solidFill>
                      <a:schemeClr val="tx1">
                        <a:lumMod val="50000"/>
                      </a:schemeClr>
                    </a:solidFill>
                  </a:rPr>
                  <a:t>có</a:t>
                </a:r>
                <a:r>
                  <a:rPr lang="en-US" dirty="0">
                    <a:solidFill>
                      <a:schemeClr val="tx1">
                        <a:lumMod val="50000"/>
                      </a:schemeClr>
                    </a:solidFill>
                  </a:rPr>
                  <a:t> 29 host.</a:t>
                </a:r>
              </a:p>
              <a:p>
                <a:pPr algn="just"/>
                <a:endParaRPr lang="en-US"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phần</a:t>
                </a:r>
                <a:r>
                  <a:rPr lang="en-US" dirty="0">
                    <a:solidFill>
                      <a:schemeClr val="tx1">
                        <a:lumMod val="50000"/>
                      </a:schemeClr>
                    </a:solidFill>
                  </a:rPr>
                  <a:t> Host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14:m>
                  <m:oMath xmlns:m="http://schemas.openxmlformats.org/officeDocument/2006/math">
                    <m:sSup>
                      <m:sSupPr>
                        <m:ctrlPr>
                          <a:rPr lang="en-US" i="1" smtClean="0">
                            <a:solidFill>
                              <a:schemeClr val="tx1">
                                <a:lumMod val="50000"/>
                              </a:schemeClr>
                            </a:solidFill>
                            <a:latin typeface="Cambria Math" panose="02040503050406030204" pitchFamily="18" charset="0"/>
                          </a:rPr>
                        </m:ctrlPr>
                      </m:sSupPr>
                      <m:e>
                        <m:r>
                          <a:rPr lang="en-US" b="0" i="1" smtClean="0">
                            <a:solidFill>
                              <a:schemeClr val="tx1">
                                <a:lumMod val="50000"/>
                              </a:schemeClr>
                            </a:solidFill>
                            <a:latin typeface="Cambria Math" panose="02040503050406030204" pitchFamily="18" charset="0"/>
                          </a:rPr>
                          <m:t>2</m:t>
                        </m:r>
                      </m:e>
                      <m:sup>
                        <m:r>
                          <a:rPr lang="en-US" b="0" i="1" smtClean="0">
                            <a:solidFill>
                              <a:schemeClr val="tx1">
                                <a:lumMod val="50000"/>
                              </a:schemeClr>
                            </a:solidFill>
                            <a:latin typeface="Cambria Math" panose="02040503050406030204" pitchFamily="18" charset="0"/>
                          </a:rPr>
                          <m:t>𝐻</m:t>
                        </m:r>
                      </m:sup>
                    </m:sSup>
                    <m:r>
                      <a:rPr lang="en-US" b="0" i="1" smtClean="0">
                        <a:solidFill>
                          <a:schemeClr val="tx1">
                            <a:lumMod val="50000"/>
                          </a:schemeClr>
                        </a:solidFill>
                        <a:latin typeface="Cambria Math" panose="02040503050406030204" pitchFamily="18" charset="0"/>
                      </a:rPr>
                      <m:t>−2≥29⇒</m:t>
                    </m:r>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i="1">
                            <a:solidFill>
                              <a:schemeClr val="tx1">
                                <a:lumMod val="50000"/>
                              </a:schemeClr>
                            </a:solidFill>
                            <a:latin typeface="Cambria Math" panose="02040503050406030204" pitchFamily="18" charset="0"/>
                          </a:rPr>
                          <m:t>𝐻</m:t>
                        </m:r>
                      </m:sup>
                    </m:sSup>
                    <m:r>
                      <a:rPr lang="en-US" b="0" i="0" smtClean="0">
                        <a:solidFill>
                          <a:schemeClr val="tx1">
                            <a:lumMod val="50000"/>
                          </a:schemeClr>
                        </a:solidFill>
                        <a:latin typeface="Cambria Math" panose="02040503050406030204" pitchFamily="18" charset="0"/>
                      </a:rPr>
                      <m:t>≥31⇒</m:t>
                    </m:r>
                    <m:r>
                      <m:rPr>
                        <m:sty m:val="p"/>
                      </m:rPr>
                      <a:rPr lang="en-US" b="0" i="0" smtClean="0">
                        <a:solidFill>
                          <a:schemeClr val="tx1">
                            <a:lumMod val="50000"/>
                          </a:schemeClr>
                        </a:solidFill>
                        <a:latin typeface="Cambria Math" panose="02040503050406030204" pitchFamily="18" charset="0"/>
                      </a:rPr>
                      <m:t>H</m:t>
                    </m:r>
                    <m:r>
                      <a:rPr lang="en-US" b="0" i="0" smtClean="0">
                        <a:solidFill>
                          <a:schemeClr val="tx1">
                            <a:lumMod val="50000"/>
                          </a:schemeClr>
                        </a:solidFill>
                        <a:latin typeface="Cambria Math" panose="02040503050406030204" pitchFamily="18" charset="0"/>
                      </a:rPr>
                      <m:t>=5</m:t>
                    </m:r>
                  </m:oMath>
                </a14:m>
                <a:endParaRPr lang="en-US" b="0"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Subnet: S = 8 – H = 8 – 5 = 3</a:t>
                </a:r>
              </a:p>
              <a:p>
                <a:pPr algn="just"/>
                <a:r>
                  <a:rPr lang="en-US" dirty="0">
                    <a:solidFill>
                      <a:schemeClr val="tx1">
                        <a:lumMod val="50000"/>
                      </a:schemeClr>
                    </a:solidFill>
                  </a:rPr>
                  <a:t>N + S = 24 + 3 = 27</a:t>
                </a:r>
              </a:p>
              <a:p>
                <a:pPr algn="just"/>
                <a:r>
                  <a:rPr lang="en-US" dirty="0">
                    <a:solidFill>
                      <a:schemeClr val="tx1">
                        <a:lumMod val="50000"/>
                      </a:schemeClr>
                    </a:solidFill>
                  </a:rPr>
                  <a:t>Khi </a:t>
                </a:r>
                <a:r>
                  <a:rPr lang="en-US" dirty="0" err="1">
                    <a:solidFill>
                      <a:schemeClr val="tx1">
                        <a:lumMod val="50000"/>
                      </a:schemeClr>
                    </a:solidFill>
                  </a:rPr>
                  <a:t>đó</a:t>
                </a:r>
                <a:r>
                  <a:rPr lang="en-US" dirty="0">
                    <a:solidFill>
                      <a:schemeClr val="tx1">
                        <a:lumMod val="50000"/>
                      </a:schemeClr>
                    </a:solidFill>
                  </a:rPr>
                  <a:t> subnet mask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/27 =&gt; subnet 2: </a:t>
                </a:r>
                <a:r>
                  <a:rPr lang="en-US" b="1" dirty="0">
                    <a:solidFill>
                      <a:srgbClr val="0070C0"/>
                    </a:solidFill>
                  </a:rPr>
                  <a:t>210.25.10.64/27</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255.255.255.224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210.25.10.64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210.25.10.95</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210.25.10.65 – 210.25.10.94</a:t>
                </a:r>
              </a:p>
              <a:p>
                <a:pPr algn="just"/>
                <a:endParaRPr lang="en-US" dirty="0">
                  <a:solidFill>
                    <a:schemeClr val="tx1">
                      <a:lumMod val="50000"/>
                    </a:schemeClr>
                  </a:solidFill>
                </a:endParaRPr>
              </a:p>
              <a:p>
                <a:pPr algn="just"/>
                <a:endParaRPr lang="en-US" dirty="0">
                  <a:solidFill>
                    <a:schemeClr val="tx1">
                      <a:lumMod val="50000"/>
                    </a:schemeClr>
                  </a:solidFill>
                </a:endParaRPr>
              </a:p>
              <a:p>
                <a:pPr algn="just"/>
                <a:endParaRPr lang="en-US" dirty="0">
                  <a:solidFill>
                    <a:schemeClr val="tx1">
                      <a:lumMod val="50000"/>
                    </a:schemeClr>
                  </a:solidFill>
                </a:endParaRPr>
              </a:p>
              <a:p>
                <a:pPr marL="285750" indent="-285750" algn="just">
                  <a:buFont typeface="Arial" panose="020B0604020202020204" pitchFamily="34" charset="0"/>
                  <a:buChar char="•"/>
                </a:pPr>
                <a:endParaRPr lang="en-US" dirty="0">
                  <a:solidFill>
                    <a:schemeClr val="tx1">
                      <a:lumMod val="50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80220" y="1327358"/>
                <a:ext cx="11787090" cy="4247317"/>
              </a:xfrm>
              <a:prstGeom prst="rect">
                <a:avLst/>
              </a:prstGeom>
              <a:blipFill>
                <a:blip r:embed="rId3"/>
                <a:stretch>
                  <a:fillRect l="-465" t="-862"/>
                </a:stretch>
              </a:blipFill>
            </p:spPr>
            <p:txBody>
              <a:bodyPr/>
              <a:lstStyle/>
              <a:p>
                <a:r>
                  <a:rPr lang="en-US">
                    <a:noFill/>
                  </a:rPr>
                  <a:t> </a:t>
                </a:r>
              </a:p>
            </p:txBody>
          </p:sp>
        </mc:Fallback>
      </mc:AlternateContent>
    </p:spTree>
    <p:extLst>
      <p:ext uri="{BB962C8B-B14F-4D97-AF65-F5344CB8AC3E}">
        <p14:creationId xmlns:p14="http://schemas.microsoft.com/office/powerpoint/2010/main" val="326852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80220" y="1327358"/>
                <a:ext cx="11787090" cy="4247317"/>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MẠNG LAN 1</a:t>
                </a:r>
              </a:p>
              <a:p>
                <a:pPr algn="just"/>
                <a:r>
                  <a:rPr lang="en-US" dirty="0" err="1">
                    <a:solidFill>
                      <a:schemeClr val="tx1">
                        <a:lumMod val="50000"/>
                      </a:schemeClr>
                    </a:solidFill>
                  </a:rPr>
                  <a:t>Mạng</a:t>
                </a:r>
                <a:r>
                  <a:rPr lang="en-US" dirty="0">
                    <a:solidFill>
                      <a:schemeClr val="tx1">
                        <a:lumMod val="50000"/>
                      </a:schemeClr>
                    </a:solidFill>
                  </a:rPr>
                  <a:t> LAN 1 </a:t>
                </a:r>
                <a:r>
                  <a:rPr lang="en-US" dirty="0" err="1">
                    <a:solidFill>
                      <a:schemeClr val="tx1">
                        <a:lumMod val="50000"/>
                      </a:schemeClr>
                    </a:solidFill>
                  </a:rPr>
                  <a:t>có</a:t>
                </a:r>
                <a:r>
                  <a:rPr lang="en-US" dirty="0">
                    <a:solidFill>
                      <a:schemeClr val="tx1">
                        <a:lumMod val="50000"/>
                      </a:schemeClr>
                    </a:solidFill>
                  </a:rPr>
                  <a:t> 15 host.</a:t>
                </a:r>
              </a:p>
              <a:p>
                <a:pPr algn="just"/>
                <a:endParaRPr lang="en-US"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phần</a:t>
                </a:r>
                <a:r>
                  <a:rPr lang="en-US" dirty="0">
                    <a:solidFill>
                      <a:schemeClr val="tx1">
                        <a:lumMod val="50000"/>
                      </a:schemeClr>
                    </a:solidFill>
                  </a:rPr>
                  <a:t> Host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14:m>
                  <m:oMath xmlns:m="http://schemas.openxmlformats.org/officeDocument/2006/math">
                    <m:sSup>
                      <m:sSupPr>
                        <m:ctrlPr>
                          <a:rPr lang="en-US" i="1" smtClean="0">
                            <a:solidFill>
                              <a:schemeClr val="tx1">
                                <a:lumMod val="50000"/>
                              </a:schemeClr>
                            </a:solidFill>
                            <a:latin typeface="Cambria Math" panose="02040503050406030204" pitchFamily="18" charset="0"/>
                          </a:rPr>
                        </m:ctrlPr>
                      </m:sSupPr>
                      <m:e>
                        <m:r>
                          <a:rPr lang="en-US" b="0" i="1" smtClean="0">
                            <a:solidFill>
                              <a:schemeClr val="tx1">
                                <a:lumMod val="50000"/>
                              </a:schemeClr>
                            </a:solidFill>
                            <a:latin typeface="Cambria Math" panose="02040503050406030204" pitchFamily="18" charset="0"/>
                          </a:rPr>
                          <m:t>2</m:t>
                        </m:r>
                      </m:e>
                      <m:sup>
                        <m:r>
                          <a:rPr lang="en-US" b="0" i="1" smtClean="0">
                            <a:solidFill>
                              <a:schemeClr val="tx1">
                                <a:lumMod val="50000"/>
                              </a:schemeClr>
                            </a:solidFill>
                            <a:latin typeface="Cambria Math" panose="02040503050406030204" pitchFamily="18" charset="0"/>
                          </a:rPr>
                          <m:t>𝐻</m:t>
                        </m:r>
                      </m:sup>
                    </m:sSup>
                    <m:r>
                      <a:rPr lang="en-US" b="0" i="1" smtClean="0">
                        <a:solidFill>
                          <a:schemeClr val="tx1">
                            <a:lumMod val="50000"/>
                          </a:schemeClr>
                        </a:solidFill>
                        <a:latin typeface="Cambria Math" panose="02040503050406030204" pitchFamily="18" charset="0"/>
                      </a:rPr>
                      <m:t>−2≥15⇒</m:t>
                    </m:r>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i="1">
                            <a:solidFill>
                              <a:schemeClr val="tx1">
                                <a:lumMod val="50000"/>
                              </a:schemeClr>
                            </a:solidFill>
                            <a:latin typeface="Cambria Math" panose="02040503050406030204" pitchFamily="18" charset="0"/>
                          </a:rPr>
                          <m:t>𝐻</m:t>
                        </m:r>
                      </m:sup>
                    </m:sSup>
                    <m:r>
                      <a:rPr lang="en-US" b="0" i="0" smtClean="0">
                        <a:solidFill>
                          <a:schemeClr val="tx1">
                            <a:lumMod val="50000"/>
                          </a:schemeClr>
                        </a:solidFill>
                        <a:latin typeface="Cambria Math" panose="02040503050406030204" pitchFamily="18" charset="0"/>
                      </a:rPr>
                      <m:t>≥17⇒</m:t>
                    </m:r>
                    <m:r>
                      <m:rPr>
                        <m:sty m:val="p"/>
                      </m:rPr>
                      <a:rPr lang="en-US" b="0" i="0" smtClean="0">
                        <a:solidFill>
                          <a:schemeClr val="tx1">
                            <a:lumMod val="50000"/>
                          </a:schemeClr>
                        </a:solidFill>
                        <a:latin typeface="Cambria Math" panose="02040503050406030204" pitchFamily="18" charset="0"/>
                      </a:rPr>
                      <m:t>H</m:t>
                    </m:r>
                    <m:r>
                      <a:rPr lang="en-US" b="0" i="0" smtClean="0">
                        <a:solidFill>
                          <a:schemeClr val="tx1">
                            <a:lumMod val="50000"/>
                          </a:schemeClr>
                        </a:solidFill>
                        <a:latin typeface="Cambria Math" panose="02040503050406030204" pitchFamily="18" charset="0"/>
                      </a:rPr>
                      <m:t>=5</m:t>
                    </m:r>
                  </m:oMath>
                </a14:m>
                <a:endParaRPr lang="en-US" b="0"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Subnet: S = 8 – H = 8 – 5 = 3</a:t>
                </a:r>
              </a:p>
              <a:p>
                <a:pPr algn="just"/>
                <a:r>
                  <a:rPr lang="en-US" dirty="0">
                    <a:solidFill>
                      <a:schemeClr val="tx1">
                        <a:lumMod val="50000"/>
                      </a:schemeClr>
                    </a:solidFill>
                  </a:rPr>
                  <a:t>N + S = 24 + 3 = 27</a:t>
                </a:r>
              </a:p>
              <a:p>
                <a:pPr algn="just"/>
                <a:r>
                  <a:rPr lang="en-US" dirty="0">
                    <a:solidFill>
                      <a:schemeClr val="tx1">
                        <a:lumMod val="50000"/>
                      </a:schemeClr>
                    </a:solidFill>
                  </a:rPr>
                  <a:t>Khi </a:t>
                </a:r>
                <a:r>
                  <a:rPr lang="en-US" dirty="0" err="1">
                    <a:solidFill>
                      <a:schemeClr val="tx1">
                        <a:lumMod val="50000"/>
                      </a:schemeClr>
                    </a:solidFill>
                  </a:rPr>
                  <a:t>đó</a:t>
                </a:r>
                <a:r>
                  <a:rPr lang="en-US" dirty="0">
                    <a:solidFill>
                      <a:schemeClr val="tx1">
                        <a:lumMod val="50000"/>
                      </a:schemeClr>
                    </a:solidFill>
                  </a:rPr>
                  <a:t> subnet mask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/27 =&gt; subnet 3: </a:t>
                </a:r>
                <a:r>
                  <a:rPr lang="en-US" b="1" dirty="0">
                    <a:solidFill>
                      <a:srgbClr val="0070C0"/>
                    </a:solidFill>
                  </a:rPr>
                  <a:t>210.25.10.96/27</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255.255.255.224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210.25.10.96</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210.25.10.127</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 – 210.25.10.126</a:t>
                </a:r>
              </a:p>
              <a:p>
                <a:pPr algn="just"/>
                <a:r>
                  <a:rPr lang="en-US" b="1" dirty="0">
                    <a:solidFill>
                      <a:srgbClr val="0070C0"/>
                    </a:solidFill>
                  </a:rPr>
                  <a:t>97</a:t>
                </a:r>
                <a:endParaRPr lang="en-US" dirty="0">
                  <a:solidFill>
                    <a:schemeClr val="tx1">
                      <a:lumMod val="50000"/>
                    </a:schemeClr>
                  </a:solidFill>
                </a:endParaRPr>
              </a:p>
              <a:p>
                <a:pPr algn="just"/>
                <a:endParaRPr lang="en-US" dirty="0">
                  <a:solidFill>
                    <a:schemeClr val="tx1">
                      <a:lumMod val="50000"/>
                    </a:schemeClr>
                  </a:solidFill>
                </a:endParaRPr>
              </a:p>
              <a:p>
                <a:pPr algn="just"/>
                <a:endParaRPr lang="en-US" dirty="0">
                  <a:solidFill>
                    <a:schemeClr val="tx1">
                      <a:lumMod val="50000"/>
                    </a:schemeClr>
                  </a:solidFill>
                </a:endParaRPr>
              </a:p>
              <a:p>
                <a:pPr marL="285750" indent="-285750" algn="just">
                  <a:buFont typeface="Arial" panose="020B0604020202020204" pitchFamily="34" charset="0"/>
                  <a:buChar char="•"/>
                </a:pPr>
                <a:endParaRPr lang="en-US" dirty="0">
                  <a:solidFill>
                    <a:schemeClr val="tx1">
                      <a:lumMod val="50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80220" y="1327358"/>
                <a:ext cx="11787090" cy="4247317"/>
              </a:xfrm>
              <a:prstGeom prst="rect">
                <a:avLst/>
              </a:prstGeom>
              <a:blipFill>
                <a:blip r:embed="rId3"/>
                <a:stretch>
                  <a:fillRect l="-465" t="-862"/>
                </a:stretch>
              </a:blipFill>
            </p:spPr>
            <p:txBody>
              <a:bodyPr/>
              <a:lstStyle/>
              <a:p>
                <a:r>
                  <a:rPr lang="en-US">
                    <a:noFill/>
                  </a:rPr>
                  <a:t> </a:t>
                </a:r>
              </a:p>
            </p:txBody>
          </p:sp>
        </mc:Fallback>
      </mc:AlternateContent>
    </p:spTree>
    <p:extLst>
      <p:ext uri="{BB962C8B-B14F-4D97-AF65-F5344CB8AC3E}">
        <p14:creationId xmlns:p14="http://schemas.microsoft.com/office/powerpoint/2010/main" val="35252984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80220" y="1327358"/>
                <a:ext cx="11787090" cy="4247317"/>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MẠNG LAN 4</a:t>
                </a:r>
              </a:p>
              <a:p>
                <a:pPr algn="just"/>
                <a:r>
                  <a:rPr lang="en-US" dirty="0" err="1">
                    <a:solidFill>
                      <a:schemeClr val="tx1">
                        <a:lumMod val="50000"/>
                      </a:schemeClr>
                    </a:solidFill>
                  </a:rPr>
                  <a:t>Mạng</a:t>
                </a:r>
                <a:r>
                  <a:rPr lang="en-US" dirty="0">
                    <a:solidFill>
                      <a:schemeClr val="tx1">
                        <a:lumMod val="50000"/>
                      </a:schemeClr>
                    </a:solidFill>
                  </a:rPr>
                  <a:t> LAN 4 </a:t>
                </a:r>
                <a:r>
                  <a:rPr lang="en-US" dirty="0" err="1">
                    <a:solidFill>
                      <a:schemeClr val="tx1">
                        <a:lumMod val="50000"/>
                      </a:schemeClr>
                    </a:solidFill>
                  </a:rPr>
                  <a:t>có</a:t>
                </a:r>
                <a:r>
                  <a:rPr lang="en-US" dirty="0">
                    <a:solidFill>
                      <a:schemeClr val="tx1">
                        <a:lumMod val="50000"/>
                      </a:schemeClr>
                    </a:solidFill>
                  </a:rPr>
                  <a:t> 7 host.</a:t>
                </a:r>
              </a:p>
              <a:p>
                <a:pPr algn="just"/>
                <a:endParaRPr lang="en-US"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phần</a:t>
                </a:r>
                <a:r>
                  <a:rPr lang="en-US" dirty="0">
                    <a:solidFill>
                      <a:schemeClr val="tx1">
                        <a:lumMod val="50000"/>
                      </a:schemeClr>
                    </a:solidFill>
                  </a:rPr>
                  <a:t> Host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14:m>
                  <m:oMath xmlns:m="http://schemas.openxmlformats.org/officeDocument/2006/math">
                    <m:sSup>
                      <m:sSupPr>
                        <m:ctrlPr>
                          <a:rPr lang="en-US" i="1" smtClean="0">
                            <a:solidFill>
                              <a:schemeClr val="tx1">
                                <a:lumMod val="50000"/>
                              </a:schemeClr>
                            </a:solidFill>
                            <a:latin typeface="Cambria Math" panose="02040503050406030204" pitchFamily="18" charset="0"/>
                          </a:rPr>
                        </m:ctrlPr>
                      </m:sSupPr>
                      <m:e>
                        <m:r>
                          <a:rPr lang="en-US" b="0" i="1" smtClean="0">
                            <a:solidFill>
                              <a:schemeClr val="tx1">
                                <a:lumMod val="50000"/>
                              </a:schemeClr>
                            </a:solidFill>
                            <a:latin typeface="Cambria Math" panose="02040503050406030204" pitchFamily="18" charset="0"/>
                          </a:rPr>
                          <m:t>2</m:t>
                        </m:r>
                      </m:e>
                      <m:sup>
                        <m:r>
                          <a:rPr lang="en-US" b="0" i="1" smtClean="0">
                            <a:solidFill>
                              <a:schemeClr val="tx1">
                                <a:lumMod val="50000"/>
                              </a:schemeClr>
                            </a:solidFill>
                            <a:latin typeface="Cambria Math" panose="02040503050406030204" pitchFamily="18" charset="0"/>
                          </a:rPr>
                          <m:t>𝐻</m:t>
                        </m:r>
                      </m:sup>
                    </m:sSup>
                    <m:r>
                      <a:rPr lang="en-US" b="0" i="1" smtClean="0">
                        <a:solidFill>
                          <a:schemeClr val="tx1">
                            <a:lumMod val="50000"/>
                          </a:schemeClr>
                        </a:solidFill>
                        <a:latin typeface="Cambria Math" panose="02040503050406030204" pitchFamily="18" charset="0"/>
                      </a:rPr>
                      <m:t>−2≥7⇒</m:t>
                    </m:r>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i="1">
                            <a:solidFill>
                              <a:schemeClr val="tx1">
                                <a:lumMod val="50000"/>
                              </a:schemeClr>
                            </a:solidFill>
                            <a:latin typeface="Cambria Math" panose="02040503050406030204" pitchFamily="18" charset="0"/>
                          </a:rPr>
                          <m:t>𝐻</m:t>
                        </m:r>
                      </m:sup>
                    </m:sSup>
                    <m:r>
                      <a:rPr lang="en-US" b="0" i="0" smtClean="0">
                        <a:solidFill>
                          <a:schemeClr val="tx1">
                            <a:lumMod val="50000"/>
                          </a:schemeClr>
                        </a:solidFill>
                        <a:latin typeface="Cambria Math" panose="02040503050406030204" pitchFamily="18" charset="0"/>
                      </a:rPr>
                      <m:t>≥9⇒</m:t>
                    </m:r>
                    <m:r>
                      <m:rPr>
                        <m:sty m:val="p"/>
                      </m:rPr>
                      <a:rPr lang="en-US" b="0" i="0" smtClean="0">
                        <a:solidFill>
                          <a:schemeClr val="tx1">
                            <a:lumMod val="50000"/>
                          </a:schemeClr>
                        </a:solidFill>
                        <a:latin typeface="Cambria Math" panose="02040503050406030204" pitchFamily="18" charset="0"/>
                      </a:rPr>
                      <m:t>H</m:t>
                    </m:r>
                    <m:r>
                      <a:rPr lang="en-US" b="0" i="0" smtClean="0">
                        <a:solidFill>
                          <a:schemeClr val="tx1">
                            <a:lumMod val="50000"/>
                          </a:schemeClr>
                        </a:solidFill>
                        <a:latin typeface="Cambria Math" panose="02040503050406030204" pitchFamily="18" charset="0"/>
                      </a:rPr>
                      <m:t>=4</m:t>
                    </m:r>
                  </m:oMath>
                </a14:m>
                <a:endParaRPr lang="en-US" b="0"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Subnet: S = 8 – H = 8 – 4 = 4</a:t>
                </a:r>
              </a:p>
              <a:p>
                <a:pPr algn="just"/>
                <a:r>
                  <a:rPr lang="en-US" dirty="0">
                    <a:solidFill>
                      <a:schemeClr val="tx1">
                        <a:lumMod val="50000"/>
                      </a:schemeClr>
                    </a:solidFill>
                  </a:rPr>
                  <a:t>N + S = 24 + 4 = 28</a:t>
                </a:r>
              </a:p>
              <a:p>
                <a:pPr algn="just"/>
                <a:r>
                  <a:rPr lang="en-US" dirty="0">
                    <a:solidFill>
                      <a:schemeClr val="tx1">
                        <a:lumMod val="50000"/>
                      </a:schemeClr>
                    </a:solidFill>
                  </a:rPr>
                  <a:t>Khi </a:t>
                </a:r>
                <a:r>
                  <a:rPr lang="en-US" dirty="0" err="1">
                    <a:solidFill>
                      <a:schemeClr val="tx1">
                        <a:lumMod val="50000"/>
                      </a:schemeClr>
                    </a:solidFill>
                  </a:rPr>
                  <a:t>đó</a:t>
                </a:r>
                <a:r>
                  <a:rPr lang="en-US" dirty="0">
                    <a:solidFill>
                      <a:schemeClr val="tx1">
                        <a:lumMod val="50000"/>
                      </a:schemeClr>
                    </a:solidFill>
                  </a:rPr>
                  <a:t> subnet mask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/28 =&gt; subnet 4: </a:t>
                </a:r>
                <a:r>
                  <a:rPr lang="en-US" b="1" dirty="0">
                    <a:solidFill>
                      <a:srgbClr val="0070C0"/>
                    </a:solidFill>
                  </a:rPr>
                  <a:t>210.25.10.128/28</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255.255.255.240</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210.25.10.128</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210.25.10.143</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210.25.10.129 – 210.25.10.142</a:t>
                </a:r>
              </a:p>
              <a:p>
                <a:pPr algn="just"/>
                <a:endParaRPr lang="en-US" dirty="0">
                  <a:solidFill>
                    <a:schemeClr val="tx1">
                      <a:lumMod val="50000"/>
                    </a:schemeClr>
                  </a:solidFill>
                </a:endParaRPr>
              </a:p>
              <a:p>
                <a:pPr algn="just"/>
                <a:endParaRPr lang="en-US" dirty="0">
                  <a:solidFill>
                    <a:schemeClr val="tx1">
                      <a:lumMod val="50000"/>
                    </a:schemeClr>
                  </a:solidFill>
                </a:endParaRPr>
              </a:p>
              <a:p>
                <a:pPr algn="just"/>
                <a:endParaRPr lang="en-US" dirty="0">
                  <a:solidFill>
                    <a:schemeClr val="tx1">
                      <a:lumMod val="50000"/>
                    </a:schemeClr>
                  </a:solidFill>
                </a:endParaRPr>
              </a:p>
              <a:p>
                <a:pPr marL="285750" indent="-285750" algn="just">
                  <a:buFont typeface="Arial" panose="020B0604020202020204" pitchFamily="34" charset="0"/>
                  <a:buChar char="•"/>
                </a:pPr>
                <a:endParaRPr lang="en-US" dirty="0">
                  <a:solidFill>
                    <a:schemeClr val="tx1">
                      <a:lumMod val="50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80220" y="1327358"/>
                <a:ext cx="11787090" cy="4247317"/>
              </a:xfrm>
              <a:prstGeom prst="rect">
                <a:avLst/>
              </a:prstGeom>
              <a:blipFill>
                <a:blip r:embed="rId3"/>
                <a:stretch>
                  <a:fillRect l="-465" t="-862"/>
                </a:stretch>
              </a:blipFill>
            </p:spPr>
            <p:txBody>
              <a:bodyPr/>
              <a:lstStyle/>
              <a:p>
                <a:r>
                  <a:rPr lang="en-US">
                    <a:noFill/>
                  </a:rPr>
                  <a:t> </a:t>
                </a:r>
              </a:p>
            </p:txBody>
          </p:sp>
        </mc:Fallback>
      </mc:AlternateContent>
    </p:spTree>
    <p:extLst>
      <p:ext uri="{BB962C8B-B14F-4D97-AF65-F5344CB8AC3E}">
        <p14:creationId xmlns:p14="http://schemas.microsoft.com/office/powerpoint/2010/main" val="3802701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80220" y="1327358"/>
                <a:ext cx="11787090" cy="4247317"/>
              </a:xfrm>
              <a:prstGeom prst="rect">
                <a:avLst/>
              </a:prstGeom>
              <a:solidFill>
                <a:schemeClr val="accent2">
                  <a:lumMod val="20000"/>
                  <a:lumOff val="80000"/>
                </a:schemeClr>
              </a:solidFill>
            </p:spPr>
            <p:txBody>
              <a:bodyPr wrap="square" rtlCol="0">
                <a:spAutoFit/>
              </a:bodyPr>
              <a:lstStyle/>
              <a:p>
                <a:pPr algn="just"/>
                <a:r>
                  <a:rPr lang="en-US" b="1" u="sng" dirty="0">
                    <a:solidFill>
                      <a:schemeClr val="tx1">
                        <a:lumMod val="50000"/>
                      </a:schemeClr>
                    </a:solidFill>
                  </a:rPr>
                  <a:t>CHIA IP CHO POINT-TO-POINT LINK</a:t>
                </a:r>
              </a:p>
              <a:p>
                <a:pPr algn="just"/>
                <a:r>
                  <a:rPr lang="en-US" dirty="0" err="1">
                    <a:solidFill>
                      <a:schemeClr val="tx1">
                        <a:lumMod val="50000"/>
                      </a:schemeClr>
                    </a:solidFill>
                  </a:rPr>
                  <a:t>Mạng</a:t>
                </a:r>
                <a:r>
                  <a:rPr lang="en-US" dirty="0">
                    <a:solidFill>
                      <a:schemeClr val="tx1">
                        <a:lumMod val="50000"/>
                      </a:schemeClr>
                    </a:solidFill>
                  </a:rPr>
                  <a:t> point-to-point link </a:t>
                </a:r>
                <a:r>
                  <a:rPr lang="en-US" dirty="0" err="1">
                    <a:solidFill>
                      <a:schemeClr val="tx1">
                        <a:lumMod val="50000"/>
                      </a:schemeClr>
                    </a:solidFill>
                  </a:rPr>
                  <a:t>có</a:t>
                </a:r>
                <a:r>
                  <a:rPr lang="en-US" dirty="0">
                    <a:solidFill>
                      <a:schemeClr val="tx1">
                        <a:lumMod val="50000"/>
                      </a:schemeClr>
                    </a:solidFill>
                  </a:rPr>
                  <a:t> 2 host.</a:t>
                </a:r>
              </a:p>
              <a:p>
                <a:pPr algn="just"/>
                <a:endParaRPr lang="en-US"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phần</a:t>
                </a:r>
                <a:r>
                  <a:rPr lang="en-US" dirty="0">
                    <a:solidFill>
                      <a:schemeClr val="tx1">
                        <a:lumMod val="50000"/>
                      </a:schemeClr>
                    </a:solidFill>
                  </a:rPr>
                  <a:t> Host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14:m>
                  <m:oMath xmlns:m="http://schemas.openxmlformats.org/officeDocument/2006/math">
                    <m:sSup>
                      <m:sSupPr>
                        <m:ctrlPr>
                          <a:rPr lang="en-US" i="1" smtClean="0">
                            <a:solidFill>
                              <a:schemeClr val="tx1">
                                <a:lumMod val="50000"/>
                              </a:schemeClr>
                            </a:solidFill>
                            <a:latin typeface="Cambria Math" panose="02040503050406030204" pitchFamily="18" charset="0"/>
                          </a:rPr>
                        </m:ctrlPr>
                      </m:sSupPr>
                      <m:e>
                        <m:r>
                          <a:rPr lang="en-US" b="0" i="1" smtClean="0">
                            <a:solidFill>
                              <a:schemeClr val="tx1">
                                <a:lumMod val="50000"/>
                              </a:schemeClr>
                            </a:solidFill>
                            <a:latin typeface="Cambria Math" panose="02040503050406030204" pitchFamily="18" charset="0"/>
                          </a:rPr>
                          <m:t>2</m:t>
                        </m:r>
                      </m:e>
                      <m:sup>
                        <m:r>
                          <a:rPr lang="en-US" b="0" i="1" smtClean="0">
                            <a:solidFill>
                              <a:schemeClr val="tx1">
                                <a:lumMod val="50000"/>
                              </a:schemeClr>
                            </a:solidFill>
                            <a:latin typeface="Cambria Math" panose="02040503050406030204" pitchFamily="18" charset="0"/>
                          </a:rPr>
                          <m:t>𝐻</m:t>
                        </m:r>
                      </m:sup>
                    </m:sSup>
                    <m:r>
                      <a:rPr lang="en-US" b="0" i="1" smtClean="0">
                        <a:solidFill>
                          <a:schemeClr val="tx1">
                            <a:lumMod val="50000"/>
                          </a:schemeClr>
                        </a:solidFill>
                        <a:latin typeface="Cambria Math" panose="02040503050406030204" pitchFamily="18" charset="0"/>
                      </a:rPr>
                      <m:t>−2≥2⇒</m:t>
                    </m:r>
                    <m:sSup>
                      <m:sSupPr>
                        <m:ctrlPr>
                          <a:rPr lang="en-US" i="1">
                            <a:solidFill>
                              <a:schemeClr val="tx1">
                                <a:lumMod val="50000"/>
                              </a:schemeClr>
                            </a:solidFill>
                            <a:latin typeface="Cambria Math" panose="02040503050406030204" pitchFamily="18" charset="0"/>
                          </a:rPr>
                        </m:ctrlPr>
                      </m:sSupPr>
                      <m:e>
                        <m:r>
                          <a:rPr lang="en-US" i="1">
                            <a:solidFill>
                              <a:schemeClr val="tx1">
                                <a:lumMod val="50000"/>
                              </a:schemeClr>
                            </a:solidFill>
                            <a:latin typeface="Cambria Math" panose="02040503050406030204" pitchFamily="18" charset="0"/>
                          </a:rPr>
                          <m:t>2</m:t>
                        </m:r>
                      </m:e>
                      <m:sup>
                        <m:r>
                          <a:rPr lang="en-US" i="1">
                            <a:solidFill>
                              <a:schemeClr val="tx1">
                                <a:lumMod val="50000"/>
                              </a:schemeClr>
                            </a:solidFill>
                            <a:latin typeface="Cambria Math" panose="02040503050406030204" pitchFamily="18" charset="0"/>
                          </a:rPr>
                          <m:t>𝐻</m:t>
                        </m:r>
                      </m:sup>
                    </m:sSup>
                    <m:r>
                      <a:rPr lang="en-US" b="0" i="0" smtClean="0">
                        <a:solidFill>
                          <a:schemeClr val="tx1">
                            <a:lumMod val="50000"/>
                          </a:schemeClr>
                        </a:solidFill>
                        <a:latin typeface="Cambria Math" panose="02040503050406030204" pitchFamily="18" charset="0"/>
                      </a:rPr>
                      <m:t>≥4⇒</m:t>
                    </m:r>
                    <m:r>
                      <m:rPr>
                        <m:sty m:val="p"/>
                      </m:rPr>
                      <a:rPr lang="en-US" b="0" i="0" smtClean="0">
                        <a:solidFill>
                          <a:schemeClr val="tx1">
                            <a:lumMod val="50000"/>
                          </a:schemeClr>
                        </a:solidFill>
                        <a:latin typeface="Cambria Math" panose="02040503050406030204" pitchFamily="18" charset="0"/>
                      </a:rPr>
                      <m:t>H</m:t>
                    </m:r>
                    <m:r>
                      <a:rPr lang="en-US" b="0" i="0" smtClean="0">
                        <a:solidFill>
                          <a:schemeClr val="tx1">
                            <a:lumMod val="50000"/>
                          </a:schemeClr>
                        </a:solidFill>
                        <a:latin typeface="Cambria Math" panose="02040503050406030204" pitchFamily="18" charset="0"/>
                      </a:rPr>
                      <m:t>=2</m:t>
                    </m:r>
                  </m:oMath>
                </a14:m>
                <a:endParaRPr lang="en-US" b="0" dirty="0">
                  <a:solidFill>
                    <a:schemeClr val="tx1">
                      <a:lumMod val="50000"/>
                    </a:schemeClr>
                  </a:solidFill>
                </a:endParaRPr>
              </a:p>
              <a:p>
                <a:pPr algn="just"/>
                <a:r>
                  <a:rPr lang="en-US" dirty="0" err="1">
                    <a:solidFill>
                      <a:schemeClr val="tx1">
                        <a:lumMod val="50000"/>
                      </a:schemeClr>
                    </a:solidFill>
                  </a:rPr>
                  <a:t>Số</a:t>
                </a:r>
                <a:r>
                  <a:rPr lang="en-US" dirty="0">
                    <a:solidFill>
                      <a:schemeClr val="tx1">
                        <a:lumMod val="50000"/>
                      </a:schemeClr>
                    </a:solidFill>
                  </a:rPr>
                  <a:t> bit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lại</a:t>
                </a:r>
                <a:r>
                  <a:rPr lang="en-US" dirty="0">
                    <a:solidFill>
                      <a:schemeClr val="tx1">
                        <a:lumMod val="50000"/>
                      </a:schemeClr>
                    </a:solidFill>
                  </a:rPr>
                  <a:t> </a:t>
                </a:r>
                <a:r>
                  <a:rPr lang="en-US" dirty="0" err="1">
                    <a:solidFill>
                      <a:schemeClr val="tx1">
                        <a:lumMod val="50000"/>
                      </a:schemeClr>
                    </a:solidFill>
                  </a:rPr>
                  <a:t>cho</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Subnet: S = 8 – H = 8 – 2 = 6</a:t>
                </a:r>
              </a:p>
              <a:p>
                <a:pPr algn="just"/>
                <a:r>
                  <a:rPr lang="en-US" dirty="0">
                    <a:solidFill>
                      <a:schemeClr val="tx1">
                        <a:lumMod val="50000"/>
                      </a:schemeClr>
                    </a:solidFill>
                  </a:rPr>
                  <a:t>N + S = 24 + 6 = 30</a:t>
                </a:r>
              </a:p>
              <a:p>
                <a:pPr algn="just"/>
                <a:r>
                  <a:rPr lang="en-US" dirty="0">
                    <a:solidFill>
                      <a:schemeClr val="tx1">
                        <a:lumMod val="50000"/>
                      </a:schemeClr>
                    </a:solidFill>
                  </a:rPr>
                  <a:t>Khi </a:t>
                </a:r>
                <a:r>
                  <a:rPr lang="en-US" dirty="0" err="1">
                    <a:solidFill>
                      <a:schemeClr val="tx1">
                        <a:lumMod val="50000"/>
                      </a:schemeClr>
                    </a:solidFill>
                  </a:rPr>
                  <a:t>đó</a:t>
                </a:r>
                <a:r>
                  <a:rPr lang="en-US" dirty="0">
                    <a:solidFill>
                      <a:schemeClr val="tx1">
                        <a:lumMod val="50000"/>
                      </a:schemeClr>
                    </a:solidFill>
                  </a:rPr>
                  <a:t> subnet mask </a:t>
                </a:r>
                <a:r>
                  <a:rPr lang="en-US" dirty="0" err="1">
                    <a:solidFill>
                      <a:schemeClr val="tx1">
                        <a:lumMod val="50000"/>
                      </a:schemeClr>
                    </a:solidFill>
                  </a:rPr>
                  <a:t>cần</a:t>
                </a:r>
                <a:r>
                  <a:rPr lang="en-US" dirty="0">
                    <a:solidFill>
                      <a:schemeClr val="tx1">
                        <a:lumMod val="50000"/>
                      </a:schemeClr>
                    </a:solidFill>
                  </a:rPr>
                  <a:t> </a:t>
                </a:r>
                <a:r>
                  <a:rPr lang="en-US" dirty="0" err="1">
                    <a:solidFill>
                      <a:schemeClr val="tx1">
                        <a:lumMod val="50000"/>
                      </a:schemeClr>
                    </a:solidFill>
                  </a:rPr>
                  <a:t>chọn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/30 =&gt; subnet 5: </a:t>
                </a:r>
                <a:r>
                  <a:rPr lang="en-US" b="1" dirty="0">
                    <a:solidFill>
                      <a:srgbClr val="0070C0"/>
                    </a:solidFill>
                  </a:rPr>
                  <a:t>210.25.10.144/30</a:t>
                </a:r>
              </a:p>
              <a:p>
                <a:pPr algn="just"/>
                <a:r>
                  <a:rPr lang="en-US" dirty="0">
                    <a:solidFill>
                      <a:schemeClr val="tx1">
                        <a:lumMod val="50000"/>
                      </a:schemeClr>
                    </a:solidFill>
                  </a:rPr>
                  <a:t>Subnet mask </a:t>
                </a:r>
                <a:r>
                  <a:rPr lang="en-US" dirty="0" err="1">
                    <a:solidFill>
                      <a:schemeClr val="tx1">
                        <a:lumMod val="50000"/>
                      </a:schemeClr>
                    </a:solidFill>
                  </a:rPr>
                  <a:t>dạng</a:t>
                </a:r>
                <a:r>
                  <a:rPr lang="en-US" dirty="0">
                    <a:solidFill>
                      <a:schemeClr val="tx1">
                        <a:lumMod val="50000"/>
                      </a:schemeClr>
                    </a:solidFill>
                  </a:rPr>
                  <a:t> </a:t>
                </a:r>
                <a:r>
                  <a:rPr lang="en-US" dirty="0" err="1">
                    <a:solidFill>
                      <a:schemeClr val="tx1">
                        <a:lumMod val="50000"/>
                      </a:schemeClr>
                    </a:solidFill>
                  </a:rPr>
                  <a:t>thập</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255.255.255.252</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a:t>
                </a:r>
                <a:r>
                  <a:rPr lang="en-US" dirty="0" err="1">
                    <a:solidFill>
                      <a:schemeClr val="tx1">
                        <a:lumMod val="50000"/>
                      </a:schemeClr>
                    </a:solidFill>
                  </a:rPr>
                  <a:t>mạng</a:t>
                </a:r>
                <a:r>
                  <a:rPr lang="en-US" dirty="0">
                    <a:solidFill>
                      <a:schemeClr val="tx1">
                        <a:lumMod val="50000"/>
                      </a:schemeClr>
                    </a:solidFill>
                  </a:rPr>
                  <a:t>: 210.25.10.144</a:t>
                </a:r>
              </a:p>
              <a:p>
                <a:pPr algn="just"/>
                <a:r>
                  <a:rPr lang="en-US" dirty="0" err="1">
                    <a:solidFill>
                      <a:schemeClr val="tx1">
                        <a:lumMod val="50000"/>
                      </a:schemeClr>
                    </a:solidFill>
                  </a:rPr>
                  <a:t>Địa</a:t>
                </a:r>
                <a:r>
                  <a:rPr lang="en-US" dirty="0">
                    <a:solidFill>
                      <a:schemeClr val="tx1">
                        <a:lumMod val="50000"/>
                      </a:schemeClr>
                    </a:solidFill>
                  </a:rPr>
                  <a:t> </a:t>
                </a:r>
                <a:r>
                  <a:rPr lang="en-US" dirty="0" err="1">
                    <a:solidFill>
                      <a:schemeClr val="tx1">
                        <a:lumMod val="50000"/>
                      </a:schemeClr>
                    </a:solidFill>
                  </a:rPr>
                  <a:t>chỉ</a:t>
                </a:r>
                <a:r>
                  <a:rPr lang="en-US" dirty="0">
                    <a:solidFill>
                      <a:schemeClr val="tx1">
                        <a:lumMod val="50000"/>
                      </a:schemeClr>
                    </a:solidFill>
                  </a:rPr>
                  <a:t> broadcast: 210.25.10.147</a:t>
                </a:r>
              </a:p>
              <a:p>
                <a:pPr algn="just"/>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đ/c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b="1" dirty="0">
                    <a:solidFill>
                      <a:srgbClr val="0070C0"/>
                    </a:solidFill>
                  </a:rPr>
                  <a:t>210.25.10.145 – 210.25.10.146</a:t>
                </a:r>
              </a:p>
              <a:p>
                <a:pPr algn="just"/>
                <a:endParaRPr lang="en-US" dirty="0">
                  <a:solidFill>
                    <a:schemeClr val="tx1">
                      <a:lumMod val="50000"/>
                    </a:schemeClr>
                  </a:solidFill>
                </a:endParaRPr>
              </a:p>
              <a:p>
                <a:pPr algn="just"/>
                <a:endParaRPr lang="en-US" dirty="0">
                  <a:solidFill>
                    <a:schemeClr val="tx1">
                      <a:lumMod val="50000"/>
                    </a:schemeClr>
                  </a:solidFill>
                </a:endParaRPr>
              </a:p>
              <a:p>
                <a:pPr algn="just"/>
                <a:endParaRPr lang="en-US" dirty="0">
                  <a:solidFill>
                    <a:schemeClr val="tx1">
                      <a:lumMod val="50000"/>
                    </a:schemeClr>
                  </a:solidFill>
                </a:endParaRPr>
              </a:p>
              <a:p>
                <a:pPr marL="285750" indent="-285750" algn="just">
                  <a:buFont typeface="Arial" panose="020B0604020202020204" pitchFamily="34" charset="0"/>
                  <a:buChar char="•"/>
                </a:pPr>
                <a:endParaRPr lang="en-US" dirty="0">
                  <a:solidFill>
                    <a:schemeClr val="tx1">
                      <a:lumMod val="50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80220" y="1327358"/>
                <a:ext cx="11787090" cy="4247317"/>
              </a:xfrm>
              <a:prstGeom prst="rect">
                <a:avLst/>
              </a:prstGeom>
              <a:blipFill>
                <a:blip r:embed="rId3"/>
                <a:stretch>
                  <a:fillRect l="-465" t="-862"/>
                </a:stretch>
              </a:blipFill>
            </p:spPr>
            <p:txBody>
              <a:bodyPr/>
              <a:lstStyle/>
              <a:p>
                <a:r>
                  <a:rPr lang="en-US">
                    <a:noFill/>
                  </a:rPr>
                  <a:t> </a:t>
                </a:r>
              </a:p>
            </p:txBody>
          </p:sp>
        </mc:Fallback>
      </mc:AlternateContent>
    </p:spTree>
    <p:extLst>
      <p:ext uri="{BB962C8B-B14F-4D97-AF65-F5344CB8AC3E}">
        <p14:creationId xmlns:p14="http://schemas.microsoft.com/office/powerpoint/2010/main" val="352591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Slide Title">
            <a:extLst>
              <a:ext uri="{FF2B5EF4-FFF2-40B4-BE49-F238E27FC236}">
                <a16:creationId xmlns:a16="http://schemas.microsoft.com/office/drawing/2014/main" id="{6EFFE0B3-6566-3F48-9291-A6A8E30E2D62}"/>
              </a:ext>
            </a:extLst>
          </p:cNvPr>
          <p:cNvSpPr txBox="1">
            <a:spLocks/>
          </p:cNvSpPr>
          <p:nvPr/>
        </p:nvSpPr>
        <p:spPr>
          <a:xfrm>
            <a:off x="100407" y="951041"/>
            <a:ext cx="11966902" cy="379287"/>
          </a:xfrm>
          <a:prstGeom prst="rect">
            <a:avLst/>
          </a:prstGeom>
        </p:spPr>
        <p:txBody>
          <a:bodyPr/>
          <a:lstStyle>
            <a:lvl1pPr algn="l" defTabSz="914400" rtl="0" eaLnBrk="1" latinLnBrk="0" hangingPunct="1">
              <a:lnSpc>
                <a:spcPct val="90000"/>
              </a:lnSpc>
              <a:spcBef>
                <a:spcPct val="0"/>
              </a:spcBef>
              <a:buNone/>
              <a:defRPr sz="1400" b="1" i="0" kern="1200">
                <a:solidFill>
                  <a:schemeClr val="tx2"/>
                </a:solidFill>
                <a:latin typeface="+mj-lt"/>
                <a:ea typeface="+mj-ea"/>
                <a:cs typeface="+mj-cs"/>
              </a:defRPr>
            </a:lvl1pPr>
          </a:lstStyle>
          <a:p>
            <a:pPr lvl="0">
              <a:defRPr/>
            </a:pPr>
            <a:r>
              <a:rPr lang="en-US" sz="1800">
                <a:solidFill>
                  <a:srgbClr val="005BBB"/>
                </a:solidFill>
                <a:cs typeface="Helvetica World" panose="020B0500040000020004" pitchFamily="34" charset="0"/>
              </a:rPr>
              <a:t>CHIA MẠNG CON SỬ DỤNG KỸ THUẬT VLSM </a:t>
            </a:r>
            <a:endParaRPr kumimoji="0" lang="en-US" sz="1800" b="1" i="0" u="none" strike="noStrike" kern="1200" cap="none" spc="0" normalizeH="0" baseline="0" noProof="0">
              <a:ln>
                <a:noFill/>
              </a:ln>
              <a:solidFill>
                <a:srgbClr val="005BBB"/>
              </a:solidFill>
              <a:effectLst/>
              <a:uLnTx/>
              <a:uFillTx/>
              <a:cs typeface="Helvetica World" panose="020B0500040000020004" pitchFamily="34" charset="0"/>
            </a:endParaRPr>
          </a:p>
        </p:txBody>
      </p:sp>
      <p:sp>
        <p:nvSpPr>
          <p:cNvPr id="3" name="TextBox 2"/>
          <p:cNvSpPr txBox="1"/>
          <p:nvPr/>
        </p:nvSpPr>
        <p:spPr>
          <a:xfrm>
            <a:off x="280220" y="1327358"/>
            <a:ext cx="11787090" cy="369332"/>
          </a:xfrm>
          <a:prstGeom prst="rect">
            <a:avLst/>
          </a:prstGeom>
          <a:solidFill>
            <a:schemeClr val="accent2">
              <a:lumMod val="20000"/>
              <a:lumOff val="80000"/>
            </a:schemeClr>
          </a:solidFill>
        </p:spPr>
        <p:txBody>
          <a:bodyPr wrap="square" rtlCol="0">
            <a:spAutoFit/>
          </a:bodyPr>
          <a:lstStyle/>
          <a:p>
            <a:pPr algn="just"/>
            <a:r>
              <a:rPr lang="en-US" b="1">
                <a:solidFill>
                  <a:schemeClr val="tx1">
                    <a:lumMod val="50000"/>
                  </a:schemeClr>
                </a:solidFill>
              </a:rPr>
              <a:t>Sơ đồ chia mạng con</a:t>
            </a:r>
          </a:p>
        </p:txBody>
      </p:sp>
      <p:pic>
        <p:nvPicPr>
          <p:cNvPr id="28"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50155" y="3092353"/>
            <a:ext cx="6429375" cy="2371406"/>
          </a:xfrm>
        </p:spPr>
      </p:pic>
      <p:sp>
        <p:nvSpPr>
          <p:cNvPr id="29" name="TextBox 28"/>
          <p:cNvSpPr txBox="1"/>
          <p:nvPr/>
        </p:nvSpPr>
        <p:spPr>
          <a:xfrm>
            <a:off x="4530707" y="2969956"/>
            <a:ext cx="1015021"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u="sng" noProof="0">
                <a:solidFill>
                  <a:srgbClr val="000000"/>
                </a:solidFill>
                <a:latin typeface="Arial" panose="020B0604020202020204" pitchFamily="34" charset="0"/>
              </a:rPr>
              <a:t>Đà Nẵng</a:t>
            </a:r>
            <a:endParaRPr kumimoji="0" lang="en-US" sz="1600" b="1" i="0" u="sng"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0" name="TextBox 29"/>
          <p:cNvSpPr txBox="1"/>
          <p:nvPr/>
        </p:nvSpPr>
        <p:spPr>
          <a:xfrm>
            <a:off x="6294737" y="2985196"/>
            <a:ext cx="960519"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u="sng">
                <a:solidFill>
                  <a:srgbClr val="000000"/>
                </a:solidFill>
                <a:latin typeface="Arial" panose="020B0604020202020204" pitchFamily="34" charset="0"/>
              </a:rPr>
              <a:t>Sài Gòn</a:t>
            </a:r>
            <a:endParaRPr kumimoji="0" lang="en-US" sz="1600" b="1" i="0" u="sng"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1" name="TextBox 30"/>
          <p:cNvSpPr txBox="1"/>
          <p:nvPr/>
        </p:nvSpPr>
        <p:spPr>
          <a:xfrm>
            <a:off x="1616057" y="2204146"/>
            <a:ext cx="208026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a:solidFill>
                  <a:srgbClr val="000000"/>
                </a:solidFill>
                <a:latin typeface="Arial" panose="020B0604020202020204" pitchFamily="34" charset="0"/>
              </a:rPr>
              <a:t>LAN 1</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a:solidFill>
                  <a:srgbClr val="000000"/>
                </a:solidFill>
              </a:rPr>
              <a:t>210.25.10.96/27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2" name="TextBox 31"/>
          <p:cNvSpPr txBox="1"/>
          <p:nvPr/>
        </p:nvSpPr>
        <p:spPr>
          <a:xfrm>
            <a:off x="1642727" y="4272733"/>
            <a:ext cx="169917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a:solidFill>
                  <a:srgbClr val="000000"/>
                </a:solidFill>
                <a:latin typeface="Arial" panose="020B0604020202020204" pitchFamily="34" charset="0"/>
              </a:rPr>
              <a:t>LAN 2</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a:solidFill>
                  <a:srgbClr val="000000"/>
                </a:solidFill>
              </a:rPr>
              <a:t>210.25.10.64/27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3" name="TextBox 32"/>
          <p:cNvSpPr txBox="1"/>
          <p:nvPr/>
        </p:nvSpPr>
        <p:spPr>
          <a:xfrm>
            <a:off x="8314037" y="2221669"/>
            <a:ext cx="204597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a:solidFill>
                  <a:srgbClr val="000000"/>
                </a:solidFill>
                <a:latin typeface="Arial" panose="020B0604020202020204" pitchFamily="34" charset="0"/>
              </a:rPr>
              <a:t>LAN 3</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a:solidFill>
                  <a:srgbClr val="000000"/>
                </a:solidFill>
              </a:rPr>
              <a:t>210.25.10.0/26</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4" name="TextBox 33"/>
          <p:cNvSpPr txBox="1"/>
          <p:nvPr/>
        </p:nvSpPr>
        <p:spPr>
          <a:xfrm>
            <a:off x="8364391" y="4228492"/>
            <a:ext cx="1873469"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a:solidFill>
                  <a:srgbClr val="000000"/>
                </a:solidFill>
                <a:latin typeface="Arial" panose="020B0604020202020204" pitchFamily="34" charset="0"/>
              </a:rPr>
              <a:t>LAN 4</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210.25.10.128/28</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5" name="TextBox 34"/>
          <p:cNvSpPr txBox="1"/>
          <p:nvPr/>
        </p:nvSpPr>
        <p:spPr>
          <a:xfrm>
            <a:off x="4918469" y="3395326"/>
            <a:ext cx="2085979"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Point to point link</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a:solidFill>
                  <a:srgbClr val="000000"/>
                </a:solidFill>
              </a:rPr>
              <a:t>210.25.10.144/30</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6" name="TextBox 35"/>
          <p:cNvSpPr txBox="1"/>
          <p:nvPr/>
        </p:nvSpPr>
        <p:spPr>
          <a:xfrm>
            <a:off x="3687103" y="3819793"/>
            <a:ext cx="470000" cy="338554"/>
          </a:xfrm>
          <a:prstGeom prst="rect">
            <a:avLst/>
          </a:prstGeom>
          <a:noFill/>
        </p:spPr>
        <p:txBody>
          <a:bodyPr wrap="none" rtlCol="0">
            <a:spAutoFit/>
          </a:bodyPr>
          <a:lstStyle/>
          <a:p>
            <a:r>
              <a:rPr lang="en-US" sz="1600" b="0"/>
              <a:t>.</a:t>
            </a:r>
            <a:r>
              <a:rPr lang="en-US" sz="1600"/>
              <a:t>97</a:t>
            </a:r>
            <a:endParaRPr lang="en-US" sz="1600" b="0" dirty="0"/>
          </a:p>
        </p:txBody>
      </p:sp>
      <p:sp>
        <p:nvSpPr>
          <p:cNvPr id="37" name="TextBox 36"/>
          <p:cNvSpPr txBox="1"/>
          <p:nvPr/>
        </p:nvSpPr>
        <p:spPr>
          <a:xfrm>
            <a:off x="4043027" y="4440823"/>
            <a:ext cx="470000" cy="338554"/>
          </a:xfrm>
          <a:prstGeom prst="rect">
            <a:avLst/>
          </a:prstGeom>
          <a:noFill/>
        </p:spPr>
        <p:txBody>
          <a:bodyPr wrap="none" rtlCol="0">
            <a:spAutoFit/>
          </a:bodyPr>
          <a:lstStyle/>
          <a:p>
            <a:r>
              <a:rPr lang="en-US" sz="1600" b="0"/>
              <a:t>.65</a:t>
            </a:r>
            <a:endParaRPr lang="en-US" sz="1600" b="0" dirty="0"/>
          </a:p>
        </p:txBody>
      </p:sp>
      <p:sp>
        <p:nvSpPr>
          <p:cNvPr id="38" name="TextBox 37"/>
          <p:cNvSpPr txBox="1"/>
          <p:nvPr/>
        </p:nvSpPr>
        <p:spPr>
          <a:xfrm>
            <a:off x="7401973" y="3789313"/>
            <a:ext cx="356188" cy="338554"/>
          </a:xfrm>
          <a:prstGeom prst="rect">
            <a:avLst/>
          </a:prstGeom>
          <a:noFill/>
        </p:spPr>
        <p:txBody>
          <a:bodyPr wrap="none" rtlCol="0">
            <a:spAutoFit/>
          </a:bodyPr>
          <a:lstStyle/>
          <a:p>
            <a:r>
              <a:rPr lang="en-US" sz="1600" b="0"/>
              <a:t>.1</a:t>
            </a:r>
            <a:endParaRPr lang="en-US" sz="1600" b="0" dirty="0"/>
          </a:p>
        </p:txBody>
      </p:sp>
      <p:sp>
        <p:nvSpPr>
          <p:cNvPr id="39" name="TextBox 38"/>
          <p:cNvSpPr txBox="1"/>
          <p:nvPr/>
        </p:nvSpPr>
        <p:spPr>
          <a:xfrm>
            <a:off x="6931865" y="4406533"/>
            <a:ext cx="583814" cy="338554"/>
          </a:xfrm>
          <a:prstGeom prst="rect">
            <a:avLst/>
          </a:prstGeom>
          <a:noFill/>
        </p:spPr>
        <p:txBody>
          <a:bodyPr wrap="none" rtlCol="0">
            <a:spAutoFit/>
          </a:bodyPr>
          <a:lstStyle/>
          <a:p>
            <a:r>
              <a:rPr lang="en-US" sz="1600" b="0"/>
              <a:t>.</a:t>
            </a:r>
            <a:r>
              <a:rPr lang="en-US" sz="1600"/>
              <a:t>129</a:t>
            </a:r>
            <a:endParaRPr lang="en-US" sz="1600" b="0" dirty="0"/>
          </a:p>
        </p:txBody>
      </p:sp>
      <p:sp>
        <p:nvSpPr>
          <p:cNvPr id="40" name="TextBox 39"/>
          <p:cNvSpPr txBox="1"/>
          <p:nvPr/>
        </p:nvSpPr>
        <p:spPr>
          <a:xfrm>
            <a:off x="4884051" y="4087603"/>
            <a:ext cx="583814" cy="338554"/>
          </a:xfrm>
          <a:prstGeom prst="rect">
            <a:avLst/>
          </a:prstGeom>
          <a:noFill/>
        </p:spPr>
        <p:txBody>
          <a:bodyPr wrap="none" rtlCol="0">
            <a:spAutoFit/>
          </a:bodyPr>
          <a:lstStyle/>
          <a:p>
            <a:r>
              <a:rPr lang="en-US" sz="1600" b="0"/>
              <a:t>.</a:t>
            </a:r>
            <a:r>
              <a:rPr lang="en-US" sz="1600"/>
              <a:t>145</a:t>
            </a:r>
            <a:endParaRPr lang="en-US" sz="1600" b="0" dirty="0"/>
          </a:p>
        </p:txBody>
      </p:sp>
      <p:sp>
        <p:nvSpPr>
          <p:cNvPr id="41" name="TextBox 40"/>
          <p:cNvSpPr txBox="1"/>
          <p:nvPr/>
        </p:nvSpPr>
        <p:spPr>
          <a:xfrm>
            <a:off x="6205878" y="4231765"/>
            <a:ext cx="583814" cy="338554"/>
          </a:xfrm>
          <a:prstGeom prst="rect">
            <a:avLst/>
          </a:prstGeom>
          <a:noFill/>
        </p:spPr>
        <p:txBody>
          <a:bodyPr wrap="none" rtlCol="0">
            <a:spAutoFit/>
          </a:bodyPr>
          <a:lstStyle/>
          <a:p>
            <a:r>
              <a:rPr lang="en-US" sz="1600" b="0"/>
              <a:t>.</a:t>
            </a:r>
            <a:r>
              <a:rPr lang="en-US" sz="1600"/>
              <a:t>146</a:t>
            </a:r>
            <a:endParaRPr lang="en-US" sz="1600" b="0" dirty="0"/>
          </a:p>
        </p:txBody>
      </p:sp>
    </p:spTree>
    <p:extLst>
      <p:ext uri="{BB962C8B-B14F-4D97-AF65-F5344CB8AC3E}">
        <p14:creationId xmlns:p14="http://schemas.microsoft.com/office/powerpoint/2010/main" val="24836202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58367" y="1490663"/>
            <a:ext cx="11201123" cy="2387600"/>
          </a:xfrm>
        </p:spPr>
        <p:txBody>
          <a:bodyPr/>
          <a:lstStyle/>
          <a:p>
            <a:r>
              <a:rPr lang="en-US" dirty="0" err="1"/>
              <a:t>Bài</a:t>
            </a:r>
            <a:r>
              <a:rPr lang="en-US" dirty="0"/>
              <a:t> </a:t>
            </a:r>
            <a:r>
              <a:rPr lang="en-US" dirty="0" err="1"/>
              <a:t>tập</a:t>
            </a:r>
            <a:endParaRPr lang="en-US" dirty="0"/>
          </a:p>
        </p:txBody>
      </p:sp>
    </p:spTree>
    <p:extLst>
      <p:ext uri="{BB962C8B-B14F-4D97-AF65-F5344CB8AC3E}">
        <p14:creationId xmlns:p14="http://schemas.microsoft.com/office/powerpoint/2010/main" val="22723774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64901" y="3490560"/>
            <a:ext cx="6429375" cy="2371406"/>
          </a:xfrm>
        </p:spPr>
      </p:pic>
      <p:sp>
        <p:nvSpPr>
          <p:cNvPr id="7" name="TextBox 6"/>
          <p:cNvSpPr txBox="1"/>
          <p:nvPr/>
        </p:nvSpPr>
        <p:spPr>
          <a:xfrm>
            <a:off x="4545453" y="3456651"/>
            <a:ext cx="1015021" cy="338554"/>
          </a:xfrm>
          <a:prstGeom prst="rect">
            <a:avLst/>
          </a:prstGeom>
          <a:noFill/>
        </p:spPr>
        <p:txBody>
          <a:bodyPr wrap="none" rtlCol="0">
            <a:spAutoFit/>
          </a:bodyPr>
          <a:lstStyle/>
          <a:p>
            <a:r>
              <a:rPr lang="en-US" sz="1600" b="1" u="sng"/>
              <a:t>Đà Nẵng</a:t>
            </a:r>
            <a:endParaRPr lang="en-US" sz="1600" b="1" u="sng" dirty="0"/>
          </a:p>
        </p:txBody>
      </p:sp>
      <p:sp>
        <p:nvSpPr>
          <p:cNvPr id="8" name="TextBox 7"/>
          <p:cNvSpPr txBox="1"/>
          <p:nvPr/>
        </p:nvSpPr>
        <p:spPr>
          <a:xfrm>
            <a:off x="6309483" y="3427647"/>
            <a:ext cx="960519" cy="338554"/>
          </a:xfrm>
          <a:prstGeom prst="rect">
            <a:avLst/>
          </a:prstGeom>
          <a:noFill/>
        </p:spPr>
        <p:txBody>
          <a:bodyPr wrap="none" rtlCol="0">
            <a:spAutoFit/>
          </a:bodyPr>
          <a:lstStyle/>
          <a:p>
            <a:r>
              <a:rPr lang="en-US" sz="1600" b="1" u="sng"/>
              <a:t>Sài Gòn</a:t>
            </a:r>
            <a:endParaRPr lang="en-US" sz="1600" b="1" u="sng" dirty="0"/>
          </a:p>
        </p:txBody>
      </p:sp>
      <p:sp>
        <p:nvSpPr>
          <p:cNvPr id="9" name="TextBox 8"/>
          <p:cNvSpPr txBox="1"/>
          <p:nvPr/>
        </p:nvSpPr>
        <p:spPr>
          <a:xfrm>
            <a:off x="2042283" y="2838326"/>
            <a:ext cx="4046220" cy="584775"/>
          </a:xfrm>
          <a:prstGeom prst="rect">
            <a:avLst/>
          </a:prstGeom>
          <a:noFill/>
        </p:spPr>
        <p:txBody>
          <a:bodyPr wrap="square" rtlCol="0">
            <a:spAutoFit/>
          </a:bodyPr>
          <a:lstStyle/>
          <a:p>
            <a:r>
              <a:rPr lang="en-US" sz="1600" b="1"/>
              <a:t>LAN 1</a:t>
            </a:r>
            <a:endParaRPr lang="en-US" sz="1600" b="1" dirty="0"/>
          </a:p>
          <a:p>
            <a:r>
              <a:rPr lang="en-US" sz="1600" b="0"/>
              <a:t>14 </a:t>
            </a:r>
            <a:r>
              <a:rPr lang="en-US" sz="1600"/>
              <a:t>đ/c IP</a:t>
            </a:r>
            <a:endParaRPr lang="en-US" sz="1600" b="0" dirty="0"/>
          </a:p>
        </p:txBody>
      </p:sp>
      <p:sp>
        <p:nvSpPr>
          <p:cNvPr id="10" name="TextBox 9"/>
          <p:cNvSpPr txBox="1"/>
          <p:nvPr/>
        </p:nvSpPr>
        <p:spPr>
          <a:xfrm>
            <a:off x="2034663" y="4892163"/>
            <a:ext cx="995785" cy="584775"/>
          </a:xfrm>
          <a:prstGeom prst="rect">
            <a:avLst/>
          </a:prstGeom>
          <a:noFill/>
        </p:spPr>
        <p:txBody>
          <a:bodyPr wrap="none" rtlCol="0">
            <a:spAutoFit/>
          </a:bodyPr>
          <a:lstStyle/>
          <a:p>
            <a:r>
              <a:rPr lang="en-US" sz="1600" b="1"/>
              <a:t>LAN 2</a:t>
            </a:r>
            <a:endParaRPr lang="en-US" sz="1600" b="1" dirty="0"/>
          </a:p>
          <a:p>
            <a:r>
              <a:rPr lang="en-US" sz="1600" b="0"/>
              <a:t>28 </a:t>
            </a:r>
            <a:r>
              <a:rPr lang="en-US" sz="1600"/>
              <a:t>đ/c IP</a:t>
            </a:r>
            <a:endParaRPr lang="en-US" sz="1600" b="0" dirty="0"/>
          </a:p>
        </p:txBody>
      </p:sp>
      <p:sp>
        <p:nvSpPr>
          <p:cNvPr id="11" name="TextBox 10"/>
          <p:cNvSpPr txBox="1"/>
          <p:nvPr/>
        </p:nvSpPr>
        <p:spPr>
          <a:xfrm>
            <a:off x="8851737" y="2914836"/>
            <a:ext cx="881973" cy="584775"/>
          </a:xfrm>
          <a:prstGeom prst="rect">
            <a:avLst/>
          </a:prstGeom>
          <a:noFill/>
        </p:spPr>
        <p:txBody>
          <a:bodyPr wrap="none" rtlCol="0">
            <a:spAutoFit/>
          </a:bodyPr>
          <a:lstStyle/>
          <a:p>
            <a:r>
              <a:rPr lang="en-US" sz="1600" b="1"/>
              <a:t>LAN 3</a:t>
            </a:r>
            <a:endParaRPr lang="en-US" sz="1600" b="1" dirty="0"/>
          </a:p>
          <a:p>
            <a:r>
              <a:rPr lang="en-US" sz="1600" b="0"/>
              <a:t>7 </a:t>
            </a:r>
            <a:r>
              <a:rPr lang="en-US" sz="1600"/>
              <a:t>đ/c IP</a:t>
            </a:r>
            <a:endParaRPr lang="en-US" sz="1600" b="0" dirty="0"/>
          </a:p>
        </p:txBody>
      </p:sp>
      <p:sp>
        <p:nvSpPr>
          <p:cNvPr id="12" name="TextBox 11"/>
          <p:cNvSpPr txBox="1"/>
          <p:nvPr/>
        </p:nvSpPr>
        <p:spPr>
          <a:xfrm>
            <a:off x="8881233" y="4700433"/>
            <a:ext cx="995785" cy="584775"/>
          </a:xfrm>
          <a:prstGeom prst="rect">
            <a:avLst/>
          </a:prstGeom>
          <a:noFill/>
        </p:spPr>
        <p:txBody>
          <a:bodyPr wrap="none" rtlCol="0">
            <a:spAutoFit/>
          </a:bodyPr>
          <a:lstStyle/>
          <a:p>
            <a:r>
              <a:rPr lang="en-US" sz="1600" b="1"/>
              <a:t>LAN 4</a:t>
            </a:r>
            <a:endParaRPr lang="en-US" sz="1600" b="1" dirty="0"/>
          </a:p>
          <a:p>
            <a:r>
              <a:rPr lang="en-US" sz="1600" b="0"/>
              <a:t>28 </a:t>
            </a:r>
            <a:r>
              <a:rPr lang="en-US" sz="1600"/>
              <a:t>đ/c IP</a:t>
            </a:r>
            <a:endParaRPr lang="en-US" sz="1600" b="0" dirty="0"/>
          </a:p>
        </p:txBody>
      </p:sp>
      <p:sp>
        <p:nvSpPr>
          <p:cNvPr id="13" name="TextBox 12"/>
          <p:cNvSpPr txBox="1"/>
          <p:nvPr/>
        </p:nvSpPr>
        <p:spPr>
          <a:xfrm>
            <a:off x="4907403" y="5044563"/>
            <a:ext cx="2085979" cy="584775"/>
          </a:xfrm>
          <a:prstGeom prst="rect">
            <a:avLst/>
          </a:prstGeom>
          <a:noFill/>
        </p:spPr>
        <p:txBody>
          <a:bodyPr wrap="square" rtlCol="0">
            <a:spAutoFit/>
          </a:bodyPr>
          <a:lstStyle/>
          <a:p>
            <a:r>
              <a:rPr lang="en-US" sz="1600" b="0"/>
              <a:t>Point-to-point </a:t>
            </a:r>
            <a:r>
              <a:rPr lang="en-US" sz="1600" b="0" dirty="0"/>
              <a:t>link:</a:t>
            </a:r>
          </a:p>
          <a:p>
            <a:r>
              <a:rPr lang="en-US" sz="1600" b="0"/>
              <a:t>2 </a:t>
            </a:r>
            <a:r>
              <a:rPr lang="en-US" sz="1600"/>
              <a:t>đ/c IP</a:t>
            </a:r>
            <a:endParaRPr lang="en-US" sz="1600" b="0" dirty="0"/>
          </a:p>
        </p:txBody>
      </p:sp>
      <p:sp>
        <p:nvSpPr>
          <p:cNvPr id="3" name="TextBox 2"/>
          <p:cNvSpPr txBox="1"/>
          <p:nvPr/>
        </p:nvSpPr>
        <p:spPr>
          <a:xfrm>
            <a:off x="280220" y="1327358"/>
            <a:ext cx="11787090" cy="923330"/>
          </a:xfrm>
          <a:prstGeom prst="rect">
            <a:avLst/>
          </a:prstGeom>
          <a:solidFill>
            <a:schemeClr val="bg2">
              <a:lumMod val="85000"/>
            </a:schemeClr>
          </a:solidFill>
        </p:spPr>
        <p:txBody>
          <a:bodyPr wrap="square" rtlCol="0">
            <a:spAutoFit/>
          </a:bodyPr>
          <a:lstStyle/>
          <a:p>
            <a:pPr algn="just"/>
            <a:r>
              <a:rPr lang="en-US" b="1" u="sng">
                <a:solidFill>
                  <a:schemeClr val="tx1">
                    <a:lumMod val="50000"/>
                  </a:schemeClr>
                </a:solidFill>
              </a:rPr>
              <a:t>Yêu cầu: </a:t>
            </a:r>
            <a:r>
              <a:rPr lang="en-US">
                <a:solidFill>
                  <a:schemeClr val="tx1">
                    <a:lumMod val="50000"/>
                  </a:schemeClr>
                </a:solidFill>
              </a:rPr>
              <a:t>Doanh nghiệp A với hai chi nhánh tại Đà Nẵng và Sài Gòn với sơ đồ mạng được cho như hình vẽ. Tiến hành chia địa chỉ IP cho các phòng ban của doanh nghiệp (LAN 1, LAN 2, LAN 3, LAN 4) thỏa mãn các yêu cầu về số địa chỉ (đ/c) IP, biết rằng ban đầu doanh nghiệp được phân bổ một mạng lớp C với địa chỉ </a:t>
            </a:r>
            <a:r>
              <a:rPr lang="en-US" b="1">
                <a:solidFill>
                  <a:srgbClr val="0070C0"/>
                </a:solidFill>
              </a:rPr>
              <a:t>200.15.10.0/24</a:t>
            </a:r>
            <a:r>
              <a:rPr lang="en-US">
                <a:solidFill>
                  <a:schemeClr val="tx1">
                    <a:lumMod val="50000"/>
                  </a:schemeClr>
                </a:solidFill>
              </a:rPr>
              <a:t>.</a:t>
            </a:r>
          </a:p>
        </p:txBody>
      </p:sp>
    </p:spTree>
    <p:extLst>
      <p:ext uri="{BB962C8B-B14F-4D97-AF65-F5344CB8AC3E}">
        <p14:creationId xmlns:p14="http://schemas.microsoft.com/office/powerpoint/2010/main" val="21961602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0220" y="1327358"/>
            <a:ext cx="11787090" cy="369332"/>
          </a:xfrm>
          <a:prstGeom prst="rect">
            <a:avLst/>
          </a:prstGeom>
          <a:solidFill>
            <a:schemeClr val="bg2">
              <a:lumMod val="85000"/>
            </a:schemeClr>
          </a:solidFill>
        </p:spPr>
        <p:txBody>
          <a:bodyPr wrap="square" rtlCol="0">
            <a:spAutoFit/>
          </a:bodyPr>
          <a:lstStyle/>
          <a:p>
            <a:pPr algn="just"/>
            <a:r>
              <a:rPr lang="en-US" b="1" u="sng">
                <a:solidFill>
                  <a:schemeClr val="tx1">
                    <a:lumMod val="50000"/>
                  </a:schemeClr>
                </a:solidFill>
              </a:rPr>
              <a:t>Đáp án: </a:t>
            </a:r>
            <a:r>
              <a:rPr lang="en-US">
                <a:solidFill>
                  <a:schemeClr val="tx1">
                    <a:lumMod val="50000"/>
                  </a:schemeClr>
                </a:solidFill>
              </a:rPr>
              <a:t>Sơ đồ chia mạng con</a:t>
            </a:r>
          </a:p>
        </p:txBody>
      </p:sp>
      <p:pic>
        <p:nvPicPr>
          <p:cNvPr id="28"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50155" y="3092353"/>
            <a:ext cx="6429375" cy="2371406"/>
          </a:xfrm>
        </p:spPr>
      </p:pic>
      <p:sp>
        <p:nvSpPr>
          <p:cNvPr id="29" name="TextBox 28"/>
          <p:cNvSpPr txBox="1"/>
          <p:nvPr/>
        </p:nvSpPr>
        <p:spPr>
          <a:xfrm>
            <a:off x="4530707" y="2969956"/>
            <a:ext cx="1015021"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600" b="1" u="sng" noProof="0">
                <a:solidFill>
                  <a:srgbClr val="000000"/>
                </a:solidFill>
                <a:latin typeface="Arial" panose="020B0604020202020204" pitchFamily="34" charset="0"/>
              </a:rPr>
              <a:t>Đà Nẵng</a:t>
            </a:r>
            <a:endParaRPr kumimoji="0" lang="en-US" sz="1600" b="1" i="0" u="sng"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0" name="TextBox 29"/>
          <p:cNvSpPr txBox="1"/>
          <p:nvPr/>
        </p:nvSpPr>
        <p:spPr>
          <a:xfrm>
            <a:off x="6294737" y="2985196"/>
            <a:ext cx="960519"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sng" strike="noStrike" kern="1200" cap="none" spc="0" normalizeH="0" baseline="0" noProof="0">
                <a:ln>
                  <a:noFill/>
                </a:ln>
                <a:solidFill>
                  <a:srgbClr val="000000"/>
                </a:solidFill>
                <a:effectLst/>
                <a:uLnTx/>
                <a:uFillTx/>
                <a:latin typeface="Arial" panose="020B0604020202020204" pitchFamily="34" charset="0"/>
                <a:ea typeface="+mn-ea"/>
                <a:cs typeface="+mn-cs"/>
              </a:rPr>
              <a:t>Sài</a:t>
            </a:r>
            <a:r>
              <a:rPr kumimoji="0" lang="en-US" sz="1600" b="1" i="0" u="sng" strike="noStrike" kern="1200" cap="none" spc="0" normalizeH="0" noProof="0">
                <a:ln>
                  <a:noFill/>
                </a:ln>
                <a:solidFill>
                  <a:srgbClr val="000000"/>
                </a:solidFill>
                <a:effectLst/>
                <a:uLnTx/>
                <a:uFillTx/>
                <a:latin typeface="Arial" panose="020B0604020202020204" pitchFamily="34" charset="0"/>
                <a:ea typeface="+mn-ea"/>
                <a:cs typeface="+mn-cs"/>
              </a:rPr>
              <a:t> Gòn</a:t>
            </a:r>
            <a:endParaRPr kumimoji="0" lang="en-US" sz="1600" b="1" i="0" u="sng"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1" name="TextBox 30"/>
          <p:cNvSpPr txBox="1"/>
          <p:nvPr/>
        </p:nvSpPr>
        <p:spPr>
          <a:xfrm>
            <a:off x="1616057" y="2572849"/>
            <a:ext cx="208026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mn-cs"/>
              </a:rPr>
              <a:t>LAN 1</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dirty="0">
                <a:solidFill>
                  <a:srgbClr val="000000"/>
                </a:solidFill>
              </a:rPr>
              <a:t>200.15.10.64/28</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2" name="TextBox 31"/>
          <p:cNvSpPr txBox="1"/>
          <p:nvPr/>
        </p:nvSpPr>
        <p:spPr>
          <a:xfrm>
            <a:off x="1642727" y="4420216"/>
            <a:ext cx="169917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mn-cs"/>
              </a:rPr>
              <a:t>LAN 2</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dirty="0">
                <a:solidFill>
                  <a:srgbClr val="000000"/>
                </a:solidFill>
              </a:rPr>
              <a:t>200.15.10.0/27</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3" name="TextBox 32"/>
          <p:cNvSpPr txBox="1"/>
          <p:nvPr/>
        </p:nvSpPr>
        <p:spPr>
          <a:xfrm>
            <a:off x="8314037" y="2546127"/>
            <a:ext cx="2045970"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mn-cs"/>
              </a:rPr>
              <a:t>LAN 3</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dirty="0">
                <a:solidFill>
                  <a:srgbClr val="000000"/>
                </a:solidFill>
              </a:rPr>
              <a:t>200.15.10.80/28</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4" name="TextBox 33"/>
          <p:cNvSpPr txBox="1"/>
          <p:nvPr/>
        </p:nvSpPr>
        <p:spPr>
          <a:xfrm>
            <a:off x="8364391" y="4361224"/>
            <a:ext cx="1685319"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mn-cs"/>
              </a:rPr>
              <a:t>LAN 4</a:t>
            </a: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200.15.10.32/27</a:t>
            </a:r>
          </a:p>
        </p:txBody>
      </p:sp>
      <p:sp>
        <p:nvSpPr>
          <p:cNvPr id="35" name="TextBox 34"/>
          <p:cNvSpPr txBox="1"/>
          <p:nvPr/>
        </p:nvSpPr>
        <p:spPr>
          <a:xfrm>
            <a:off x="5006957" y="3469066"/>
            <a:ext cx="2085979"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Point to point link:</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b="0" dirty="0">
                <a:solidFill>
                  <a:srgbClr val="000000"/>
                </a:solidFill>
              </a:rPr>
              <a:t>200.15.10.96/30</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6" name="TextBox 35"/>
          <p:cNvSpPr txBox="1"/>
          <p:nvPr/>
        </p:nvSpPr>
        <p:spPr>
          <a:xfrm>
            <a:off x="4439267" y="3819793"/>
            <a:ext cx="470000" cy="338554"/>
          </a:xfrm>
          <a:prstGeom prst="rect">
            <a:avLst/>
          </a:prstGeom>
          <a:noFill/>
        </p:spPr>
        <p:txBody>
          <a:bodyPr wrap="none" rtlCol="0">
            <a:spAutoFit/>
          </a:bodyPr>
          <a:lstStyle/>
          <a:p>
            <a:r>
              <a:rPr lang="en-US" sz="1600" b="0" dirty="0"/>
              <a:t>.65</a:t>
            </a:r>
          </a:p>
        </p:txBody>
      </p:sp>
      <p:sp>
        <p:nvSpPr>
          <p:cNvPr id="37" name="TextBox 36"/>
          <p:cNvSpPr txBox="1"/>
          <p:nvPr/>
        </p:nvSpPr>
        <p:spPr>
          <a:xfrm>
            <a:off x="4500227" y="4440823"/>
            <a:ext cx="356188" cy="338554"/>
          </a:xfrm>
          <a:prstGeom prst="rect">
            <a:avLst/>
          </a:prstGeom>
          <a:noFill/>
        </p:spPr>
        <p:txBody>
          <a:bodyPr wrap="none" rtlCol="0">
            <a:spAutoFit/>
          </a:bodyPr>
          <a:lstStyle/>
          <a:p>
            <a:r>
              <a:rPr lang="en-US" sz="1600" b="0" dirty="0"/>
              <a:t>.1</a:t>
            </a:r>
          </a:p>
        </p:txBody>
      </p:sp>
      <p:sp>
        <p:nvSpPr>
          <p:cNvPr id="38" name="TextBox 37"/>
          <p:cNvSpPr txBox="1"/>
          <p:nvPr/>
        </p:nvSpPr>
        <p:spPr>
          <a:xfrm>
            <a:off x="6900527" y="3789313"/>
            <a:ext cx="470000" cy="338554"/>
          </a:xfrm>
          <a:prstGeom prst="rect">
            <a:avLst/>
          </a:prstGeom>
          <a:noFill/>
        </p:spPr>
        <p:txBody>
          <a:bodyPr wrap="none" rtlCol="0">
            <a:spAutoFit/>
          </a:bodyPr>
          <a:lstStyle/>
          <a:p>
            <a:r>
              <a:rPr lang="en-US" sz="1600" b="0" dirty="0"/>
              <a:t>.81</a:t>
            </a:r>
          </a:p>
        </p:txBody>
      </p:sp>
      <p:sp>
        <p:nvSpPr>
          <p:cNvPr id="39" name="TextBox 38"/>
          <p:cNvSpPr txBox="1"/>
          <p:nvPr/>
        </p:nvSpPr>
        <p:spPr>
          <a:xfrm>
            <a:off x="6843377" y="4406533"/>
            <a:ext cx="470000" cy="338554"/>
          </a:xfrm>
          <a:prstGeom prst="rect">
            <a:avLst/>
          </a:prstGeom>
          <a:noFill/>
        </p:spPr>
        <p:txBody>
          <a:bodyPr wrap="none" rtlCol="0">
            <a:spAutoFit/>
          </a:bodyPr>
          <a:lstStyle/>
          <a:p>
            <a:r>
              <a:rPr lang="en-US" sz="1600" b="0" dirty="0"/>
              <a:t>.33</a:t>
            </a:r>
          </a:p>
        </p:txBody>
      </p:sp>
      <p:sp>
        <p:nvSpPr>
          <p:cNvPr id="40" name="TextBox 39"/>
          <p:cNvSpPr txBox="1"/>
          <p:nvPr/>
        </p:nvSpPr>
        <p:spPr>
          <a:xfrm>
            <a:off x="5311757" y="4235083"/>
            <a:ext cx="470000" cy="338554"/>
          </a:xfrm>
          <a:prstGeom prst="rect">
            <a:avLst/>
          </a:prstGeom>
          <a:noFill/>
        </p:spPr>
        <p:txBody>
          <a:bodyPr wrap="none" rtlCol="0">
            <a:spAutoFit/>
          </a:bodyPr>
          <a:lstStyle/>
          <a:p>
            <a:r>
              <a:rPr lang="en-US" sz="1600" b="0" dirty="0"/>
              <a:t>.97</a:t>
            </a:r>
          </a:p>
        </p:txBody>
      </p:sp>
      <p:sp>
        <p:nvSpPr>
          <p:cNvPr id="41" name="TextBox 40"/>
          <p:cNvSpPr txBox="1"/>
          <p:nvPr/>
        </p:nvSpPr>
        <p:spPr>
          <a:xfrm>
            <a:off x="5940407" y="4246513"/>
            <a:ext cx="470000" cy="338554"/>
          </a:xfrm>
          <a:prstGeom prst="rect">
            <a:avLst/>
          </a:prstGeom>
          <a:noFill/>
        </p:spPr>
        <p:txBody>
          <a:bodyPr wrap="none" rtlCol="0">
            <a:spAutoFit/>
          </a:bodyPr>
          <a:lstStyle/>
          <a:p>
            <a:r>
              <a:rPr lang="en-US" sz="1600" b="0" dirty="0"/>
              <a:t>.98</a:t>
            </a:r>
          </a:p>
        </p:txBody>
      </p:sp>
    </p:spTree>
    <p:extLst>
      <p:ext uri="{BB962C8B-B14F-4D97-AF65-F5344CB8AC3E}">
        <p14:creationId xmlns:p14="http://schemas.microsoft.com/office/powerpoint/2010/main" val="9823763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856C4-F885-4745-86B8-12EFFD6C531D}"/>
              </a:ext>
            </a:extLst>
          </p:cNvPr>
          <p:cNvSpPr>
            <a:spLocks noGrp="1"/>
          </p:cNvSpPr>
          <p:nvPr>
            <p:ph idx="1"/>
          </p:nvPr>
        </p:nvSpPr>
        <p:spPr>
          <a:xfrm>
            <a:off x="566928" y="2185416"/>
            <a:ext cx="11098330" cy="3968249"/>
          </a:xfrm>
        </p:spPr>
        <p:txBody>
          <a:bodyPr/>
          <a:lstStyle/>
          <a:p>
            <a:pPr marL="342900" indent="-342900" algn="just">
              <a:buAutoNum type="arabicPeriod"/>
            </a:pPr>
            <a:r>
              <a:rPr lang="en-US" dirty="0"/>
              <a:t>An organization is granted a block of addresses with the beginning address 14.24.74.0/24. The organization needs to have 3 subblocks of addresses to use in its three subnets: one subblock of 10 addresses, one subblock of 60 addresses, and one subblock of 120 addresses. Design the subblocks.</a:t>
            </a:r>
          </a:p>
          <a:p>
            <a:pPr marL="342900" indent="-342900" algn="just">
              <a:buAutoNum type="arabicPeriod"/>
            </a:pPr>
            <a:r>
              <a:rPr lang="en-US" dirty="0"/>
              <a:t>A classless address is given as 167.199.170.82/27. Find network address and broadcast address of the given network.</a:t>
            </a:r>
          </a:p>
          <a:p>
            <a:pPr marL="342900" indent="-342900" algn="just">
              <a:buAutoNum type="arabicPeriod"/>
            </a:pPr>
            <a:endParaRPr lang="en-US" dirty="0"/>
          </a:p>
        </p:txBody>
      </p:sp>
    </p:spTree>
    <p:extLst>
      <p:ext uri="{BB962C8B-B14F-4D97-AF65-F5344CB8AC3E}">
        <p14:creationId xmlns:p14="http://schemas.microsoft.com/office/powerpoint/2010/main" val="3528591904"/>
      </p:ext>
    </p:extLst>
  </p:cSld>
  <p:clrMapOvr>
    <a:masterClrMapping/>
  </p:clrMapOvr>
</p:sld>
</file>

<file path=ppt/theme/theme1.xml><?xml version="1.0" encoding="utf-8"?>
<a:theme xmlns:a="http://schemas.openxmlformats.org/drawingml/2006/main" name="1_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9293</TotalTime>
  <Words>7195</Words>
  <Application>Microsoft Office PowerPoint</Application>
  <PresentationFormat>Widescreen</PresentationFormat>
  <Paragraphs>786</Paragraphs>
  <Slides>50</Slides>
  <Notes>48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50</vt:i4>
      </vt:variant>
    </vt:vector>
  </HeadingPairs>
  <TitlesOfParts>
    <vt:vector size="61" baseType="lpstr">
      <vt:lpstr>ＭＳ Ｐゴシック</vt:lpstr>
      <vt:lpstr>Arial</vt:lpstr>
      <vt:lpstr>Arial Regular</vt:lpstr>
      <vt:lpstr>Calibri</vt:lpstr>
      <vt:lpstr>Cambria Math</vt:lpstr>
      <vt:lpstr>Courier New</vt:lpstr>
      <vt:lpstr>Helvetica World</vt:lpstr>
      <vt:lpstr>System Font Regular</vt:lpstr>
      <vt:lpstr>Wingdings</vt:lpstr>
      <vt:lpstr>1_Office Theme</vt:lpstr>
      <vt:lpstr>Office Theme</vt:lpstr>
      <vt:lpstr>Chương 3: tầng mạng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tập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IPv4 (internet protocol)</dc:title>
  <dc:creator>CONG DANH</dc:creator>
  <cp:lastModifiedBy>Nguyen Cong Danh - khoa CNTT</cp:lastModifiedBy>
  <cp:revision>651</cp:revision>
  <dcterms:created xsi:type="dcterms:W3CDTF">2022-03-01T10:25:19Z</dcterms:created>
  <dcterms:modified xsi:type="dcterms:W3CDTF">2025-11-06T10:04:57Z</dcterms:modified>
</cp:coreProperties>
</file>